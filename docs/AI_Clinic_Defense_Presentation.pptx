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a:t>
            </a:r>
          </a:p>
          <a:p/>
          <a:p>
            <a:r>
              <a:t>Good morning. We are presenting our AI Clinic project on CNN-adaptive sliding mode control for autonomous differential-drive robots under environmental uncertainty. Our goal was not only to build a robust controller, but to create a complete and explainable AI-control pipeline—from environment perception to controller adaptation and a live 3D digital twin. The project was completed by our five-person team under the supervision of Professor Vishvjit Thakar. I will first explain the control problem, then the CNN and PPO approaches, show the quantitative results, and finish with the digital twin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 seconds]</a:t>
            </a:r>
          </a:p>
          <a:p/>
          <a:p>
            <a:r>
              <a:t>The presentation follows one simple story. First, a fixed-gain controller cannot respond optimally to every operating condition. Second, we use a CNN to identify the condition and choose an interpretable controller preset. Third, we evaluate that idea consistently across five scenarios and against several baselines. Finally, we expose the entire system through a live digital twin. This roadmap is important because the digital twin is not a separate interface; it is the final layer of the same research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Sliding mode control is a strong baseline because it is robust to disturbances and modelling errors. The limitation is that its behavior depends directly on fixed gains and the boundary-layer width. Sensor noise requires more smoothing to avoid rapid actuator switching. An external push requires more aggressive heading correction. Wheel slip requires stronger gains to recover the lost motion. These requirements conflict. If we tune only for noise, recovery becomes slower; if we tune only for disturbance rejection, chattering can increase. This is the central problem: one static parameter set cannot be optimal in all five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p>
            <a:r>
              <a:t>The individual technologies are not new by themselves. Sliding mode control, CNN perception and reinforcement learning each have a large literature. Our research gap is the integration of these pieces into one compact and reproducible system where the CNN does not replace the controller—it supervises it. That keeps the actual control law interpretable. Our four contributions are the full pipeline, scenario-aware gain presets, a multi-controller benchmark including an oracle upper bound, and a live digital twin that makes the research repeatable during the defense.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This is the main system architecture. A grayscale occupancy map represents the operating condition. The lightweight CNN predicts one of five classes. That class selects a scenario-specific parameter preset containing the sliding-surface gains, velocity gains, boundary-layer width and angular smoothing. The SMC then calculates linear and angular velocity commands exactly as before. This distinction is important: the learned model is a supervisor, not an opaque end-to-end controller. The bottom branch shows our PPO alternative, which uses robot state and error to adapt parameters.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p>
            <a:r>
              <a:t>The robot is modeled as a standard differential-drive unicycle. Its position evolves through linear speed v and heading through angular speed omega. The non-holonomic constraint means it cannot move sideways, so lateral pushes are challenging. On the control side, we define sliding surfaces from tracking error and its derivative. The linear command corrects forward error. The angular command combines bearing correction with smooth hyperbolic-tangent switching. Finally, exponential smoothing reduces high-frequency oscillation. The most important design variable is phi: a wider boundary layer reduces chattering but permits more steady-state error.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p>
            <a:r>
              <a:t>We use five controlled scenarios. Normal is the sanity check. Noise corrupts pose measurements. Disturbance applies a lateral push at eight seconds. Slip reduces effective velocity by thirty percent between ten and fourteen seconds. Combined applies all effects together and is therefore the hardest case. Every controller uses the same robot model, reference speed, simulation step and perturbation timing, so the comparison is fair. The normal scenario also verifies that adaptation does not introduce unnecessary behavior when no uncertainty exists.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65 seconds]</a:t>
            </a:r>
          </a:p>
          <a:p/>
          <a:p>
            <a:r>
              <a:t>The CNN receives a sixty-four by sixty-four grayscale map. Each scenario has a distinct visual signature: a clean path, noisy pixels, an impact marker, a slip band, or all cues combined. The network has three convolutional blocks followed by a small classifier, for approximately five hundred and thirty-four thousand parameters. It reaches one hundred percent on the engineered test set. Because that dataset is deliberately separable, we also created more realistic cluttered maps; the CNN still reaches ninety-five point one percent. In deployment, one pre-mission inference selects the controller preset, so runtime cost is minimal.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p>
            <a:r>
              <a:t>This slide explains the system's interpretability. For each class we know exactly which parameters change and why. Under noise we widen phi and increase smoothing, which suppresses angular chattering. Under disturbance we increase lateral surface and angular correction gains, which improves recovery after the push. Under slip we raise both positional sliding gains to compensate for lost velocity. The combined preset balances these competing requirements. This is a key advantage over an end-to-end neural controller: every adaptation can be inspected, justified and bounded.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We also implemented PPO as a learning-based comparison. The observation contains tracking error, error rate, a smoothed jitter measure and uncertainty flags. The actor-critic policy selects one of the same five SMC presets every zero point two seconds. Its reward penalizes error, chattering and control effort. After eighty thousand training steps, PPO reaches the lowest combined-scenario chattering value of forty-eight point nine. However, it performs worse under disturbance and slip. Therefore, our conclusion is balanced: PPO is promising, but the CNN supervisor is currently more reliable and more interpretable for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p>
            <a:r>
              <a:t>The main experiment lasts twenty seconds at a ten-millisecond time step. The robot tracks a straight reference at zero point three meters per second. Fixed seeds make the perturbations reproducible. We compare five controller variants, including an oracle that knows the true scenario and therefore defines the practical ceiling. We report four metrics because tracking error alone is incomplete. RMSE captures overall accuracy, final error measures recovery, chattering reflects actuator smoothness, and control effort reflects energy and mechanical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65 seconds]</a:t>
            </a:r>
          </a:p>
          <a:p/>
          <a:p>
            <a:r>
              <a:t>These are the four numbers I want the panel to remember. Under noise, CNN adaptation reduces chattering by thirty-five point seven percent. After an external disturbance, final error improves by fourteen point four percent. Under wheel slip, final error improves by thirty-two point seven percent. On realistic maps, the classifier reaches ninety-five point one percent accuracy. In the disturbance test, CNN final error is only two point three millimeters above the oracle. We also report the limitation honestly: reducing noise-induced chattering increases steady-state error because of the wider boundary layer.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p>
            <a:r>
              <a:t>This figure shows the actual robot trajectories in the combined scenario. The dashed line is the desired path. Up to the push, the controllers remain close together. At approximately two point four meters, the lateral disturbance creates the sharp deviation. Classical SMC produces the largest overshoot and wider recovery loop. CNN-adaptive SMC returns more tightly because the disturbance preset increases heading correction. PPO lies between the two. The key point is that all three controllers receive the exact same disturbance; the difference comes from parameter adaptation.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p>
            <a:r>
              <a:t>The time-series view makes the experiment easier to interpret. During the first eight seconds, only measurement noise is active. At eight seconds, the external push causes an immediate error spike. From ten to fourteen seconds, wheel slip slows the robot and creates a second error increase. After fourteen seconds, all controllers recover. Classical SMC reaches the highest peak and remains above the adaptive methods for much of the recovery. This plot confirms that the trajectory difference is not a visual artifact; it corresponds to lower tracking error over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These two charts must be read together. On the left, RMSE is similar between classical and CNN-adaptive control, and the combined scenario remains the hardest. Under noise, the adaptive controller accepts a small loss in precision. On the right, we see why: chattering falls dramatically under noise and combined uncertainty. This is not a free improvement; it is a deliberate engineering trade-off. Smoother angular commands protect actuators and reduce instability, while the controller preserves competitive tracking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The heatmap gives the most honest summary. Green means CNN-adaptive is better; red means worse. Under noise, the main benefit is smoothness, while final error increases. Under disturbance and slip, the main benefit is final recovery, while effort or chattering may increase because the controller becomes more aggressive. Under combined uncertainty, chattering improves strongly but RMSE changes very little. Therefore, our claim is not that CNN adaptation wins every cell. Our claim is that it makes the trade-off context-aware and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p>
            <a:r>
              <a:t>This benchmark provides context beyond the classical baseline. Fuzzy gain scheduling reduces noise chattering modestly, but CNN and oracle are clearly lower. Under disturbance, CNN reaches seventeen point nine millimeters compared with the oracle's fifteen point six. Under slip, CNN and oracle are nearly identical. PPO is best on combined chattering but weak under slip and disturbance. Overall, the CNN supervisor offers the strongest balance of performance, interpretability and low runtime cost.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then switch to browser for 3–4 minutes]</a:t>
            </a:r>
          </a:p>
          <a:p/>
          <a:p>
            <a:r>
              <a:t>This is the live digital twin. The left panel controls controller mode, scenario, trajectory and speed. The center visualizes the robot and its path in a hospital corridor. The right panel shows live metrics. I will now switch to the browser. First I press T to run the controller tour. Then I open Compare to benchmark all three controllers. If time allows, I show the dual path view and replay. </a:t>
            </a:r>
          </a:p>
          <a:p/>
          <a:p>
            <a:r>
              <a:t>DEMO RECOVERY LINE: If the live demo fails, say: 'The system is also recorded here; this screenshot and the following quantitative results were generated by the same backend.'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We want to be precise about the limits of the evidence. Most occupancy maps are synthetic, and the realistic set is still procedural rather than real LiDAR. The CNN currently classifies once before the mission. Parameter presets are hand-tuned, and the controller is evaluated in a two-dimensional kinematic simulation with fixed seeds. Finally, PPO remains an experimental extension. Therefore, this work demonstrates feasibility and a reproducible architecture; it does not yet prove generalisation to a physical robot or arbitrary terrain.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To conclude, we built a complete perception-control-demonstration pipeline. The CNN makes sliding mode control context-aware without replacing its interpretable control law. The main evidence is a thirty-five point seven percent chattering reduction under noise, up to thirty-two point seven percent better final recovery, ninety-five point one percent classification on realistic maps, and a working digital twin. The next step is to move from procedural maps and fixed scenarios to real LiDAR, continuous online inference, Monte Carlo evaluation and a physical differential-drive robot. The core message is that explainable AI can improve robust control while preserving engineering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Q&amp;A]</a:t>
            </a:r>
          </a:p>
          <a:p/>
          <a:p>
            <a:r>
              <a:t>Thank you for your attention. We are ready for your questions.</a:t>
            </a:r>
          </a:p>
          <a:p/>
          <a:p>
            <a:r>
              <a:t>LIKELY QUESTION — Why CNN if random forest is slightly better on realistic maps?</a:t>
            </a:r>
          </a:p>
          <a:p>
            <a:r>
              <a:t>ANSWER: The CNN integrates naturally with image features and scales to richer spatial inputs. The random forest result confirms that the current cues are separable; the CNN is the extensible architecture for future LiDAR and camera maps.</a:t>
            </a:r>
          </a:p>
          <a:p/>
          <a:p>
            <a:r>
              <a:t>LIKELY QUESTION — Is 100% accuracy overfitting?</a:t>
            </a:r>
          </a:p>
          <a:p>
            <a:r>
              <a:t>ANSWER: It reflects engineered class separability, not real-world performance. That is why we separately report 95.1% on cluttered maps and state physical validation as future work.</a:t>
            </a:r>
          </a:p>
          <a:p/>
          <a:p>
            <a:r>
              <a:t>LIKELY QUESTION — Why is CNN not better on every metric?</a:t>
            </a:r>
          </a:p>
          <a:p>
            <a:r>
              <a:t>ANSWER: Smoothing and tracking precision conflict. The Lyapunov bound predicts that a wider boundary layer reduces chattering while widening steady-state error.</a:t>
            </a:r>
          </a:p>
          <a:p/>
          <a:p>
            <a:r>
              <a:t>LIKELY QUESTION — Why not use PPO alone?</a:t>
            </a:r>
          </a:p>
          <a:p>
            <a:r>
              <a:t>ANSWER: Current PPO is competitive on combined chattering but weaker under slip and disturbance. CNN supervision is more reliable, interpretable and cheaper at runtime.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use only if asked about exact controller parameters]</a:t>
            </a:r>
          </a:p>
          <a:p/>
          <a:p>
            <a:r>
              <a:t>These are the complete scenario-specific parameter values. Point out that noise raises phi and smoothing, disturbance raises lateral and angular correction, and slip raises both position gains. The combined preset is a compromise.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use if asked about stability]</a:t>
            </a:r>
          </a:p>
          <a:p/>
          <a:p>
            <a:r>
              <a:t>We use the composite Lyapunov function based on the three sliding surfaces. Because x times tanh of x over phi is positive away from zero, the derivative is negative outside a bounded disturbance-dependent region. This gives uniform ultimate boundedness. Inside the boundary layer, the error bound grows with phi. That is why noise smoothing reduces chattering but can increase steady-state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use if asked about implementation]</a:t>
            </a:r>
          </a:p>
          <a:p/>
          <a:p>
            <a:r>
              <a:t>The simulation and evaluation are Python-based. PyTorch handles CNN and PPO. FastAPI streams state over WebSocket, while React and Three.js render the 3D twin. Runs can be recorded, replayed and exported. The project includes trained checkpoints and scripts for regeneration.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Rectangle 1"/>
          <p:cNvSpPr/>
          <p:nvPr/>
        </p:nvSpPr>
        <p:spPr>
          <a:xfrm>
            <a:off x="0" y="0"/>
            <a:ext cx="6720840" cy="6858000"/>
          </a:xfrm>
          <a:prstGeom prst="rect">
            <a:avLst/>
          </a:prstGeom>
          <a:solidFill>
            <a:srgbClr val="06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66928"/>
            <a:ext cx="1051560" cy="73152"/>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22960"/>
            <a:ext cx="5577840" cy="1508760"/>
          </a:xfrm>
          <a:prstGeom prst="rect">
            <a:avLst/>
          </a:prstGeom>
          <a:noFill/>
        </p:spPr>
        <p:txBody>
          <a:bodyPr wrap="square" lIns="0" rIns="0" tIns="0" bIns="0" anchor="t">
            <a:spAutoFit/>
          </a:bodyPr>
          <a:lstStyle/>
          <a:p>
            <a:pPr algn="l">
              <a:defRPr sz="3400" b="1">
                <a:solidFill>
                  <a:srgbClr val="FFFFFF"/>
                </a:solidFill>
                <a:latin typeface="Georgia"/>
              </a:defRPr>
            </a:pPr>
            <a:r>
              <a:t>CNN-Adaptive</a:t>
            </a:r>
            <a:br/>
            <a:r>
              <a:t>Sliding Mode Control</a:t>
            </a:r>
          </a:p>
        </p:txBody>
      </p:sp>
      <p:sp>
        <p:nvSpPr>
          <p:cNvPr id="5" name="TextBox 4"/>
          <p:cNvSpPr txBox="1"/>
          <p:nvPr/>
        </p:nvSpPr>
        <p:spPr>
          <a:xfrm>
            <a:off x="621792" y="2432304"/>
            <a:ext cx="5440680" cy="640080"/>
          </a:xfrm>
          <a:prstGeom prst="rect">
            <a:avLst/>
          </a:prstGeom>
          <a:noFill/>
        </p:spPr>
        <p:txBody>
          <a:bodyPr wrap="square" lIns="0" rIns="0" tIns="0" bIns="0" anchor="t">
            <a:spAutoFit/>
          </a:bodyPr>
          <a:lstStyle/>
          <a:p>
            <a:pPr algn="l">
              <a:defRPr sz="1700" b="0">
                <a:solidFill>
                  <a:srgbClr val="C8DCE6"/>
                </a:solidFill>
                <a:latin typeface="Aptos"/>
              </a:defRPr>
            </a:pPr>
            <a:r>
              <a:t>Autonomous differential-drive robots under environmental uncertainty</a:t>
            </a:r>
          </a:p>
        </p:txBody>
      </p:sp>
      <p:sp>
        <p:nvSpPr>
          <p:cNvPr id="6" name="TextBox 5"/>
          <p:cNvSpPr txBox="1"/>
          <p:nvPr/>
        </p:nvSpPr>
        <p:spPr>
          <a:xfrm>
            <a:off x="621792" y="3273552"/>
            <a:ext cx="5394960" cy="347472"/>
          </a:xfrm>
          <a:prstGeom prst="rect">
            <a:avLst/>
          </a:prstGeom>
          <a:noFill/>
        </p:spPr>
        <p:txBody>
          <a:bodyPr wrap="square" lIns="0" rIns="0" tIns="0" bIns="0" anchor="t">
            <a:spAutoFit/>
          </a:bodyPr>
          <a:lstStyle/>
          <a:p>
            <a:pPr algn="l">
              <a:defRPr sz="1100" b="1">
                <a:solidFill>
                  <a:srgbClr val="00A98F"/>
                </a:solidFill>
                <a:latin typeface="Aptos"/>
              </a:defRPr>
            </a:pPr>
            <a:r>
              <a:t>A DIGITAL TWIN APPROACH</a:t>
            </a:r>
          </a:p>
        </p:txBody>
      </p:sp>
      <p:sp>
        <p:nvSpPr>
          <p:cNvPr id="7" name="TextBox 6"/>
          <p:cNvSpPr txBox="1"/>
          <p:nvPr/>
        </p:nvSpPr>
        <p:spPr>
          <a:xfrm>
            <a:off x="621792" y="3959352"/>
            <a:ext cx="5440680" cy="777240"/>
          </a:xfrm>
          <a:prstGeom prst="rect">
            <a:avLst/>
          </a:prstGeom>
          <a:noFill/>
        </p:spPr>
        <p:txBody>
          <a:bodyPr wrap="square" lIns="0" rIns="0" tIns="0" bIns="0" anchor="t">
            <a:spAutoFit/>
          </a:bodyPr>
          <a:lstStyle/>
          <a:p>
            <a:pPr algn="l">
              <a:defRPr sz="1200" b="0">
                <a:solidFill>
                  <a:srgbClr val="FFFFFF"/>
                </a:solidFill>
                <a:latin typeface="Aptos"/>
              </a:defRPr>
            </a:pPr>
            <a:r>
              <a:t>Likhita Yerra · Mohamed Oussama Bouriga · Ahmed Ben Aissa · Abdellahi El Moustapha · Thibault Goutorbe</a:t>
            </a:r>
          </a:p>
        </p:txBody>
      </p:sp>
      <p:sp>
        <p:nvSpPr>
          <p:cNvPr id="8" name="TextBox 7"/>
          <p:cNvSpPr txBox="1"/>
          <p:nvPr/>
        </p:nvSpPr>
        <p:spPr>
          <a:xfrm>
            <a:off x="621792" y="4956048"/>
            <a:ext cx="5440680" cy="457200"/>
          </a:xfrm>
          <a:prstGeom prst="rect">
            <a:avLst/>
          </a:prstGeom>
          <a:noFill/>
        </p:spPr>
        <p:txBody>
          <a:bodyPr wrap="square" lIns="0" rIns="0" tIns="0" bIns="0" anchor="t">
            <a:spAutoFit/>
          </a:bodyPr>
          <a:lstStyle/>
          <a:p>
            <a:pPr algn="l">
              <a:defRPr sz="1300" b="1">
                <a:solidFill>
                  <a:srgbClr val="C8DCE6"/>
                </a:solidFill>
                <a:latin typeface="Aptos"/>
              </a:defRPr>
            </a:pPr>
            <a:r>
              <a:t>Supervisor  ·  Prof. Vishvjit Thakar</a:t>
            </a:r>
          </a:p>
        </p:txBody>
      </p:sp>
      <p:sp>
        <p:nvSpPr>
          <p:cNvPr id="9" name="TextBox 8"/>
          <p:cNvSpPr txBox="1"/>
          <p:nvPr/>
        </p:nvSpPr>
        <p:spPr>
          <a:xfrm>
            <a:off x="621792" y="5715000"/>
            <a:ext cx="5440680" cy="320040"/>
          </a:xfrm>
          <a:prstGeom prst="rect">
            <a:avLst/>
          </a:prstGeom>
          <a:noFill/>
        </p:spPr>
        <p:txBody>
          <a:bodyPr wrap="square" lIns="0" rIns="0" tIns="0" bIns="0" anchor="t">
            <a:spAutoFit/>
          </a:bodyPr>
          <a:lstStyle/>
          <a:p>
            <a:pPr algn="l">
              <a:defRPr sz="1100" b="0">
                <a:solidFill>
                  <a:srgbClr val="FFFFFF"/>
                </a:solidFill>
                <a:latin typeface="Aptos"/>
              </a:defRPr>
            </a:pPr>
            <a:r>
              <a:t>PGE5 · AI Clinic · 31 August 2026</a:t>
            </a:r>
          </a:p>
        </p:txBody>
      </p:sp>
      <p:pic>
        <p:nvPicPr>
          <p:cNvPr id="10" name="Picture 9" descr="fig08_digital_twin.png"/>
          <p:cNvPicPr>
            <a:picLocks noChangeAspect="1"/>
          </p:cNvPicPr>
          <p:nvPr/>
        </p:nvPicPr>
        <p:blipFill>
          <a:blip r:embed="rId2"/>
          <a:stretch>
            <a:fillRect/>
          </a:stretch>
        </p:blipFill>
        <p:spPr>
          <a:xfrm>
            <a:off x="6720840" y="1565379"/>
            <a:ext cx="5166360" cy="3132880"/>
          </a:xfrm>
          <a:prstGeom prst="rect">
            <a:avLst/>
          </a:prstGeom>
        </p:spPr>
      </p:pic>
      <p:sp>
        <p:nvSpPr>
          <p:cNvPr id="11" name="Rounded Rectangle 10"/>
          <p:cNvSpPr/>
          <p:nvPr/>
        </p:nvSpPr>
        <p:spPr>
          <a:xfrm>
            <a:off x="6720840" y="5715000"/>
            <a:ext cx="5166360" cy="54864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ivancity_logo.png"/>
          <p:cNvPicPr>
            <a:picLocks noChangeAspect="1"/>
          </p:cNvPicPr>
          <p:nvPr/>
        </p:nvPicPr>
        <p:blipFill>
          <a:blip r:embed="rId3"/>
          <a:stretch>
            <a:fillRect/>
          </a:stretch>
        </p:blipFill>
        <p:spPr>
          <a:xfrm>
            <a:off x="8926046" y="5779008"/>
            <a:ext cx="710225" cy="3840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The Defense in One Story</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ROADMAP</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02</a:t>
            </a:r>
          </a:p>
        </p:txBody>
      </p:sp>
      <p:sp>
        <p:nvSpPr>
          <p:cNvPr id="8" name="TextBox 7"/>
          <p:cNvSpPr txBox="1"/>
          <p:nvPr/>
        </p:nvSpPr>
        <p:spPr>
          <a:xfrm>
            <a:off x="658368" y="1554480"/>
            <a:ext cx="548640" cy="411480"/>
          </a:xfrm>
          <a:prstGeom prst="rect">
            <a:avLst/>
          </a:prstGeom>
          <a:noFill/>
        </p:spPr>
        <p:txBody>
          <a:bodyPr wrap="square" lIns="0" rIns="0" tIns="0" bIns="0" anchor="t">
            <a:spAutoFit/>
          </a:bodyPr>
          <a:lstStyle/>
          <a:p>
            <a:pPr algn="l">
              <a:defRPr sz="2300" b="1">
                <a:solidFill>
                  <a:srgbClr val="00A98F"/>
                </a:solidFill>
                <a:latin typeface="Georgia"/>
              </a:defRPr>
            </a:pPr>
            <a:r>
              <a:t>01</a:t>
            </a:r>
          </a:p>
        </p:txBody>
      </p:sp>
      <p:sp>
        <p:nvSpPr>
          <p:cNvPr id="9" name="Rounded Rectangle 8"/>
          <p:cNvSpPr/>
          <p:nvPr/>
        </p:nvSpPr>
        <p:spPr>
          <a:xfrm>
            <a:off x="658368" y="2084831"/>
            <a:ext cx="2423160" cy="22402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340864"/>
            <a:ext cx="2057400" cy="384048"/>
          </a:xfrm>
          <a:prstGeom prst="rect">
            <a:avLst/>
          </a:prstGeom>
          <a:noFill/>
        </p:spPr>
        <p:txBody>
          <a:bodyPr wrap="square" lIns="0" rIns="0" tIns="0" bIns="0" anchor="t">
            <a:spAutoFit/>
          </a:bodyPr>
          <a:lstStyle/>
          <a:p>
            <a:pPr algn="l">
              <a:defRPr sz="2000" b="1">
                <a:solidFill>
                  <a:srgbClr val="0B3D5C"/>
                </a:solidFill>
                <a:latin typeface="Aptos"/>
              </a:defRPr>
            </a:pPr>
            <a:r>
              <a:t>Problem</a:t>
            </a:r>
          </a:p>
        </p:txBody>
      </p:sp>
      <p:sp>
        <p:nvSpPr>
          <p:cNvPr id="11" name="TextBox 10"/>
          <p:cNvSpPr txBox="1"/>
          <p:nvPr/>
        </p:nvSpPr>
        <p:spPr>
          <a:xfrm>
            <a:off x="841248" y="2880360"/>
            <a:ext cx="2057400" cy="1005840"/>
          </a:xfrm>
          <a:prstGeom prst="rect">
            <a:avLst/>
          </a:prstGeom>
          <a:noFill/>
        </p:spPr>
        <p:txBody>
          <a:bodyPr wrap="square" lIns="0" rIns="0" tIns="0" bIns="0" anchor="t">
            <a:spAutoFit/>
          </a:bodyPr>
          <a:lstStyle/>
          <a:p>
            <a:pPr algn="l">
              <a:defRPr sz="1300" b="0">
                <a:solidFill>
                  <a:srgbClr val="5B6B78"/>
                </a:solidFill>
                <a:latin typeface="Aptos"/>
              </a:defRPr>
            </a:pPr>
            <a:r>
              <a:t>Fixed SMC gains fail to balance accuracy and smoothness</a:t>
            </a:r>
          </a:p>
        </p:txBody>
      </p:sp>
      <p:cxnSp>
        <p:nvCxnSpPr>
          <p:cNvPr id="12" name="Connector 11"/>
          <p:cNvCxnSpPr/>
          <p:nvPr/>
        </p:nvCxnSpPr>
        <p:spPr>
          <a:xfrm>
            <a:off x="3127248" y="3182112"/>
            <a:ext cx="25603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47287" y="1554480"/>
            <a:ext cx="548640" cy="411480"/>
          </a:xfrm>
          <a:prstGeom prst="rect">
            <a:avLst/>
          </a:prstGeom>
          <a:noFill/>
        </p:spPr>
        <p:txBody>
          <a:bodyPr wrap="square" lIns="0" rIns="0" tIns="0" bIns="0" anchor="t">
            <a:spAutoFit/>
          </a:bodyPr>
          <a:lstStyle/>
          <a:p>
            <a:pPr algn="l">
              <a:defRPr sz="2300" b="1">
                <a:solidFill>
                  <a:srgbClr val="00A98F"/>
                </a:solidFill>
                <a:latin typeface="Georgia"/>
              </a:defRPr>
            </a:pPr>
            <a:r>
              <a:t>02</a:t>
            </a:r>
          </a:p>
        </p:txBody>
      </p:sp>
      <p:sp>
        <p:nvSpPr>
          <p:cNvPr id="14" name="Rounded Rectangle 13"/>
          <p:cNvSpPr/>
          <p:nvPr/>
        </p:nvSpPr>
        <p:spPr>
          <a:xfrm>
            <a:off x="3447287" y="2084831"/>
            <a:ext cx="2423160" cy="22402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0167" y="2340864"/>
            <a:ext cx="2057400" cy="384048"/>
          </a:xfrm>
          <a:prstGeom prst="rect">
            <a:avLst/>
          </a:prstGeom>
          <a:noFill/>
        </p:spPr>
        <p:txBody>
          <a:bodyPr wrap="square" lIns="0" rIns="0" tIns="0" bIns="0" anchor="t">
            <a:spAutoFit/>
          </a:bodyPr>
          <a:lstStyle/>
          <a:p>
            <a:pPr algn="l">
              <a:defRPr sz="2000" b="1">
                <a:solidFill>
                  <a:srgbClr val="0B3D5C"/>
                </a:solidFill>
                <a:latin typeface="Aptos"/>
              </a:defRPr>
            </a:pPr>
            <a:r>
              <a:t>Method</a:t>
            </a:r>
          </a:p>
        </p:txBody>
      </p:sp>
      <p:sp>
        <p:nvSpPr>
          <p:cNvPr id="16" name="TextBox 15"/>
          <p:cNvSpPr txBox="1"/>
          <p:nvPr/>
        </p:nvSpPr>
        <p:spPr>
          <a:xfrm>
            <a:off x="3630167" y="2880360"/>
            <a:ext cx="2057400" cy="1005840"/>
          </a:xfrm>
          <a:prstGeom prst="rect">
            <a:avLst/>
          </a:prstGeom>
          <a:noFill/>
        </p:spPr>
        <p:txBody>
          <a:bodyPr wrap="square" lIns="0" rIns="0" tIns="0" bIns="0" anchor="t">
            <a:spAutoFit/>
          </a:bodyPr>
          <a:lstStyle/>
          <a:p>
            <a:pPr algn="l">
              <a:defRPr sz="1300" b="0">
                <a:solidFill>
                  <a:srgbClr val="5B6B78"/>
                </a:solidFill>
                <a:latin typeface="Aptos"/>
              </a:defRPr>
            </a:pPr>
            <a:r>
              <a:t>CNN recognises context and selects interpretable gains</a:t>
            </a:r>
          </a:p>
        </p:txBody>
      </p:sp>
      <p:cxnSp>
        <p:nvCxnSpPr>
          <p:cNvPr id="17" name="Connector 16"/>
          <p:cNvCxnSpPr/>
          <p:nvPr/>
        </p:nvCxnSpPr>
        <p:spPr>
          <a:xfrm>
            <a:off x="5916167" y="3182112"/>
            <a:ext cx="25603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36207" y="1554480"/>
            <a:ext cx="548640" cy="411480"/>
          </a:xfrm>
          <a:prstGeom prst="rect">
            <a:avLst/>
          </a:prstGeom>
          <a:noFill/>
        </p:spPr>
        <p:txBody>
          <a:bodyPr wrap="square" lIns="0" rIns="0" tIns="0" bIns="0" anchor="t">
            <a:spAutoFit/>
          </a:bodyPr>
          <a:lstStyle/>
          <a:p>
            <a:pPr algn="l">
              <a:defRPr sz="2300" b="1">
                <a:solidFill>
                  <a:srgbClr val="00A98F"/>
                </a:solidFill>
                <a:latin typeface="Georgia"/>
              </a:defRPr>
            </a:pPr>
            <a:r>
              <a:t>03</a:t>
            </a:r>
          </a:p>
        </p:txBody>
      </p:sp>
      <p:sp>
        <p:nvSpPr>
          <p:cNvPr id="19" name="Rounded Rectangle 18"/>
          <p:cNvSpPr/>
          <p:nvPr/>
        </p:nvSpPr>
        <p:spPr>
          <a:xfrm>
            <a:off x="6236207" y="2084831"/>
            <a:ext cx="2423160" cy="22402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7" y="2340864"/>
            <a:ext cx="2057400" cy="384048"/>
          </a:xfrm>
          <a:prstGeom prst="rect">
            <a:avLst/>
          </a:prstGeom>
          <a:noFill/>
        </p:spPr>
        <p:txBody>
          <a:bodyPr wrap="square" lIns="0" rIns="0" tIns="0" bIns="0" anchor="t">
            <a:spAutoFit/>
          </a:bodyPr>
          <a:lstStyle/>
          <a:p>
            <a:pPr algn="l">
              <a:defRPr sz="2000" b="1">
                <a:solidFill>
                  <a:srgbClr val="0B3D5C"/>
                </a:solidFill>
                <a:latin typeface="Aptos"/>
              </a:defRPr>
            </a:pPr>
            <a:r>
              <a:t>Evidence</a:t>
            </a:r>
          </a:p>
        </p:txBody>
      </p:sp>
      <p:sp>
        <p:nvSpPr>
          <p:cNvPr id="21" name="TextBox 20"/>
          <p:cNvSpPr txBox="1"/>
          <p:nvPr/>
        </p:nvSpPr>
        <p:spPr>
          <a:xfrm>
            <a:off x="6419087" y="2880360"/>
            <a:ext cx="2057400" cy="1005840"/>
          </a:xfrm>
          <a:prstGeom prst="rect">
            <a:avLst/>
          </a:prstGeom>
          <a:noFill/>
        </p:spPr>
        <p:txBody>
          <a:bodyPr wrap="square" lIns="0" rIns="0" tIns="0" bIns="0" anchor="t">
            <a:spAutoFit/>
          </a:bodyPr>
          <a:lstStyle/>
          <a:p>
            <a:pPr algn="l">
              <a:defRPr sz="1300" b="0">
                <a:solidFill>
                  <a:srgbClr val="5B6B78"/>
                </a:solidFill>
                <a:latin typeface="Aptos"/>
              </a:defRPr>
            </a:pPr>
            <a:r>
              <a:t>Five scenarios, four metrics, multiple baselines</a:t>
            </a:r>
          </a:p>
        </p:txBody>
      </p:sp>
      <p:cxnSp>
        <p:nvCxnSpPr>
          <p:cNvPr id="22" name="Connector 21"/>
          <p:cNvCxnSpPr/>
          <p:nvPr/>
        </p:nvCxnSpPr>
        <p:spPr>
          <a:xfrm>
            <a:off x="8705087" y="3182112"/>
            <a:ext cx="25603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025128" y="1554480"/>
            <a:ext cx="548640" cy="411480"/>
          </a:xfrm>
          <a:prstGeom prst="rect">
            <a:avLst/>
          </a:prstGeom>
          <a:noFill/>
        </p:spPr>
        <p:txBody>
          <a:bodyPr wrap="square" lIns="0" rIns="0" tIns="0" bIns="0" anchor="t">
            <a:spAutoFit/>
          </a:bodyPr>
          <a:lstStyle/>
          <a:p>
            <a:pPr algn="l">
              <a:defRPr sz="2300" b="1">
                <a:solidFill>
                  <a:srgbClr val="00A98F"/>
                </a:solidFill>
                <a:latin typeface="Georgia"/>
              </a:defRPr>
            </a:pPr>
            <a:r>
              <a:t>04</a:t>
            </a:r>
          </a:p>
        </p:txBody>
      </p:sp>
      <p:sp>
        <p:nvSpPr>
          <p:cNvPr id="24" name="Rounded Rectangle 23"/>
          <p:cNvSpPr/>
          <p:nvPr/>
        </p:nvSpPr>
        <p:spPr>
          <a:xfrm>
            <a:off x="9025128" y="2084831"/>
            <a:ext cx="2423160" cy="22402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08008" y="2340864"/>
            <a:ext cx="2057400" cy="384048"/>
          </a:xfrm>
          <a:prstGeom prst="rect">
            <a:avLst/>
          </a:prstGeom>
          <a:noFill/>
        </p:spPr>
        <p:txBody>
          <a:bodyPr wrap="square" lIns="0" rIns="0" tIns="0" bIns="0" anchor="t">
            <a:spAutoFit/>
          </a:bodyPr>
          <a:lstStyle/>
          <a:p>
            <a:pPr algn="l">
              <a:defRPr sz="2000" b="1">
                <a:solidFill>
                  <a:srgbClr val="0B3D5C"/>
                </a:solidFill>
                <a:latin typeface="Aptos"/>
              </a:defRPr>
            </a:pPr>
            <a:r>
              <a:t>Impact</a:t>
            </a:r>
          </a:p>
        </p:txBody>
      </p:sp>
      <p:sp>
        <p:nvSpPr>
          <p:cNvPr id="26" name="TextBox 25"/>
          <p:cNvSpPr txBox="1"/>
          <p:nvPr/>
        </p:nvSpPr>
        <p:spPr>
          <a:xfrm>
            <a:off x="9208008" y="2880360"/>
            <a:ext cx="2057400" cy="1005840"/>
          </a:xfrm>
          <a:prstGeom prst="rect">
            <a:avLst/>
          </a:prstGeom>
          <a:noFill/>
        </p:spPr>
        <p:txBody>
          <a:bodyPr wrap="square" lIns="0" rIns="0" tIns="0" bIns="0" anchor="t">
            <a:spAutoFit/>
          </a:bodyPr>
          <a:lstStyle/>
          <a:p>
            <a:pPr algn="l">
              <a:defRPr sz="1300" b="0">
                <a:solidFill>
                  <a:srgbClr val="5B6B78"/>
                </a:solidFill>
                <a:latin typeface="Aptos"/>
              </a:defRPr>
            </a:pPr>
            <a:r>
              <a:t>Live digital twin makes performance visible and repeatable</a:t>
            </a:r>
          </a:p>
        </p:txBody>
      </p:sp>
      <p:sp>
        <p:nvSpPr>
          <p:cNvPr id="27" name="Rounded Rectangle 26"/>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project connects robust control, explainable AI and an interactive digital twin.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One Controller, Conflicting Requirements</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PROBLEM</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03</a:t>
            </a:r>
          </a:p>
        </p:txBody>
      </p:sp>
      <p:sp>
        <p:nvSpPr>
          <p:cNvPr id="8" name="Rounded Rectangle 7"/>
          <p:cNvSpPr/>
          <p:nvPr/>
        </p:nvSpPr>
        <p:spPr>
          <a:xfrm>
            <a:off x="640080" y="1417320"/>
            <a:ext cx="3383280" cy="416052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709928"/>
            <a:ext cx="2834640" cy="411480"/>
          </a:xfrm>
          <a:prstGeom prst="rect">
            <a:avLst/>
          </a:prstGeom>
          <a:noFill/>
        </p:spPr>
        <p:txBody>
          <a:bodyPr wrap="square" lIns="0" rIns="0" tIns="0" bIns="0" anchor="t">
            <a:spAutoFit/>
          </a:bodyPr>
          <a:lstStyle/>
          <a:p>
            <a:pPr algn="l">
              <a:defRPr sz="2300" b="1">
                <a:solidFill>
                  <a:srgbClr val="0B3D5C"/>
                </a:solidFill>
                <a:latin typeface="Georgia"/>
              </a:defRPr>
            </a:pPr>
            <a:r>
              <a:t>Fixed-gain SMC</a:t>
            </a:r>
          </a:p>
        </p:txBody>
      </p:sp>
      <p:sp>
        <p:nvSpPr>
          <p:cNvPr id="10" name="TextBox 9"/>
          <p:cNvSpPr txBox="1"/>
          <p:nvPr/>
        </p:nvSpPr>
        <p:spPr>
          <a:xfrm>
            <a:off x="914400" y="2331720"/>
            <a:ext cx="2743200" cy="2560320"/>
          </a:xfrm>
          <a:prstGeom prst="rect">
            <a:avLst/>
          </a:prstGeom>
          <a:noFill/>
        </p:spPr>
        <p:txBody>
          <a:bodyPr wrap="square">
            <a:spAutoFit/>
          </a:bodyPr>
          <a:lstStyle/>
          <a:p>
            <a:pPr>
              <a:spcAft>
                <a:spcPts val="800"/>
              </a:spcAft>
              <a:defRPr sz="1500">
                <a:solidFill>
                  <a:srgbClr val="1C2732"/>
                </a:solidFill>
                <a:latin typeface="Aptos"/>
              </a:defRPr>
            </a:pPr>
            <a:r>
              <a:t>•  Strong robustness to matched disturbances</a:t>
            </a:r>
          </a:p>
          <a:p>
            <a:pPr>
              <a:spcAft>
                <a:spcPts val="800"/>
              </a:spcAft>
              <a:defRPr sz="1500">
                <a:solidFill>
                  <a:srgbClr val="1C2732"/>
                </a:solidFill>
                <a:latin typeface="Aptos"/>
              </a:defRPr>
            </a:pPr>
            <a:r>
              <a:t>•  Simple closed-form control law</a:t>
            </a:r>
          </a:p>
          <a:p>
            <a:pPr>
              <a:spcAft>
                <a:spcPts val="800"/>
              </a:spcAft>
              <a:defRPr sz="1500">
                <a:solidFill>
                  <a:srgbClr val="1C2732"/>
                </a:solidFill>
                <a:latin typeface="Aptos"/>
              </a:defRPr>
            </a:pPr>
            <a:r>
              <a:t>•  Same gains in every environment</a:t>
            </a:r>
          </a:p>
          <a:p>
            <a:pPr>
              <a:spcAft>
                <a:spcPts val="800"/>
              </a:spcAft>
              <a:defRPr sz="1500">
                <a:solidFill>
                  <a:srgbClr val="1C2732"/>
                </a:solidFill>
                <a:latin typeface="Aptos"/>
              </a:defRPr>
            </a:pPr>
            <a:r>
              <a:t>•  Chattering–accuracy trade-off</a:t>
            </a:r>
          </a:p>
        </p:txBody>
      </p:sp>
      <p:sp>
        <p:nvSpPr>
          <p:cNvPr id="11" name="Rounded Rectangle 10"/>
          <p:cNvSpPr/>
          <p:nvPr/>
        </p:nvSpPr>
        <p:spPr>
          <a:xfrm>
            <a:off x="4434840" y="1417320"/>
            <a:ext cx="7086600" cy="1097280"/>
          </a:xfrm>
          <a:prstGeom prst="roundRect">
            <a:avLst/>
          </a:prstGeom>
          <a:solidFill>
            <a:srgbClr val="FFFFFF"/>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36592" y="1581912"/>
            <a:ext cx="1965960" cy="320040"/>
          </a:xfrm>
          <a:prstGeom prst="rect">
            <a:avLst/>
          </a:prstGeom>
          <a:noFill/>
        </p:spPr>
        <p:txBody>
          <a:bodyPr wrap="square" lIns="0" rIns="0" tIns="0" bIns="0" anchor="t">
            <a:spAutoFit/>
          </a:bodyPr>
          <a:lstStyle/>
          <a:p>
            <a:pPr algn="l">
              <a:defRPr sz="1700" b="1">
                <a:solidFill>
                  <a:srgbClr val="00A98F"/>
                </a:solidFill>
                <a:latin typeface="Aptos"/>
              </a:defRPr>
            </a:pPr>
            <a:r>
              <a:t>Sensor noise</a:t>
            </a:r>
          </a:p>
        </p:txBody>
      </p:sp>
      <p:sp>
        <p:nvSpPr>
          <p:cNvPr id="13" name="TextBox 12"/>
          <p:cNvSpPr txBox="1"/>
          <p:nvPr/>
        </p:nvSpPr>
        <p:spPr>
          <a:xfrm>
            <a:off x="6812280" y="1581912"/>
            <a:ext cx="4297680" cy="566928"/>
          </a:xfrm>
          <a:prstGeom prst="rect">
            <a:avLst/>
          </a:prstGeom>
          <a:noFill/>
        </p:spPr>
        <p:txBody>
          <a:bodyPr wrap="square" lIns="0" rIns="0" tIns="0" bIns="0" anchor="t">
            <a:spAutoFit/>
          </a:bodyPr>
          <a:lstStyle/>
          <a:p>
            <a:pPr algn="l">
              <a:defRPr sz="1300" b="0">
                <a:solidFill>
                  <a:srgbClr val="5B6B78"/>
                </a:solidFill>
                <a:latin typeface="Aptos"/>
              </a:defRPr>
            </a:pPr>
            <a:r>
              <a:t>needs wider boundary layer</a:t>
            </a:r>
            <a:br/>
            <a:r>
              <a:t>and stronger smoothing</a:t>
            </a:r>
          </a:p>
        </p:txBody>
      </p:sp>
      <p:sp>
        <p:nvSpPr>
          <p:cNvPr id="14" name="Rounded Rectangle 13"/>
          <p:cNvSpPr/>
          <p:nvPr/>
        </p:nvSpPr>
        <p:spPr>
          <a:xfrm>
            <a:off x="4434840" y="2816352"/>
            <a:ext cx="7086600" cy="1097280"/>
          </a:xfrm>
          <a:prstGeom prst="roundRect">
            <a:avLst/>
          </a:prstGeom>
          <a:solidFill>
            <a:srgbClr val="FFFFFF"/>
          </a:solidFill>
          <a:ln w="12700">
            <a:solidFill>
              <a:srgbClr val="C447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2980944"/>
            <a:ext cx="1965960" cy="320040"/>
          </a:xfrm>
          <a:prstGeom prst="rect">
            <a:avLst/>
          </a:prstGeom>
          <a:noFill/>
        </p:spPr>
        <p:txBody>
          <a:bodyPr wrap="square" lIns="0" rIns="0" tIns="0" bIns="0" anchor="t">
            <a:spAutoFit/>
          </a:bodyPr>
          <a:lstStyle/>
          <a:p>
            <a:pPr algn="l">
              <a:defRPr sz="1700" b="1">
                <a:solidFill>
                  <a:srgbClr val="C44747"/>
                </a:solidFill>
                <a:latin typeface="Aptos"/>
              </a:defRPr>
            </a:pPr>
            <a:r>
              <a:t>External push</a:t>
            </a:r>
          </a:p>
        </p:txBody>
      </p:sp>
      <p:sp>
        <p:nvSpPr>
          <p:cNvPr id="16" name="TextBox 15"/>
          <p:cNvSpPr txBox="1"/>
          <p:nvPr/>
        </p:nvSpPr>
        <p:spPr>
          <a:xfrm>
            <a:off x="6812280" y="2980944"/>
            <a:ext cx="4297680" cy="566928"/>
          </a:xfrm>
          <a:prstGeom prst="rect">
            <a:avLst/>
          </a:prstGeom>
          <a:noFill/>
        </p:spPr>
        <p:txBody>
          <a:bodyPr wrap="square" lIns="0" rIns="0" tIns="0" bIns="0" anchor="t">
            <a:spAutoFit/>
          </a:bodyPr>
          <a:lstStyle/>
          <a:p>
            <a:pPr algn="l">
              <a:defRPr sz="1300" b="0">
                <a:solidFill>
                  <a:srgbClr val="5B6B78"/>
                </a:solidFill>
                <a:latin typeface="Aptos"/>
              </a:defRPr>
            </a:pPr>
            <a:r>
              <a:t>needs faster heading recovery</a:t>
            </a:r>
            <a:br/>
            <a:r>
              <a:t>and higher correction gain</a:t>
            </a:r>
          </a:p>
        </p:txBody>
      </p:sp>
      <p:sp>
        <p:nvSpPr>
          <p:cNvPr id="17" name="Rounded Rectangle 16"/>
          <p:cNvSpPr/>
          <p:nvPr/>
        </p:nvSpPr>
        <p:spPr>
          <a:xfrm>
            <a:off x="4434840" y="4215384"/>
            <a:ext cx="7086600" cy="1097280"/>
          </a:xfrm>
          <a:prstGeom prst="roundRect">
            <a:avLst/>
          </a:prstGeom>
          <a:solidFill>
            <a:srgbClr val="FFFFFF"/>
          </a:solidFill>
          <a:ln w="12700">
            <a:solidFill>
              <a:srgbClr val="D89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36592" y="4379976"/>
            <a:ext cx="1965960" cy="320040"/>
          </a:xfrm>
          <a:prstGeom prst="rect">
            <a:avLst/>
          </a:prstGeom>
          <a:noFill/>
        </p:spPr>
        <p:txBody>
          <a:bodyPr wrap="square" lIns="0" rIns="0" tIns="0" bIns="0" anchor="t">
            <a:spAutoFit/>
          </a:bodyPr>
          <a:lstStyle/>
          <a:p>
            <a:pPr algn="l">
              <a:defRPr sz="1700" b="1">
                <a:solidFill>
                  <a:srgbClr val="D89D36"/>
                </a:solidFill>
                <a:latin typeface="Aptos"/>
              </a:defRPr>
            </a:pPr>
            <a:r>
              <a:t>Wheel slip</a:t>
            </a:r>
          </a:p>
        </p:txBody>
      </p:sp>
      <p:sp>
        <p:nvSpPr>
          <p:cNvPr id="19" name="TextBox 18"/>
          <p:cNvSpPr txBox="1"/>
          <p:nvPr/>
        </p:nvSpPr>
        <p:spPr>
          <a:xfrm>
            <a:off x="6812280" y="4379976"/>
            <a:ext cx="4297680" cy="566928"/>
          </a:xfrm>
          <a:prstGeom prst="rect">
            <a:avLst/>
          </a:prstGeom>
          <a:noFill/>
        </p:spPr>
        <p:txBody>
          <a:bodyPr wrap="square" lIns="0" rIns="0" tIns="0" bIns="0" anchor="t">
            <a:spAutoFit/>
          </a:bodyPr>
          <a:lstStyle/>
          <a:p>
            <a:pPr algn="l">
              <a:defRPr sz="1300" b="0">
                <a:solidFill>
                  <a:srgbClr val="5B6B78"/>
                </a:solidFill>
                <a:latin typeface="Aptos"/>
              </a:defRPr>
            </a:pPr>
            <a:r>
              <a:t>needs larger surface gains</a:t>
            </a:r>
            <a:br/>
            <a:r>
              <a:t>to compensate velocity loss</a:t>
            </a:r>
          </a:p>
        </p:txBody>
      </p:sp>
      <p:sp>
        <p:nvSpPr>
          <p:cNvPr id="20" name="Rounded Rectangle 19"/>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A single static parameter set cannot optimise all operating regimes.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Research Gap &amp; Contributions</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INTRODUCTION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04</a:t>
            </a:r>
          </a:p>
        </p:txBody>
      </p:sp>
      <p:sp>
        <p:nvSpPr>
          <p:cNvPr id="8" name="Rounded Rectangle 7"/>
          <p:cNvSpPr/>
          <p:nvPr/>
        </p:nvSpPr>
        <p:spPr>
          <a:xfrm>
            <a:off x="640080" y="1417320"/>
            <a:ext cx="4617720" cy="4251960"/>
          </a:xfrm>
          <a:prstGeom prst="roundRect">
            <a:avLst/>
          </a:prstGeom>
          <a:solidFill>
            <a:srgbClr val="06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19072"/>
            <a:ext cx="4069080" cy="411480"/>
          </a:xfrm>
          <a:prstGeom prst="rect">
            <a:avLst/>
          </a:prstGeom>
          <a:noFill/>
        </p:spPr>
        <p:txBody>
          <a:bodyPr wrap="square" lIns="0" rIns="0" tIns="0" bIns="0" anchor="t">
            <a:spAutoFit/>
          </a:bodyPr>
          <a:lstStyle/>
          <a:p>
            <a:pPr algn="l">
              <a:defRPr sz="2300" b="1">
                <a:solidFill>
                  <a:srgbClr val="FFFFFF"/>
                </a:solidFill>
                <a:latin typeface="Georgia"/>
              </a:defRPr>
            </a:pPr>
            <a:r>
              <a:t>Research gap</a:t>
            </a:r>
          </a:p>
        </p:txBody>
      </p:sp>
      <p:sp>
        <p:nvSpPr>
          <p:cNvPr id="10" name="TextBox 9"/>
          <p:cNvSpPr txBox="1"/>
          <p:nvPr/>
        </p:nvSpPr>
        <p:spPr>
          <a:xfrm>
            <a:off x="914400" y="2377440"/>
            <a:ext cx="4023360" cy="2377440"/>
          </a:xfrm>
          <a:prstGeom prst="rect">
            <a:avLst/>
          </a:prstGeom>
          <a:noFill/>
        </p:spPr>
        <p:txBody>
          <a:bodyPr wrap="square" lIns="0" rIns="0" tIns="0" bIns="0" anchor="t">
            <a:spAutoFit/>
          </a:bodyPr>
          <a:lstStyle/>
          <a:p>
            <a:pPr algn="l">
              <a:defRPr sz="1600" b="0">
                <a:solidFill>
                  <a:srgbClr val="DCE8EE"/>
                </a:solidFill>
                <a:latin typeface="Aptos"/>
              </a:defRPr>
            </a:pPr>
            <a:r>
              <a:t>SMC, CNN perception and reinforcement learning are well studied individually. Few compact, reproducible systems connect environment classification directly to interpretable SMC gain scheduling and evaluate the full chain in a digital twin.</a:t>
            </a:r>
          </a:p>
        </p:txBody>
      </p:sp>
      <p:sp>
        <p:nvSpPr>
          <p:cNvPr id="11" name="TextBox 10"/>
          <p:cNvSpPr txBox="1"/>
          <p:nvPr/>
        </p:nvSpPr>
        <p:spPr>
          <a:xfrm>
            <a:off x="5623560" y="1472184"/>
            <a:ext cx="384048" cy="365760"/>
          </a:xfrm>
          <a:prstGeom prst="rect">
            <a:avLst/>
          </a:prstGeom>
          <a:noFill/>
        </p:spPr>
        <p:txBody>
          <a:bodyPr wrap="square" lIns="0" rIns="0" tIns="0" bIns="0" anchor="t">
            <a:spAutoFit/>
          </a:bodyPr>
          <a:lstStyle/>
          <a:p>
            <a:pPr algn="l">
              <a:defRPr sz="1800" b="1">
                <a:solidFill>
                  <a:srgbClr val="00A98F"/>
                </a:solidFill>
                <a:latin typeface="Georgia"/>
              </a:defRPr>
            </a:pPr>
            <a:r>
              <a:t>1</a:t>
            </a:r>
          </a:p>
        </p:txBody>
      </p:sp>
      <p:sp>
        <p:nvSpPr>
          <p:cNvPr id="12" name="TextBox 11"/>
          <p:cNvSpPr txBox="1"/>
          <p:nvPr/>
        </p:nvSpPr>
        <p:spPr>
          <a:xfrm>
            <a:off x="6144768" y="1417320"/>
            <a:ext cx="4983480" cy="292608"/>
          </a:xfrm>
          <a:prstGeom prst="rect">
            <a:avLst/>
          </a:prstGeom>
          <a:noFill/>
        </p:spPr>
        <p:txBody>
          <a:bodyPr wrap="square" lIns="0" rIns="0" tIns="0" bIns="0" anchor="t">
            <a:spAutoFit/>
          </a:bodyPr>
          <a:lstStyle/>
          <a:p>
            <a:pPr algn="l">
              <a:defRPr sz="1500" b="1">
                <a:solidFill>
                  <a:srgbClr val="0B3D5C"/>
                </a:solidFill>
                <a:latin typeface="Aptos"/>
              </a:defRPr>
            </a:pPr>
            <a:r>
              <a:t>Reproducible pipeline</a:t>
            </a:r>
          </a:p>
        </p:txBody>
      </p:sp>
      <p:sp>
        <p:nvSpPr>
          <p:cNvPr id="13" name="TextBox 12"/>
          <p:cNvSpPr txBox="1"/>
          <p:nvPr/>
        </p:nvSpPr>
        <p:spPr>
          <a:xfrm>
            <a:off x="6144768" y="1783080"/>
            <a:ext cx="4983480" cy="347472"/>
          </a:xfrm>
          <a:prstGeom prst="rect">
            <a:avLst/>
          </a:prstGeom>
          <a:noFill/>
        </p:spPr>
        <p:txBody>
          <a:bodyPr wrap="square" lIns="0" rIns="0" tIns="0" bIns="0" anchor="t">
            <a:spAutoFit/>
          </a:bodyPr>
          <a:lstStyle/>
          <a:p>
            <a:pPr algn="l">
              <a:defRPr sz="1100" b="0">
                <a:solidFill>
                  <a:srgbClr val="5B6B78"/>
                </a:solidFill>
                <a:latin typeface="Aptos"/>
              </a:defRPr>
            </a:pPr>
            <a:r>
              <a:t>Map generation → CNN → controller → evaluation</a:t>
            </a:r>
          </a:p>
        </p:txBody>
      </p:sp>
      <p:sp>
        <p:nvSpPr>
          <p:cNvPr id="14" name="TextBox 13"/>
          <p:cNvSpPr txBox="1"/>
          <p:nvPr/>
        </p:nvSpPr>
        <p:spPr>
          <a:xfrm>
            <a:off x="5623560" y="2505455"/>
            <a:ext cx="384048" cy="365760"/>
          </a:xfrm>
          <a:prstGeom prst="rect">
            <a:avLst/>
          </a:prstGeom>
          <a:noFill/>
        </p:spPr>
        <p:txBody>
          <a:bodyPr wrap="square" lIns="0" rIns="0" tIns="0" bIns="0" anchor="t">
            <a:spAutoFit/>
          </a:bodyPr>
          <a:lstStyle/>
          <a:p>
            <a:pPr algn="l">
              <a:defRPr sz="1800" b="1">
                <a:solidFill>
                  <a:srgbClr val="00A98F"/>
                </a:solidFill>
                <a:latin typeface="Georgia"/>
              </a:defRPr>
            </a:pPr>
            <a:r>
              <a:t>2</a:t>
            </a:r>
          </a:p>
        </p:txBody>
      </p:sp>
      <p:sp>
        <p:nvSpPr>
          <p:cNvPr id="15" name="TextBox 14"/>
          <p:cNvSpPr txBox="1"/>
          <p:nvPr/>
        </p:nvSpPr>
        <p:spPr>
          <a:xfrm>
            <a:off x="6144768" y="2450591"/>
            <a:ext cx="4983480" cy="292608"/>
          </a:xfrm>
          <a:prstGeom prst="rect">
            <a:avLst/>
          </a:prstGeom>
          <a:noFill/>
        </p:spPr>
        <p:txBody>
          <a:bodyPr wrap="square" lIns="0" rIns="0" tIns="0" bIns="0" anchor="t">
            <a:spAutoFit/>
          </a:bodyPr>
          <a:lstStyle/>
          <a:p>
            <a:pPr algn="l">
              <a:defRPr sz="1500" b="1">
                <a:solidFill>
                  <a:srgbClr val="0B3D5C"/>
                </a:solidFill>
                <a:latin typeface="Aptos"/>
              </a:defRPr>
            </a:pPr>
            <a:r>
              <a:t>Explainable adaptation</a:t>
            </a:r>
          </a:p>
        </p:txBody>
      </p:sp>
      <p:sp>
        <p:nvSpPr>
          <p:cNvPr id="16" name="TextBox 15"/>
          <p:cNvSpPr txBox="1"/>
          <p:nvPr/>
        </p:nvSpPr>
        <p:spPr>
          <a:xfrm>
            <a:off x="6144768" y="2816351"/>
            <a:ext cx="4983480" cy="347472"/>
          </a:xfrm>
          <a:prstGeom prst="rect">
            <a:avLst/>
          </a:prstGeom>
          <a:noFill/>
        </p:spPr>
        <p:txBody>
          <a:bodyPr wrap="square" lIns="0" rIns="0" tIns="0" bIns="0" anchor="t">
            <a:spAutoFit/>
          </a:bodyPr>
          <a:lstStyle/>
          <a:p>
            <a:pPr algn="l">
              <a:defRPr sz="1100" b="0">
                <a:solidFill>
                  <a:srgbClr val="5B6B78"/>
                </a:solidFill>
                <a:latin typeface="Aptos"/>
              </a:defRPr>
            </a:pPr>
            <a:r>
              <a:t>Five classes mapped to hand-tuned gain presets</a:t>
            </a:r>
          </a:p>
        </p:txBody>
      </p:sp>
      <p:sp>
        <p:nvSpPr>
          <p:cNvPr id="17" name="TextBox 16"/>
          <p:cNvSpPr txBox="1"/>
          <p:nvPr/>
        </p:nvSpPr>
        <p:spPr>
          <a:xfrm>
            <a:off x="5623560" y="3538727"/>
            <a:ext cx="384048" cy="365760"/>
          </a:xfrm>
          <a:prstGeom prst="rect">
            <a:avLst/>
          </a:prstGeom>
          <a:noFill/>
        </p:spPr>
        <p:txBody>
          <a:bodyPr wrap="square" lIns="0" rIns="0" tIns="0" bIns="0" anchor="t">
            <a:spAutoFit/>
          </a:bodyPr>
          <a:lstStyle/>
          <a:p>
            <a:pPr algn="l">
              <a:defRPr sz="1800" b="1">
                <a:solidFill>
                  <a:srgbClr val="00A98F"/>
                </a:solidFill>
                <a:latin typeface="Georgia"/>
              </a:defRPr>
            </a:pPr>
            <a:r>
              <a:t>3</a:t>
            </a:r>
          </a:p>
        </p:txBody>
      </p:sp>
      <p:sp>
        <p:nvSpPr>
          <p:cNvPr id="18" name="TextBox 17"/>
          <p:cNvSpPr txBox="1"/>
          <p:nvPr/>
        </p:nvSpPr>
        <p:spPr>
          <a:xfrm>
            <a:off x="6144768" y="3483863"/>
            <a:ext cx="4983480" cy="292608"/>
          </a:xfrm>
          <a:prstGeom prst="rect">
            <a:avLst/>
          </a:prstGeom>
          <a:noFill/>
        </p:spPr>
        <p:txBody>
          <a:bodyPr wrap="square" lIns="0" rIns="0" tIns="0" bIns="0" anchor="t">
            <a:spAutoFit/>
          </a:bodyPr>
          <a:lstStyle/>
          <a:p>
            <a:pPr algn="l">
              <a:defRPr sz="1500" b="1">
                <a:solidFill>
                  <a:srgbClr val="0B3D5C"/>
                </a:solidFill>
                <a:latin typeface="Aptos"/>
              </a:defRPr>
            </a:pPr>
            <a:r>
              <a:t>Multi-controller benchmark</a:t>
            </a:r>
          </a:p>
        </p:txBody>
      </p:sp>
      <p:sp>
        <p:nvSpPr>
          <p:cNvPr id="19" name="TextBox 18"/>
          <p:cNvSpPr txBox="1"/>
          <p:nvPr/>
        </p:nvSpPr>
        <p:spPr>
          <a:xfrm>
            <a:off x="6144768" y="3849623"/>
            <a:ext cx="4983480" cy="347472"/>
          </a:xfrm>
          <a:prstGeom prst="rect">
            <a:avLst/>
          </a:prstGeom>
          <a:noFill/>
        </p:spPr>
        <p:txBody>
          <a:bodyPr wrap="square" lIns="0" rIns="0" tIns="0" bIns="0" anchor="t">
            <a:spAutoFit/>
          </a:bodyPr>
          <a:lstStyle/>
          <a:p>
            <a:pPr algn="l">
              <a:defRPr sz="1100" b="0">
                <a:solidFill>
                  <a:srgbClr val="5B6B78"/>
                </a:solidFill>
                <a:latin typeface="Aptos"/>
              </a:defRPr>
            </a:pPr>
            <a:r>
              <a:t>Classical, fuzzy, CNN, oracle and PPO</a:t>
            </a:r>
          </a:p>
        </p:txBody>
      </p:sp>
      <p:sp>
        <p:nvSpPr>
          <p:cNvPr id="20" name="TextBox 19"/>
          <p:cNvSpPr txBox="1"/>
          <p:nvPr/>
        </p:nvSpPr>
        <p:spPr>
          <a:xfrm>
            <a:off x="5623560" y="4572000"/>
            <a:ext cx="384048" cy="365760"/>
          </a:xfrm>
          <a:prstGeom prst="rect">
            <a:avLst/>
          </a:prstGeom>
          <a:noFill/>
        </p:spPr>
        <p:txBody>
          <a:bodyPr wrap="square" lIns="0" rIns="0" tIns="0" bIns="0" anchor="t">
            <a:spAutoFit/>
          </a:bodyPr>
          <a:lstStyle/>
          <a:p>
            <a:pPr algn="l">
              <a:defRPr sz="1800" b="1">
                <a:solidFill>
                  <a:srgbClr val="00A98F"/>
                </a:solidFill>
                <a:latin typeface="Georgia"/>
              </a:defRPr>
            </a:pPr>
            <a:r>
              <a:t>4</a:t>
            </a:r>
          </a:p>
        </p:txBody>
      </p:sp>
      <p:sp>
        <p:nvSpPr>
          <p:cNvPr id="21" name="TextBox 20"/>
          <p:cNvSpPr txBox="1"/>
          <p:nvPr/>
        </p:nvSpPr>
        <p:spPr>
          <a:xfrm>
            <a:off x="6144768" y="4517136"/>
            <a:ext cx="4983480" cy="292608"/>
          </a:xfrm>
          <a:prstGeom prst="rect">
            <a:avLst/>
          </a:prstGeom>
          <a:noFill/>
        </p:spPr>
        <p:txBody>
          <a:bodyPr wrap="square" lIns="0" rIns="0" tIns="0" bIns="0" anchor="t">
            <a:spAutoFit/>
          </a:bodyPr>
          <a:lstStyle/>
          <a:p>
            <a:pPr algn="l">
              <a:defRPr sz="1500" b="1">
                <a:solidFill>
                  <a:srgbClr val="0B3D5C"/>
                </a:solidFill>
                <a:latin typeface="Aptos"/>
              </a:defRPr>
            </a:pPr>
            <a:r>
              <a:t>Defense-ready digital twin</a:t>
            </a:r>
          </a:p>
        </p:txBody>
      </p:sp>
      <p:sp>
        <p:nvSpPr>
          <p:cNvPr id="22" name="TextBox 21"/>
          <p:cNvSpPr txBox="1"/>
          <p:nvPr/>
        </p:nvSpPr>
        <p:spPr>
          <a:xfrm>
            <a:off x="6144768" y="4882896"/>
            <a:ext cx="4983480" cy="347472"/>
          </a:xfrm>
          <a:prstGeom prst="rect">
            <a:avLst/>
          </a:prstGeom>
          <a:noFill/>
        </p:spPr>
        <p:txBody>
          <a:bodyPr wrap="square" lIns="0" rIns="0" tIns="0" bIns="0" anchor="t">
            <a:spAutoFit/>
          </a:bodyPr>
          <a:lstStyle/>
          <a:p>
            <a:pPr algn="l">
              <a:defRPr sz="1100" b="0">
                <a:solidFill>
                  <a:srgbClr val="5B6B78"/>
                </a:solidFill>
                <a:latin typeface="Aptos"/>
              </a:defRPr>
            </a:pPr>
            <a:r>
              <a:t>Live simulation, replay, compare and export</a:t>
            </a:r>
          </a:p>
        </p:txBody>
      </p:sp>
      <p:sp>
        <p:nvSpPr>
          <p:cNvPr id="23" name="Rounded Rectangle 22"/>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novelty is the integrated, interpretable and demonstrable control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From Perception to Control</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ARCHITECTURE</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05</a:t>
            </a:r>
          </a:p>
        </p:txBody>
      </p:sp>
      <p:sp>
        <p:nvSpPr>
          <p:cNvPr id="8" name="Rounded Rectangle 7"/>
          <p:cNvSpPr/>
          <p:nvPr/>
        </p:nvSpPr>
        <p:spPr>
          <a:xfrm>
            <a:off x="502920" y="1965960"/>
            <a:ext cx="1828800" cy="960120"/>
          </a:xfrm>
          <a:prstGeom prst="roundRect">
            <a:avLst/>
          </a:prstGeom>
          <a:solidFill>
            <a:srgbClr val="FFFFFF"/>
          </a:solidFill>
          <a:ln w="12700">
            <a:solidFill>
              <a:srgbClr val="0B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21408"/>
            <a:ext cx="1645920" cy="274320"/>
          </a:xfrm>
          <a:prstGeom prst="rect">
            <a:avLst/>
          </a:prstGeom>
          <a:noFill/>
        </p:spPr>
        <p:txBody>
          <a:bodyPr wrap="square" lIns="0" rIns="0" tIns="0" bIns="0" anchor="t">
            <a:spAutoFit/>
          </a:bodyPr>
          <a:lstStyle/>
          <a:p>
            <a:pPr algn="ctr">
              <a:defRPr sz="1500" b="1">
                <a:solidFill>
                  <a:srgbClr val="0B3D5C"/>
                </a:solidFill>
                <a:latin typeface="Aptos"/>
              </a:defRPr>
            </a:pPr>
            <a:r>
              <a:t>Environment map</a:t>
            </a:r>
          </a:p>
        </p:txBody>
      </p:sp>
      <p:sp>
        <p:nvSpPr>
          <p:cNvPr id="10" name="TextBox 9"/>
          <p:cNvSpPr txBox="1"/>
          <p:nvPr/>
        </p:nvSpPr>
        <p:spPr>
          <a:xfrm>
            <a:off x="594360" y="2478024"/>
            <a:ext cx="1645920" cy="228600"/>
          </a:xfrm>
          <a:prstGeom prst="rect">
            <a:avLst/>
          </a:prstGeom>
          <a:noFill/>
        </p:spPr>
        <p:txBody>
          <a:bodyPr wrap="square" lIns="0" rIns="0" tIns="0" bIns="0" anchor="t">
            <a:spAutoFit/>
          </a:bodyPr>
          <a:lstStyle/>
          <a:p>
            <a:pPr algn="ctr">
              <a:defRPr sz="900" b="0">
                <a:solidFill>
                  <a:srgbClr val="5B6B78"/>
                </a:solidFill>
                <a:latin typeface="Aptos"/>
              </a:defRPr>
            </a:pPr>
            <a:r>
              <a:t>64×64 occupancy map</a:t>
            </a:r>
          </a:p>
        </p:txBody>
      </p:sp>
      <p:cxnSp>
        <p:nvCxnSpPr>
          <p:cNvPr id="11" name="Connector 10"/>
          <p:cNvCxnSpPr/>
          <p:nvPr/>
        </p:nvCxnSpPr>
        <p:spPr>
          <a:xfrm>
            <a:off x="2331720" y="2450592"/>
            <a:ext cx="43891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965960"/>
            <a:ext cx="1828800" cy="960120"/>
          </a:xfrm>
          <a:prstGeom prst="roundRect">
            <a:avLst/>
          </a:prstGeom>
          <a:solidFill>
            <a:srgbClr val="FFFFFF"/>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79" y="2121408"/>
            <a:ext cx="1645920" cy="274320"/>
          </a:xfrm>
          <a:prstGeom prst="rect">
            <a:avLst/>
          </a:prstGeom>
          <a:noFill/>
        </p:spPr>
        <p:txBody>
          <a:bodyPr wrap="square" lIns="0" rIns="0" tIns="0" bIns="0" anchor="t">
            <a:spAutoFit/>
          </a:bodyPr>
          <a:lstStyle/>
          <a:p>
            <a:pPr algn="ctr">
              <a:defRPr sz="1500" b="1">
                <a:solidFill>
                  <a:srgbClr val="00A98F"/>
                </a:solidFill>
                <a:latin typeface="Aptos"/>
              </a:defRPr>
            </a:pPr>
            <a:r>
              <a:t>CNN classifier</a:t>
            </a:r>
          </a:p>
        </p:txBody>
      </p:sp>
      <p:sp>
        <p:nvSpPr>
          <p:cNvPr id="14" name="TextBox 13"/>
          <p:cNvSpPr txBox="1"/>
          <p:nvPr/>
        </p:nvSpPr>
        <p:spPr>
          <a:xfrm>
            <a:off x="2926079" y="2478024"/>
            <a:ext cx="1645920" cy="228600"/>
          </a:xfrm>
          <a:prstGeom prst="rect">
            <a:avLst/>
          </a:prstGeom>
          <a:noFill/>
        </p:spPr>
        <p:txBody>
          <a:bodyPr wrap="square" lIns="0" rIns="0" tIns="0" bIns="0" anchor="t">
            <a:spAutoFit/>
          </a:bodyPr>
          <a:lstStyle/>
          <a:p>
            <a:pPr algn="ctr">
              <a:defRPr sz="900" b="0">
                <a:solidFill>
                  <a:srgbClr val="5B6B78"/>
                </a:solidFill>
                <a:latin typeface="Aptos"/>
              </a:defRPr>
            </a:pPr>
            <a:r>
              <a:t>5 scenario classes</a:t>
            </a:r>
          </a:p>
        </p:txBody>
      </p:sp>
      <p:cxnSp>
        <p:nvCxnSpPr>
          <p:cNvPr id="15" name="Connector 14"/>
          <p:cNvCxnSpPr/>
          <p:nvPr/>
        </p:nvCxnSpPr>
        <p:spPr>
          <a:xfrm>
            <a:off x="4663439" y="2450592"/>
            <a:ext cx="43891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965960"/>
            <a:ext cx="1828800" cy="960120"/>
          </a:xfrm>
          <a:prstGeom prst="roundRect">
            <a:avLst/>
          </a:prstGeom>
          <a:solidFill>
            <a:srgbClr val="FFFFFF"/>
          </a:solidFill>
          <a:ln w="12700">
            <a:solidFill>
              <a:srgbClr val="D89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799" y="2121408"/>
            <a:ext cx="1645920" cy="274320"/>
          </a:xfrm>
          <a:prstGeom prst="rect">
            <a:avLst/>
          </a:prstGeom>
          <a:noFill/>
        </p:spPr>
        <p:txBody>
          <a:bodyPr wrap="square" lIns="0" rIns="0" tIns="0" bIns="0" anchor="t">
            <a:spAutoFit/>
          </a:bodyPr>
          <a:lstStyle/>
          <a:p>
            <a:pPr algn="ctr">
              <a:defRPr sz="1500" b="1">
                <a:solidFill>
                  <a:srgbClr val="D89D36"/>
                </a:solidFill>
                <a:latin typeface="Aptos"/>
              </a:defRPr>
            </a:pPr>
            <a:r>
              <a:t>Preset selector</a:t>
            </a:r>
          </a:p>
        </p:txBody>
      </p:sp>
      <p:sp>
        <p:nvSpPr>
          <p:cNvPr id="18" name="TextBox 17"/>
          <p:cNvSpPr txBox="1"/>
          <p:nvPr/>
        </p:nvSpPr>
        <p:spPr>
          <a:xfrm>
            <a:off x="5257799" y="2478024"/>
            <a:ext cx="1645920" cy="228600"/>
          </a:xfrm>
          <a:prstGeom prst="rect">
            <a:avLst/>
          </a:prstGeom>
          <a:noFill/>
        </p:spPr>
        <p:txBody>
          <a:bodyPr wrap="square" lIns="0" rIns="0" tIns="0" bIns="0" anchor="t">
            <a:spAutoFit/>
          </a:bodyPr>
          <a:lstStyle/>
          <a:p>
            <a:pPr algn="ctr">
              <a:defRPr sz="900" b="0">
                <a:solidFill>
                  <a:srgbClr val="5B6B78"/>
                </a:solidFill>
                <a:latin typeface="Aptos"/>
              </a:defRPr>
            </a:pPr>
            <a:r>
              <a:t>λ, k, φ, αω</a:t>
            </a:r>
          </a:p>
        </p:txBody>
      </p:sp>
      <p:cxnSp>
        <p:nvCxnSpPr>
          <p:cNvPr id="19" name="Connector 18"/>
          <p:cNvCxnSpPr/>
          <p:nvPr/>
        </p:nvCxnSpPr>
        <p:spPr>
          <a:xfrm>
            <a:off x="6995159" y="2450592"/>
            <a:ext cx="43891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965960"/>
            <a:ext cx="1828800" cy="960120"/>
          </a:xfrm>
          <a:prstGeom prst="roundRect">
            <a:avLst/>
          </a:prstGeom>
          <a:solidFill>
            <a:srgbClr val="FFFFFF"/>
          </a:solidFill>
          <a:ln w="12700">
            <a:solidFill>
              <a:srgbClr val="6B5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19" y="2121408"/>
            <a:ext cx="1645920" cy="274320"/>
          </a:xfrm>
          <a:prstGeom prst="rect">
            <a:avLst/>
          </a:prstGeom>
          <a:noFill/>
        </p:spPr>
        <p:txBody>
          <a:bodyPr wrap="square" lIns="0" rIns="0" tIns="0" bIns="0" anchor="t">
            <a:spAutoFit/>
          </a:bodyPr>
          <a:lstStyle/>
          <a:p>
            <a:pPr algn="ctr">
              <a:defRPr sz="1500" b="1">
                <a:solidFill>
                  <a:srgbClr val="6B57B4"/>
                </a:solidFill>
                <a:latin typeface="Aptos"/>
              </a:defRPr>
            </a:pPr>
            <a:r>
              <a:t>SMC controller</a:t>
            </a:r>
          </a:p>
        </p:txBody>
      </p:sp>
      <p:sp>
        <p:nvSpPr>
          <p:cNvPr id="22" name="TextBox 21"/>
          <p:cNvSpPr txBox="1"/>
          <p:nvPr/>
        </p:nvSpPr>
        <p:spPr>
          <a:xfrm>
            <a:off x="7589519" y="2478024"/>
            <a:ext cx="1645920" cy="228600"/>
          </a:xfrm>
          <a:prstGeom prst="rect">
            <a:avLst/>
          </a:prstGeom>
          <a:noFill/>
        </p:spPr>
        <p:txBody>
          <a:bodyPr wrap="square" lIns="0" rIns="0" tIns="0" bIns="0" anchor="t">
            <a:spAutoFit/>
          </a:bodyPr>
          <a:lstStyle/>
          <a:p>
            <a:pPr algn="ctr">
              <a:defRPr sz="900" b="0">
                <a:solidFill>
                  <a:srgbClr val="5B6B78"/>
                </a:solidFill>
                <a:latin typeface="Aptos"/>
              </a:defRPr>
            </a:pPr>
            <a:r>
              <a:t>v and ω commands</a:t>
            </a:r>
          </a:p>
        </p:txBody>
      </p:sp>
      <p:cxnSp>
        <p:nvCxnSpPr>
          <p:cNvPr id="23" name="Connector 22"/>
          <p:cNvCxnSpPr/>
          <p:nvPr/>
        </p:nvCxnSpPr>
        <p:spPr>
          <a:xfrm>
            <a:off x="9326879" y="2450592"/>
            <a:ext cx="438912" cy="0"/>
          </a:xfrm>
          <a:prstGeom prst="line">
            <a:avLst/>
          </a:prstGeom>
          <a:ln w="27940">
            <a:solidFill>
              <a:srgbClr val="00A98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965960"/>
            <a:ext cx="1828800" cy="960120"/>
          </a:xfrm>
          <a:prstGeom prst="roundRect">
            <a:avLst/>
          </a:prstGeom>
          <a:solidFill>
            <a:srgbClr val="FFFFFF"/>
          </a:solidFill>
          <a:ln w="12700">
            <a:solidFill>
              <a:srgbClr val="C447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21240" y="2121408"/>
            <a:ext cx="1645920" cy="274320"/>
          </a:xfrm>
          <a:prstGeom prst="rect">
            <a:avLst/>
          </a:prstGeom>
          <a:noFill/>
        </p:spPr>
        <p:txBody>
          <a:bodyPr wrap="square" lIns="0" rIns="0" tIns="0" bIns="0" anchor="t">
            <a:spAutoFit/>
          </a:bodyPr>
          <a:lstStyle/>
          <a:p>
            <a:pPr algn="ctr">
              <a:defRPr sz="1500" b="1">
                <a:solidFill>
                  <a:srgbClr val="C44747"/>
                </a:solidFill>
                <a:latin typeface="Aptos"/>
              </a:defRPr>
            </a:pPr>
            <a:r>
              <a:t>Robot</a:t>
            </a:r>
          </a:p>
        </p:txBody>
      </p:sp>
      <p:sp>
        <p:nvSpPr>
          <p:cNvPr id="26" name="TextBox 25"/>
          <p:cNvSpPr txBox="1"/>
          <p:nvPr/>
        </p:nvSpPr>
        <p:spPr>
          <a:xfrm>
            <a:off x="9921240" y="2478024"/>
            <a:ext cx="1645920" cy="228600"/>
          </a:xfrm>
          <a:prstGeom prst="rect">
            <a:avLst/>
          </a:prstGeom>
          <a:noFill/>
        </p:spPr>
        <p:txBody>
          <a:bodyPr wrap="square" lIns="0" rIns="0" tIns="0" bIns="0" anchor="t">
            <a:spAutoFit/>
          </a:bodyPr>
          <a:lstStyle/>
          <a:p>
            <a:pPr algn="ctr">
              <a:defRPr sz="900" b="0">
                <a:solidFill>
                  <a:srgbClr val="5B6B78"/>
                </a:solidFill>
                <a:latin typeface="Aptos"/>
              </a:defRPr>
            </a:pPr>
            <a:r>
              <a:t>differential drive</a:t>
            </a:r>
          </a:p>
        </p:txBody>
      </p:sp>
      <p:sp>
        <p:nvSpPr>
          <p:cNvPr id="27" name="Rounded Rectangle 26"/>
          <p:cNvSpPr/>
          <p:nvPr/>
        </p:nvSpPr>
        <p:spPr>
          <a:xfrm>
            <a:off x="2779776" y="3703320"/>
            <a:ext cx="6629400" cy="1097280"/>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1800" y="3904487"/>
            <a:ext cx="6217920" cy="320040"/>
          </a:xfrm>
          <a:prstGeom prst="rect">
            <a:avLst/>
          </a:prstGeom>
          <a:noFill/>
        </p:spPr>
        <p:txBody>
          <a:bodyPr wrap="square" lIns="0" rIns="0" tIns="0" bIns="0" anchor="t">
            <a:spAutoFit/>
          </a:bodyPr>
          <a:lstStyle/>
          <a:p>
            <a:pPr algn="ctr">
              <a:defRPr sz="1800" b="1">
                <a:solidFill>
                  <a:srgbClr val="0B3D5C"/>
                </a:solidFill>
                <a:latin typeface="Aptos"/>
              </a:defRPr>
            </a:pPr>
            <a:r>
              <a:t>Alternative branch: PPO agent</a:t>
            </a:r>
          </a:p>
        </p:txBody>
      </p:sp>
      <p:sp>
        <p:nvSpPr>
          <p:cNvPr id="29" name="TextBox 28"/>
          <p:cNvSpPr txBox="1"/>
          <p:nvPr/>
        </p:nvSpPr>
        <p:spPr>
          <a:xfrm>
            <a:off x="2971800" y="4315968"/>
            <a:ext cx="6217920" cy="256032"/>
          </a:xfrm>
          <a:prstGeom prst="rect">
            <a:avLst/>
          </a:prstGeom>
          <a:noFill/>
        </p:spPr>
        <p:txBody>
          <a:bodyPr wrap="square" lIns="0" rIns="0" tIns="0" bIns="0" anchor="t">
            <a:spAutoFit/>
          </a:bodyPr>
          <a:lstStyle/>
          <a:p>
            <a:pPr algn="ctr">
              <a:defRPr sz="1200" b="0">
                <a:solidFill>
                  <a:srgbClr val="5B6B78"/>
                </a:solidFill>
                <a:latin typeface="Aptos"/>
              </a:defRPr>
            </a:pPr>
            <a:r>
              <a:t>Robot state + error → policy → adaptive SMC parameters</a:t>
            </a:r>
          </a:p>
        </p:txBody>
      </p:sp>
      <p:sp>
        <p:nvSpPr>
          <p:cNvPr id="30" name="Rounded Rectangle 29"/>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CNN changes controller parameters—not the safety-critical control structure.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Robot Model &amp; Control Law</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METHODOLOGY</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06</a:t>
            </a:r>
          </a:p>
        </p:txBody>
      </p:sp>
      <p:sp>
        <p:nvSpPr>
          <p:cNvPr id="8" name="Rounded Rectangle 7"/>
          <p:cNvSpPr/>
          <p:nvPr/>
        </p:nvSpPr>
        <p:spPr>
          <a:xfrm>
            <a:off x="640080" y="1389888"/>
            <a:ext cx="5212080" cy="434340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663440" cy="347472"/>
          </a:xfrm>
          <a:prstGeom prst="rect">
            <a:avLst/>
          </a:prstGeom>
          <a:noFill/>
        </p:spPr>
        <p:txBody>
          <a:bodyPr wrap="square" lIns="0" rIns="0" tIns="0" bIns="0" anchor="t">
            <a:spAutoFit/>
          </a:bodyPr>
          <a:lstStyle/>
          <a:p>
            <a:pPr algn="l">
              <a:defRPr sz="2000" b="1">
                <a:solidFill>
                  <a:srgbClr val="0B3D5C"/>
                </a:solidFill>
                <a:latin typeface="Georgia"/>
              </a:defRPr>
            </a:pPr>
            <a:r>
              <a:t>Differential-drive kinematics</a:t>
            </a:r>
          </a:p>
        </p:txBody>
      </p:sp>
      <p:sp>
        <p:nvSpPr>
          <p:cNvPr id="10" name="TextBox 9"/>
          <p:cNvSpPr txBox="1"/>
          <p:nvPr/>
        </p:nvSpPr>
        <p:spPr>
          <a:xfrm>
            <a:off x="960120" y="2331720"/>
            <a:ext cx="4572000" cy="1143000"/>
          </a:xfrm>
          <a:prstGeom prst="rect">
            <a:avLst/>
          </a:prstGeom>
          <a:noFill/>
        </p:spPr>
        <p:txBody>
          <a:bodyPr wrap="square" lIns="0" rIns="0" tIns="0" bIns="0" anchor="t">
            <a:spAutoFit/>
          </a:bodyPr>
          <a:lstStyle/>
          <a:p>
            <a:pPr algn="ctr">
              <a:defRPr sz="2400" b="1">
                <a:solidFill>
                  <a:srgbClr val="062438"/>
                </a:solidFill>
                <a:latin typeface="Georgia"/>
              </a:defRPr>
            </a:pPr>
            <a:r>
              <a:t>ẋ = v cos θ</a:t>
            </a:r>
            <a:br/>
            <a:r>
              <a:t>ẏ = v sin θ</a:t>
            </a:r>
            <a:br/>
            <a:r>
              <a:t>θ̇ = ω</a:t>
            </a:r>
          </a:p>
        </p:txBody>
      </p:sp>
      <p:sp>
        <p:nvSpPr>
          <p:cNvPr id="11" name="TextBox 10"/>
          <p:cNvSpPr txBox="1"/>
          <p:nvPr/>
        </p:nvSpPr>
        <p:spPr>
          <a:xfrm>
            <a:off x="914400" y="3840480"/>
            <a:ext cx="4663440" cy="914400"/>
          </a:xfrm>
          <a:prstGeom prst="rect">
            <a:avLst/>
          </a:prstGeom>
          <a:noFill/>
        </p:spPr>
        <p:txBody>
          <a:bodyPr wrap="square" lIns="0" rIns="0" tIns="0" bIns="0" anchor="t">
            <a:spAutoFit/>
          </a:bodyPr>
          <a:lstStyle/>
          <a:p>
            <a:pPr algn="ctr">
              <a:defRPr sz="1400" b="0">
                <a:solidFill>
                  <a:srgbClr val="5B6B78"/>
                </a:solidFill>
                <a:latin typeface="Aptos"/>
              </a:defRPr>
            </a:pPr>
            <a:r>
              <a:t>State q = [x, y, θ, v, ω]ᵀ</a:t>
            </a:r>
            <a:br/>
            <a:r>
              <a:t>Δt = 0.01 s  ·  wheel base L = 0.3 m</a:t>
            </a:r>
          </a:p>
        </p:txBody>
      </p:sp>
      <p:sp>
        <p:nvSpPr>
          <p:cNvPr id="12" name="Rounded Rectangle 11"/>
          <p:cNvSpPr/>
          <p:nvPr/>
        </p:nvSpPr>
        <p:spPr>
          <a:xfrm>
            <a:off x="6172200" y="1389888"/>
            <a:ext cx="5376672" cy="434340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691640"/>
            <a:ext cx="4800600" cy="347472"/>
          </a:xfrm>
          <a:prstGeom prst="rect">
            <a:avLst/>
          </a:prstGeom>
          <a:noFill/>
        </p:spPr>
        <p:txBody>
          <a:bodyPr wrap="square" lIns="0" rIns="0" tIns="0" bIns="0" anchor="t">
            <a:spAutoFit/>
          </a:bodyPr>
          <a:lstStyle/>
          <a:p>
            <a:pPr algn="l">
              <a:defRPr sz="2000" b="1">
                <a:solidFill>
                  <a:srgbClr val="0B3D5C"/>
                </a:solidFill>
                <a:latin typeface="Georgia"/>
              </a:defRPr>
            </a:pPr>
            <a:r>
              <a:t>Sliding-mode control</a:t>
            </a:r>
          </a:p>
        </p:txBody>
      </p:sp>
      <p:sp>
        <p:nvSpPr>
          <p:cNvPr id="14" name="TextBox 13"/>
          <p:cNvSpPr txBox="1"/>
          <p:nvPr/>
        </p:nvSpPr>
        <p:spPr>
          <a:xfrm>
            <a:off x="6446520" y="2286000"/>
            <a:ext cx="1417320" cy="256032"/>
          </a:xfrm>
          <a:prstGeom prst="rect">
            <a:avLst/>
          </a:prstGeom>
          <a:noFill/>
        </p:spPr>
        <p:txBody>
          <a:bodyPr wrap="square" lIns="0" rIns="0" tIns="0" bIns="0" anchor="t">
            <a:spAutoFit/>
          </a:bodyPr>
          <a:lstStyle/>
          <a:p>
            <a:pPr algn="l">
              <a:defRPr sz="1100" b="1">
                <a:solidFill>
                  <a:srgbClr val="00A98F"/>
                </a:solidFill>
                <a:latin typeface="Aptos"/>
              </a:defRPr>
            </a:pPr>
            <a:r>
              <a:t>Sliding surface</a:t>
            </a:r>
          </a:p>
        </p:txBody>
      </p:sp>
      <p:sp>
        <p:nvSpPr>
          <p:cNvPr id="15" name="TextBox 14"/>
          <p:cNvSpPr txBox="1"/>
          <p:nvPr/>
        </p:nvSpPr>
        <p:spPr>
          <a:xfrm>
            <a:off x="7909560" y="2267712"/>
            <a:ext cx="3291840" cy="329184"/>
          </a:xfrm>
          <a:prstGeom prst="rect">
            <a:avLst/>
          </a:prstGeom>
          <a:noFill/>
        </p:spPr>
        <p:txBody>
          <a:bodyPr wrap="square" lIns="0" rIns="0" tIns="0" bIns="0" anchor="t">
            <a:spAutoFit/>
          </a:bodyPr>
          <a:lstStyle/>
          <a:p>
            <a:pPr algn="l">
              <a:defRPr sz="1300" b="0">
                <a:solidFill>
                  <a:srgbClr val="1C2732"/>
                </a:solidFill>
                <a:latin typeface="Georgia"/>
              </a:defRPr>
            </a:pPr>
            <a:r>
              <a:t>sᵢ = ėᵢ + λᵢeᵢ</a:t>
            </a:r>
          </a:p>
        </p:txBody>
      </p:sp>
      <p:sp>
        <p:nvSpPr>
          <p:cNvPr id="16" name="TextBox 15"/>
          <p:cNvSpPr txBox="1"/>
          <p:nvPr/>
        </p:nvSpPr>
        <p:spPr>
          <a:xfrm>
            <a:off x="6446520" y="2999232"/>
            <a:ext cx="1417320" cy="256032"/>
          </a:xfrm>
          <a:prstGeom prst="rect">
            <a:avLst/>
          </a:prstGeom>
          <a:noFill/>
        </p:spPr>
        <p:txBody>
          <a:bodyPr wrap="square" lIns="0" rIns="0" tIns="0" bIns="0" anchor="t">
            <a:spAutoFit/>
          </a:bodyPr>
          <a:lstStyle/>
          <a:p>
            <a:pPr algn="l">
              <a:defRPr sz="1100" b="1">
                <a:solidFill>
                  <a:srgbClr val="00A98F"/>
                </a:solidFill>
                <a:latin typeface="Aptos"/>
              </a:defRPr>
            </a:pPr>
            <a:r>
              <a:t>Linear command</a:t>
            </a:r>
          </a:p>
        </p:txBody>
      </p:sp>
      <p:sp>
        <p:nvSpPr>
          <p:cNvPr id="17" name="TextBox 16"/>
          <p:cNvSpPr txBox="1"/>
          <p:nvPr/>
        </p:nvSpPr>
        <p:spPr>
          <a:xfrm>
            <a:off x="7909560" y="2980944"/>
            <a:ext cx="3291840" cy="329184"/>
          </a:xfrm>
          <a:prstGeom prst="rect">
            <a:avLst/>
          </a:prstGeom>
          <a:noFill/>
        </p:spPr>
        <p:txBody>
          <a:bodyPr wrap="square" lIns="0" rIns="0" tIns="0" bIns="0" anchor="t">
            <a:spAutoFit/>
          </a:bodyPr>
          <a:lstStyle/>
          <a:p>
            <a:pPr algn="l">
              <a:defRPr sz="1300" b="0">
                <a:solidFill>
                  <a:srgbClr val="1C2732"/>
                </a:solidFill>
                <a:latin typeface="Georgia"/>
              </a:defRPr>
            </a:pPr>
            <a:r>
              <a:t>vᶜ = vʳ + kᵥdᶠ</a:t>
            </a:r>
          </a:p>
        </p:txBody>
      </p:sp>
      <p:sp>
        <p:nvSpPr>
          <p:cNvPr id="18" name="TextBox 17"/>
          <p:cNvSpPr txBox="1"/>
          <p:nvPr/>
        </p:nvSpPr>
        <p:spPr>
          <a:xfrm>
            <a:off x="6446520" y="3712464"/>
            <a:ext cx="1417320" cy="256032"/>
          </a:xfrm>
          <a:prstGeom prst="rect">
            <a:avLst/>
          </a:prstGeom>
          <a:noFill/>
        </p:spPr>
        <p:txBody>
          <a:bodyPr wrap="square" lIns="0" rIns="0" tIns="0" bIns="0" anchor="t">
            <a:spAutoFit/>
          </a:bodyPr>
          <a:lstStyle/>
          <a:p>
            <a:pPr algn="l">
              <a:defRPr sz="1100" b="1">
                <a:solidFill>
                  <a:srgbClr val="00A98F"/>
                </a:solidFill>
                <a:latin typeface="Aptos"/>
              </a:defRPr>
            </a:pPr>
            <a:r>
              <a:t>Angular switching</a:t>
            </a:r>
          </a:p>
        </p:txBody>
      </p:sp>
      <p:sp>
        <p:nvSpPr>
          <p:cNvPr id="19" name="TextBox 18"/>
          <p:cNvSpPr txBox="1"/>
          <p:nvPr/>
        </p:nvSpPr>
        <p:spPr>
          <a:xfrm>
            <a:off x="7909560" y="3694176"/>
            <a:ext cx="3291840" cy="329184"/>
          </a:xfrm>
          <a:prstGeom prst="rect">
            <a:avLst/>
          </a:prstGeom>
          <a:noFill/>
        </p:spPr>
        <p:txBody>
          <a:bodyPr wrap="square" lIns="0" rIns="0" tIns="0" bIns="0" anchor="t">
            <a:spAutoFit/>
          </a:bodyPr>
          <a:lstStyle/>
          <a:p>
            <a:pPr algn="l">
              <a:defRPr sz="1300" b="0">
                <a:solidFill>
                  <a:srgbClr val="1C2732"/>
                </a:solidFill>
                <a:latin typeface="Georgia"/>
              </a:defRPr>
            </a:pPr>
            <a:r>
              <a:t>ωraw = kω[ψ + tanh(sᵧ/φ) + 0.2 tanh(sθ/φ)]</a:t>
            </a:r>
          </a:p>
        </p:txBody>
      </p:sp>
      <p:sp>
        <p:nvSpPr>
          <p:cNvPr id="20" name="TextBox 19"/>
          <p:cNvSpPr txBox="1"/>
          <p:nvPr/>
        </p:nvSpPr>
        <p:spPr>
          <a:xfrm>
            <a:off x="6446520" y="4425696"/>
            <a:ext cx="1417320" cy="256032"/>
          </a:xfrm>
          <a:prstGeom prst="rect">
            <a:avLst/>
          </a:prstGeom>
          <a:noFill/>
        </p:spPr>
        <p:txBody>
          <a:bodyPr wrap="square" lIns="0" rIns="0" tIns="0" bIns="0" anchor="t">
            <a:spAutoFit/>
          </a:bodyPr>
          <a:lstStyle/>
          <a:p>
            <a:pPr algn="l">
              <a:defRPr sz="1100" b="1">
                <a:solidFill>
                  <a:srgbClr val="00A98F"/>
                </a:solidFill>
                <a:latin typeface="Aptos"/>
              </a:defRPr>
            </a:pPr>
            <a:r>
              <a:t>Smoothing</a:t>
            </a:r>
          </a:p>
        </p:txBody>
      </p:sp>
      <p:sp>
        <p:nvSpPr>
          <p:cNvPr id="21" name="TextBox 20"/>
          <p:cNvSpPr txBox="1"/>
          <p:nvPr/>
        </p:nvSpPr>
        <p:spPr>
          <a:xfrm>
            <a:off x="7909560" y="4407408"/>
            <a:ext cx="3291840" cy="329184"/>
          </a:xfrm>
          <a:prstGeom prst="rect">
            <a:avLst/>
          </a:prstGeom>
          <a:noFill/>
        </p:spPr>
        <p:txBody>
          <a:bodyPr wrap="square" lIns="0" rIns="0" tIns="0" bIns="0" anchor="t">
            <a:spAutoFit/>
          </a:bodyPr>
          <a:lstStyle/>
          <a:p>
            <a:pPr algn="l">
              <a:defRPr sz="1300" b="0">
                <a:solidFill>
                  <a:srgbClr val="1C2732"/>
                </a:solidFill>
                <a:latin typeface="Georgia"/>
              </a:defRPr>
            </a:pPr>
            <a:r>
              <a:t>ωᶜ = αωωᶜₖ₋₁ + (1−αω)ωraw</a:t>
            </a:r>
          </a:p>
        </p:txBody>
      </p:sp>
      <p:sp>
        <p:nvSpPr>
          <p:cNvPr id="22" name="Rounded Rectangle 21"/>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boundary layer φ directly controls the robustness–chattering trade-off.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Five Controlled Test Scenarios</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EXPERIMENTAL DESIGN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07</a:t>
            </a:r>
          </a:p>
        </p:txBody>
      </p:sp>
      <p:sp>
        <p:nvSpPr>
          <p:cNvPr id="8" name="Rounded Rectangle 7"/>
          <p:cNvSpPr/>
          <p:nvPr/>
        </p:nvSpPr>
        <p:spPr>
          <a:xfrm>
            <a:off x="438912" y="1572768"/>
            <a:ext cx="2057400" cy="3246120"/>
          </a:xfrm>
          <a:prstGeom prst="roundRect">
            <a:avLst/>
          </a:prstGeom>
          <a:solidFill>
            <a:srgbClr val="FFFFFF"/>
          </a:solidFill>
          <a:ln w="12700">
            <a:solidFill>
              <a:srgbClr val="0B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856231"/>
            <a:ext cx="1737360" cy="365760"/>
          </a:xfrm>
          <a:prstGeom prst="rect">
            <a:avLst/>
          </a:prstGeom>
          <a:noFill/>
        </p:spPr>
        <p:txBody>
          <a:bodyPr wrap="square" lIns="0" rIns="0" tIns="0" bIns="0" anchor="t">
            <a:spAutoFit/>
          </a:bodyPr>
          <a:lstStyle/>
          <a:p>
            <a:pPr algn="l">
              <a:defRPr sz="1900" b="1">
                <a:solidFill>
                  <a:srgbClr val="0B3D5C"/>
                </a:solidFill>
                <a:latin typeface="Georgia"/>
              </a:defRPr>
            </a:pPr>
            <a:r>
              <a:t>01</a:t>
            </a:r>
          </a:p>
        </p:txBody>
      </p:sp>
      <p:sp>
        <p:nvSpPr>
          <p:cNvPr id="10" name="TextBox 9"/>
          <p:cNvSpPr txBox="1"/>
          <p:nvPr/>
        </p:nvSpPr>
        <p:spPr>
          <a:xfrm>
            <a:off x="603504" y="2423160"/>
            <a:ext cx="1737360" cy="365760"/>
          </a:xfrm>
          <a:prstGeom prst="rect">
            <a:avLst/>
          </a:prstGeom>
          <a:noFill/>
        </p:spPr>
        <p:txBody>
          <a:bodyPr wrap="square" lIns="0" rIns="0" tIns="0" bIns="0" anchor="t">
            <a:spAutoFit/>
          </a:bodyPr>
          <a:lstStyle/>
          <a:p>
            <a:pPr algn="l">
              <a:defRPr sz="1800" b="1">
                <a:solidFill>
                  <a:srgbClr val="062438"/>
                </a:solidFill>
                <a:latin typeface="Aptos"/>
              </a:defRPr>
            </a:pPr>
            <a:r>
              <a:t>Normal</a:t>
            </a:r>
          </a:p>
        </p:txBody>
      </p:sp>
      <p:sp>
        <p:nvSpPr>
          <p:cNvPr id="11" name="TextBox 10"/>
          <p:cNvSpPr txBox="1"/>
          <p:nvPr/>
        </p:nvSpPr>
        <p:spPr>
          <a:xfrm>
            <a:off x="603504" y="3072384"/>
            <a:ext cx="1737360" cy="731520"/>
          </a:xfrm>
          <a:prstGeom prst="rect">
            <a:avLst/>
          </a:prstGeom>
          <a:noFill/>
        </p:spPr>
        <p:txBody>
          <a:bodyPr wrap="square" lIns="0" rIns="0" tIns="0" bIns="0" anchor="t">
            <a:spAutoFit/>
          </a:bodyPr>
          <a:lstStyle/>
          <a:p>
            <a:pPr algn="ctr">
              <a:defRPr sz="1300" b="0">
                <a:solidFill>
                  <a:srgbClr val="5B6B78"/>
                </a:solidFill>
                <a:latin typeface="Aptos"/>
              </a:defRPr>
            </a:pPr>
            <a:r>
              <a:t>No perturbation</a:t>
            </a:r>
          </a:p>
        </p:txBody>
      </p:sp>
      <p:sp>
        <p:nvSpPr>
          <p:cNvPr id="12" name="Rounded Rectangle 11"/>
          <p:cNvSpPr/>
          <p:nvPr/>
        </p:nvSpPr>
        <p:spPr>
          <a:xfrm>
            <a:off x="2770632" y="1572768"/>
            <a:ext cx="2057400" cy="3246120"/>
          </a:xfrm>
          <a:prstGeom prst="roundRect">
            <a:avLst/>
          </a:prstGeom>
          <a:solidFill>
            <a:srgbClr val="FFFFFF"/>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1856231"/>
            <a:ext cx="1737360" cy="365760"/>
          </a:xfrm>
          <a:prstGeom prst="rect">
            <a:avLst/>
          </a:prstGeom>
          <a:noFill/>
        </p:spPr>
        <p:txBody>
          <a:bodyPr wrap="square" lIns="0" rIns="0" tIns="0" bIns="0" anchor="t">
            <a:spAutoFit/>
          </a:bodyPr>
          <a:lstStyle/>
          <a:p>
            <a:pPr algn="l">
              <a:defRPr sz="1900" b="1">
                <a:solidFill>
                  <a:srgbClr val="00A98F"/>
                </a:solidFill>
                <a:latin typeface="Georgia"/>
              </a:defRPr>
            </a:pPr>
            <a:r>
              <a:t>02</a:t>
            </a:r>
          </a:p>
        </p:txBody>
      </p:sp>
      <p:sp>
        <p:nvSpPr>
          <p:cNvPr id="14" name="TextBox 13"/>
          <p:cNvSpPr txBox="1"/>
          <p:nvPr/>
        </p:nvSpPr>
        <p:spPr>
          <a:xfrm>
            <a:off x="2935224" y="2423160"/>
            <a:ext cx="1737360" cy="365760"/>
          </a:xfrm>
          <a:prstGeom prst="rect">
            <a:avLst/>
          </a:prstGeom>
          <a:noFill/>
        </p:spPr>
        <p:txBody>
          <a:bodyPr wrap="square" lIns="0" rIns="0" tIns="0" bIns="0" anchor="t">
            <a:spAutoFit/>
          </a:bodyPr>
          <a:lstStyle/>
          <a:p>
            <a:pPr algn="l">
              <a:defRPr sz="1800" b="1">
                <a:solidFill>
                  <a:srgbClr val="062438"/>
                </a:solidFill>
                <a:latin typeface="Aptos"/>
              </a:defRPr>
            </a:pPr>
            <a:r>
              <a:t>Noise</a:t>
            </a:r>
          </a:p>
        </p:txBody>
      </p:sp>
      <p:sp>
        <p:nvSpPr>
          <p:cNvPr id="15" name="TextBox 14"/>
          <p:cNvSpPr txBox="1"/>
          <p:nvPr/>
        </p:nvSpPr>
        <p:spPr>
          <a:xfrm>
            <a:off x="2935224" y="3072384"/>
            <a:ext cx="1737360" cy="731520"/>
          </a:xfrm>
          <a:prstGeom prst="rect">
            <a:avLst/>
          </a:prstGeom>
          <a:noFill/>
        </p:spPr>
        <p:txBody>
          <a:bodyPr wrap="square" lIns="0" rIns="0" tIns="0" bIns="0" anchor="t">
            <a:spAutoFit/>
          </a:bodyPr>
          <a:lstStyle/>
          <a:p>
            <a:pPr algn="ctr">
              <a:defRPr sz="1300" b="0">
                <a:solidFill>
                  <a:srgbClr val="5B6B78"/>
                </a:solidFill>
                <a:latin typeface="Aptos"/>
              </a:defRPr>
            </a:pPr>
            <a:r>
              <a:t>Gaussian pose noise</a:t>
            </a:r>
            <a:br/>
            <a:r>
              <a:t>σxy = 0.02 m</a:t>
            </a:r>
          </a:p>
        </p:txBody>
      </p:sp>
      <p:sp>
        <p:nvSpPr>
          <p:cNvPr id="16" name="Rounded Rectangle 15"/>
          <p:cNvSpPr/>
          <p:nvPr/>
        </p:nvSpPr>
        <p:spPr>
          <a:xfrm>
            <a:off x="5102352" y="1572768"/>
            <a:ext cx="2057400" cy="3246120"/>
          </a:xfrm>
          <a:prstGeom prst="roundRect">
            <a:avLst/>
          </a:prstGeom>
          <a:solidFill>
            <a:srgbClr val="FFFFFF"/>
          </a:solidFill>
          <a:ln w="12700">
            <a:solidFill>
              <a:srgbClr val="C447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1856231"/>
            <a:ext cx="1737360" cy="365760"/>
          </a:xfrm>
          <a:prstGeom prst="rect">
            <a:avLst/>
          </a:prstGeom>
          <a:noFill/>
        </p:spPr>
        <p:txBody>
          <a:bodyPr wrap="square" lIns="0" rIns="0" tIns="0" bIns="0" anchor="t">
            <a:spAutoFit/>
          </a:bodyPr>
          <a:lstStyle/>
          <a:p>
            <a:pPr algn="l">
              <a:defRPr sz="1900" b="1">
                <a:solidFill>
                  <a:srgbClr val="C44747"/>
                </a:solidFill>
                <a:latin typeface="Georgia"/>
              </a:defRPr>
            </a:pPr>
            <a:r>
              <a:t>03</a:t>
            </a:r>
          </a:p>
        </p:txBody>
      </p:sp>
      <p:sp>
        <p:nvSpPr>
          <p:cNvPr id="18" name="TextBox 17"/>
          <p:cNvSpPr txBox="1"/>
          <p:nvPr/>
        </p:nvSpPr>
        <p:spPr>
          <a:xfrm>
            <a:off x="5266944" y="2423160"/>
            <a:ext cx="1737360" cy="365760"/>
          </a:xfrm>
          <a:prstGeom prst="rect">
            <a:avLst/>
          </a:prstGeom>
          <a:noFill/>
        </p:spPr>
        <p:txBody>
          <a:bodyPr wrap="square" lIns="0" rIns="0" tIns="0" bIns="0" anchor="t">
            <a:spAutoFit/>
          </a:bodyPr>
          <a:lstStyle/>
          <a:p>
            <a:pPr algn="l">
              <a:defRPr sz="1800" b="1">
                <a:solidFill>
                  <a:srgbClr val="062438"/>
                </a:solidFill>
                <a:latin typeface="Aptos"/>
              </a:defRPr>
            </a:pPr>
            <a:r>
              <a:t>Disturbance</a:t>
            </a:r>
          </a:p>
        </p:txBody>
      </p:sp>
      <p:sp>
        <p:nvSpPr>
          <p:cNvPr id="19" name="TextBox 18"/>
          <p:cNvSpPr txBox="1"/>
          <p:nvPr/>
        </p:nvSpPr>
        <p:spPr>
          <a:xfrm>
            <a:off x="5266944" y="3072384"/>
            <a:ext cx="1737360" cy="731520"/>
          </a:xfrm>
          <a:prstGeom prst="rect">
            <a:avLst/>
          </a:prstGeom>
          <a:noFill/>
        </p:spPr>
        <p:txBody>
          <a:bodyPr wrap="square" lIns="0" rIns="0" tIns="0" bIns="0" anchor="t">
            <a:spAutoFit/>
          </a:bodyPr>
          <a:lstStyle/>
          <a:p>
            <a:pPr algn="ctr">
              <a:defRPr sz="1300" b="0">
                <a:solidFill>
                  <a:srgbClr val="5B6B78"/>
                </a:solidFill>
                <a:latin typeface="Aptos"/>
              </a:defRPr>
            </a:pPr>
            <a:r>
              <a:t>Lateral push +0.4 m</a:t>
            </a:r>
            <a:br/>
            <a:r>
              <a:t>at t = 8 s</a:t>
            </a:r>
          </a:p>
        </p:txBody>
      </p:sp>
      <p:sp>
        <p:nvSpPr>
          <p:cNvPr id="20" name="Rounded Rectangle 19"/>
          <p:cNvSpPr/>
          <p:nvPr/>
        </p:nvSpPr>
        <p:spPr>
          <a:xfrm>
            <a:off x="7434071" y="1572768"/>
            <a:ext cx="2057400" cy="3246120"/>
          </a:xfrm>
          <a:prstGeom prst="roundRect">
            <a:avLst/>
          </a:prstGeom>
          <a:solidFill>
            <a:srgbClr val="FFFFFF"/>
          </a:solidFill>
          <a:ln w="12700">
            <a:solidFill>
              <a:srgbClr val="D89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98663" y="1856231"/>
            <a:ext cx="1737360" cy="365760"/>
          </a:xfrm>
          <a:prstGeom prst="rect">
            <a:avLst/>
          </a:prstGeom>
          <a:noFill/>
        </p:spPr>
        <p:txBody>
          <a:bodyPr wrap="square" lIns="0" rIns="0" tIns="0" bIns="0" anchor="t">
            <a:spAutoFit/>
          </a:bodyPr>
          <a:lstStyle/>
          <a:p>
            <a:pPr algn="l">
              <a:defRPr sz="1900" b="1">
                <a:solidFill>
                  <a:srgbClr val="D89D36"/>
                </a:solidFill>
                <a:latin typeface="Georgia"/>
              </a:defRPr>
            </a:pPr>
            <a:r>
              <a:t>04</a:t>
            </a:r>
          </a:p>
        </p:txBody>
      </p:sp>
      <p:sp>
        <p:nvSpPr>
          <p:cNvPr id="22" name="TextBox 21"/>
          <p:cNvSpPr txBox="1"/>
          <p:nvPr/>
        </p:nvSpPr>
        <p:spPr>
          <a:xfrm>
            <a:off x="7598663" y="2423160"/>
            <a:ext cx="1737360" cy="365760"/>
          </a:xfrm>
          <a:prstGeom prst="rect">
            <a:avLst/>
          </a:prstGeom>
          <a:noFill/>
        </p:spPr>
        <p:txBody>
          <a:bodyPr wrap="square" lIns="0" rIns="0" tIns="0" bIns="0" anchor="t">
            <a:spAutoFit/>
          </a:bodyPr>
          <a:lstStyle/>
          <a:p>
            <a:pPr algn="l">
              <a:defRPr sz="1800" b="1">
                <a:solidFill>
                  <a:srgbClr val="062438"/>
                </a:solidFill>
                <a:latin typeface="Aptos"/>
              </a:defRPr>
            </a:pPr>
            <a:r>
              <a:t>Slip</a:t>
            </a:r>
          </a:p>
        </p:txBody>
      </p:sp>
      <p:sp>
        <p:nvSpPr>
          <p:cNvPr id="23" name="TextBox 22"/>
          <p:cNvSpPr txBox="1"/>
          <p:nvPr/>
        </p:nvSpPr>
        <p:spPr>
          <a:xfrm>
            <a:off x="7598663" y="3072384"/>
            <a:ext cx="1737360" cy="731520"/>
          </a:xfrm>
          <a:prstGeom prst="rect">
            <a:avLst/>
          </a:prstGeom>
          <a:noFill/>
        </p:spPr>
        <p:txBody>
          <a:bodyPr wrap="square" lIns="0" rIns="0" tIns="0" bIns="0" anchor="t">
            <a:spAutoFit/>
          </a:bodyPr>
          <a:lstStyle/>
          <a:p>
            <a:pPr algn="ctr">
              <a:defRPr sz="1300" b="0">
                <a:solidFill>
                  <a:srgbClr val="5B6B78"/>
                </a:solidFill>
                <a:latin typeface="Aptos"/>
              </a:defRPr>
            </a:pPr>
            <a:r>
              <a:t>30% velocity reduction</a:t>
            </a:r>
            <a:br/>
            <a:r>
              <a:t>t = 10–14 s</a:t>
            </a:r>
          </a:p>
        </p:txBody>
      </p:sp>
      <p:sp>
        <p:nvSpPr>
          <p:cNvPr id="24" name="Rounded Rectangle 23"/>
          <p:cNvSpPr/>
          <p:nvPr/>
        </p:nvSpPr>
        <p:spPr>
          <a:xfrm>
            <a:off x="9765792" y="1572768"/>
            <a:ext cx="2057400" cy="3246120"/>
          </a:xfrm>
          <a:prstGeom prst="roundRect">
            <a:avLst/>
          </a:prstGeom>
          <a:solidFill>
            <a:srgbClr val="FFFFFF"/>
          </a:solidFill>
          <a:ln w="12700">
            <a:solidFill>
              <a:srgbClr val="6B5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0384" y="1856231"/>
            <a:ext cx="1737360" cy="365760"/>
          </a:xfrm>
          <a:prstGeom prst="rect">
            <a:avLst/>
          </a:prstGeom>
          <a:noFill/>
        </p:spPr>
        <p:txBody>
          <a:bodyPr wrap="square" lIns="0" rIns="0" tIns="0" bIns="0" anchor="t">
            <a:spAutoFit/>
          </a:bodyPr>
          <a:lstStyle/>
          <a:p>
            <a:pPr algn="l">
              <a:defRPr sz="1900" b="1">
                <a:solidFill>
                  <a:srgbClr val="6B57B4"/>
                </a:solidFill>
                <a:latin typeface="Georgia"/>
              </a:defRPr>
            </a:pPr>
            <a:r>
              <a:t>05</a:t>
            </a:r>
          </a:p>
        </p:txBody>
      </p:sp>
      <p:sp>
        <p:nvSpPr>
          <p:cNvPr id="26" name="TextBox 25"/>
          <p:cNvSpPr txBox="1"/>
          <p:nvPr/>
        </p:nvSpPr>
        <p:spPr>
          <a:xfrm>
            <a:off x="9930384" y="2423160"/>
            <a:ext cx="1737360" cy="365760"/>
          </a:xfrm>
          <a:prstGeom prst="rect">
            <a:avLst/>
          </a:prstGeom>
          <a:noFill/>
        </p:spPr>
        <p:txBody>
          <a:bodyPr wrap="square" lIns="0" rIns="0" tIns="0" bIns="0" anchor="t">
            <a:spAutoFit/>
          </a:bodyPr>
          <a:lstStyle/>
          <a:p>
            <a:pPr algn="l">
              <a:defRPr sz="1800" b="1">
                <a:solidFill>
                  <a:srgbClr val="062438"/>
                </a:solidFill>
                <a:latin typeface="Aptos"/>
              </a:defRPr>
            </a:pPr>
            <a:r>
              <a:t>Combined</a:t>
            </a:r>
          </a:p>
        </p:txBody>
      </p:sp>
      <p:sp>
        <p:nvSpPr>
          <p:cNvPr id="27" name="TextBox 26"/>
          <p:cNvSpPr txBox="1"/>
          <p:nvPr/>
        </p:nvSpPr>
        <p:spPr>
          <a:xfrm>
            <a:off x="9930384" y="3072384"/>
            <a:ext cx="1737360" cy="731520"/>
          </a:xfrm>
          <a:prstGeom prst="rect">
            <a:avLst/>
          </a:prstGeom>
          <a:noFill/>
        </p:spPr>
        <p:txBody>
          <a:bodyPr wrap="square" lIns="0" rIns="0" tIns="0" bIns="0" anchor="t">
            <a:spAutoFit/>
          </a:bodyPr>
          <a:lstStyle/>
          <a:p>
            <a:pPr algn="ctr">
              <a:defRPr sz="1300" b="0">
                <a:solidFill>
                  <a:srgbClr val="5B6B78"/>
                </a:solidFill>
                <a:latin typeface="Aptos"/>
              </a:defRPr>
            </a:pPr>
            <a:r>
              <a:t>Noise + push + slip</a:t>
            </a:r>
          </a:p>
        </p:txBody>
      </p:sp>
      <p:sp>
        <p:nvSpPr>
          <p:cNvPr id="28" name="Rounded Rectangle 27"/>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All controllers are evaluated under identical perturbations and timing.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EnvironmentCNN: Lightweight Scenario Recognition</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AI METHOD</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08</a:t>
            </a:r>
          </a:p>
        </p:txBody>
      </p:sp>
      <p:pic>
        <p:nvPicPr>
          <p:cNvPr id="8" name="Picture 7" descr="fig02_cnn_samples.png"/>
          <p:cNvPicPr>
            <a:picLocks noChangeAspect="1"/>
          </p:cNvPicPr>
          <p:nvPr/>
        </p:nvPicPr>
        <p:blipFill>
          <a:blip r:embed="rId2"/>
          <a:stretch>
            <a:fillRect/>
          </a:stretch>
        </p:blipFill>
        <p:spPr>
          <a:xfrm>
            <a:off x="594360" y="2082761"/>
            <a:ext cx="6446520" cy="1686636"/>
          </a:xfrm>
          <a:prstGeom prst="rect">
            <a:avLst/>
          </a:prstGeom>
        </p:spPr>
      </p:pic>
      <p:sp>
        <p:nvSpPr>
          <p:cNvPr id="9" name="Rounded Rectangle 8"/>
          <p:cNvSpPr/>
          <p:nvPr/>
        </p:nvSpPr>
        <p:spPr>
          <a:xfrm>
            <a:off x="7333488" y="1417320"/>
            <a:ext cx="4206240" cy="416052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700784"/>
            <a:ext cx="3657600" cy="365760"/>
          </a:xfrm>
          <a:prstGeom prst="rect">
            <a:avLst/>
          </a:prstGeom>
          <a:noFill/>
        </p:spPr>
        <p:txBody>
          <a:bodyPr wrap="square" lIns="0" rIns="0" tIns="0" bIns="0" anchor="t">
            <a:spAutoFit/>
          </a:bodyPr>
          <a:lstStyle/>
          <a:p>
            <a:pPr algn="l">
              <a:defRPr sz="2000" b="1">
                <a:solidFill>
                  <a:srgbClr val="0B3D5C"/>
                </a:solidFill>
                <a:latin typeface="Georgia"/>
              </a:defRPr>
            </a:pPr>
            <a:r>
              <a:t>Architecture</a:t>
            </a:r>
          </a:p>
        </p:txBody>
      </p:sp>
      <p:sp>
        <p:nvSpPr>
          <p:cNvPr id="11" name="TextBox 10"/>
          <p:cNvSpPr txBox="1"/>
          <p:nvPr/>
        </p:nvSpPr>
        <p:spPr>
          <a:xfrm>
            <a:off x="7635240" y="2240280"/>
            <a:ext cx="3520440" cy="1965960"/>
          </a:xfrm>
          <a:prstGeom prst="rect">
            <a:avLst/>
          </a:prstGeom>
          <a:noFill/>
        </p:spPr>
        <p:txBody>
          <a:bodyPr wrap="square">
            <a:spAutoFit/>
          </a:bodyPr>
          <a:lstStyle/>
          <a:p>
            <a:pPr>
              <a:spcAft>
                <a:spcPts val="500"/>
              </a:spcAft>
              <a:defRPr sz="1300">
                <a:solidFill>
                  <a:srgbClr val="1C2732"/>
                </a:solidFill>
                <a:latin typeface="Aptos"/>
              </a:defRPr>
            </a:pPr>
            <a:r>
              <a:t>•  Input: 1 × 64 × 64</a:t>
            </a:r>
          </a:p>
          <a:p>
            <a:pPr>
              <a:spcAft>
                <a:spcPts val="500"/>
              </a:spcAft>
              <a:defRPr sz="1300">
                <a:solidFill>
                  <a:srgbClr val="1C2732"/>
                </a:solidFill>
                <a:latin typeface="Aptos"/>
              </a:defRPr>
            </a:pPr>
            <a:r>
              <a:t>•  Conv blocks: 16 → 32 → 64</a:t>
            </a:r>
          </a:p>
          <a:p>
            <a:pPr>
              <a:spcAft>
                <a:spcPts val="500"/>
              </a:spcAft>
              <a:defRPr sz="1300">
                <a:solidFill>
                  <a:srgbClr val="1C2732"/>
                </a:solidFill>
                <a:latin typeface="Aptos"/>
              </a:defRPr>
            </a:pPr>
            <a:r>
              <a:t>•  BatchNorm + ReLU + MaxPool</a:t>
            </a:r>
          </a:p>
          <a:p>
            <a:pPr>
              <a:spcAft>
                <a:spcPts val="500"/>
              </a:spcAft>
              <a:defRPr sz="1300">
                <a:solidFill>
                  <a:srgbClr val="1C2732"/>
                </a:solidFill>
                <a:latin typeface="Aptos"/>
              </a:defRPr>
            </a:pPr>
            <a:r>
              <a:t>•  FC 4096 → 128 → 5</a:t>
            </a:r>
          </a:p>
          <a:p>
            <a:pPr>
              <a:spcAft>
                <a:spcPts val="500"/>
              </a:spcAft>
              <a:defRPr sz="1300">
                <a:solidFill>
                  <a:srgbClr val="1C2732"/>
                </a:solidFill>
                <a:latin typeface="Aptos"/>
              </a:defRPr>
            </a:pPr>
            <a:r>
              <a:t>•  ≈534k trainable parameters</a:t>
            </a:r>
          </a:p>
        </p:txBody>
      </p:sp>
      <p:sp>
        <p:nvSpPr>
          <p:cNvPr id="12" name="Rounded Rectangle 11"/>
          <p:cNvSpPr/>
          <p:nvPr/>
        </p:nvSpPr>
        <p:spPr>
          <a:xfrm>
            <a:off x="685800" y="4590288"/>
            <a:ext cx="196596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590288"/>
            <a:ext cx="82296" cy="1353312"/>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27448"/>
            <a:ext cx="1600200" cy="457200"/>
          </a:xfrm>
          <a:prstGeom prst="rect">
            <a:avLst/>
          </a:prstGeom>
          <a:noFill/>
        </p:spPr>
        <p:txBody>
          <a:bodyPr wrap="square" lIns="0" rIns="0" tIns="0" bIns="0" anchor="t">
            <a:spAutoFit/>
          </a:bodyPr>
          <a:lstStyle/>
          <a:p>
            <a:pPr algn="l">
              <a:defRPr sz="2800" b="1">
                <a:solidFill>
                  <a:srgbClr val="00A98F"/>
                </a:solidFill>
                <a:latin typeface="Georgia"/>
              </a:defRPr>
            </a:pPr>
            <a:r>
              <a:t>100%</a:t>
            </a:r>
          </a:p>
        </p:txBody>
      </p:sp>
      <p:sp>
        <p:nvSpPr>
          <p:cNvPr id="15" name="TextBox 14"/>
          <p:cNvSpPr txBox="1"/>
          <p:nvPr/>
        </p:nvSpPr>
        <p:spPr>
          <a:xfrm>
            <a:off x="914400" y="5221224"/>
            <a:ext cx="1600200" cy="256032"/>
          </a:xfrm>
          <a:prstGeom prst="rect">
            <a:avLst/>
          </a:prstGeom>
          <a:noFill/>
        </p:spPr>
        <p:txBody>
          <a:bodyPr wrap="square" lIns="0" rIns="0" tIns="0" bIns="0" anchor="t">
            <a:spAutoFit/>
          </a:bodyPr>
          <a:lstStyle/>
          <a:p>
            <a:pPr algn="l">
              <a:defRPr sz="1300" b="1">
                <a:solidFill>
                  <a:srgbClr val="1C2732"/>
                </a:solidFill>
                <a:latin typeface="Aptos"/>
              </a:defRPr>
            </a:pPr>
            <a:r>
              <a:t>Simple maps</a:t>
            </a:r>
          </a:p>
        </p:txBody>
      </p:sp>
      <p:sp>
        <p:nvSpPr>
          <p:cNvPr id="16" name="TextBox 15"/>
          <p:cNvSpPr txBox="1"/>
          <p:nvPr/>
        </p:nvSpPr>
        <p:spPr>
          <a:xfrm>
            <a:off x="914400" y="5532120"/>
            <a:ext cx="1600200" cy="274320"/>
          </a:xfrm>
          <a:prstGeom prst="rect">
            <a:avLst/>
          </a:prstGeom>
          <a:noFill/>
        </p:spPr>
        <p:txBody>
          <a:bodyPr wrap="square" lIns="0" rIns="0" tIns="0" bIns="0" anchor="t">
            <a:spAutoFit/>
          </a:bodyPr>
          <a:lstStyle/>
          <a:p>
            <a:pPr algn="l">
              <a:defRPr sz="1000" b="0">
                <a:solidFill>
                  <a:srgbClr val="5B6B78"/>
                </a:solidFill>
                <a:latin typeface="Aptos"/>
              </a:defRPr>
            </a:pPr>
            <a:r>
              <a:t>225 held-out test maps</a:t>
            </a:r>
          </a:p>
        </p:txBody>
      </p:sp>
      <p:sp>
        <p:nvSpPr>
          <p:cNvPr id="17" name="Rounded Rectangle 16"/>
          <p:cNvSpPr/>
          <p:nvPr/>
        </p:nvSpPr>
        <p:spPr>
          <a:xfrm>
            <a:off x="2788920" y="4590288"/>
            <a:ext cx="196596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4590288"/>
            <a:ext cx="82296" cy="1353312"/>
          </a:xfrm>
          <a:prstGeom prst="rect">
            <a:avLst/>
          </a:prstGeom>
          <a:solidFill>
            <a:srgbClr val="0B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4727448"/>
            <a:ext cx="1600200" cy="457200"/>
          </a:xfrm>
          <a:prstGeom prst="rect">
            <a:avLst/>
          </a:prstGeom>
          <a:noFill/>
        </p:spPr>
        <p:txBody>
          <a:bodyPr wrap="square" lIns="0" rIns="0" tIns="0" bIns="0" anchor="t">
            <a:spAutoFit/>
          </a:bodyPr>
          <a:lstStyle/>
          <a:p>
            <a:pPr algn="l">
              <a:defRPr sz="2800" b="1">
                <a:solidFill>
                  <a:srgbClr val="0B3D5C"/>
                </a:solidFill>
                <a:latin typeface="Georgia"/>
              </a:defRPr>
            </a:pPr>
            <a:r>
              <a:t>95.1%</a:t>
            </a:r>
          </a:p>
        </p:txBody>
      </p:sp>
      <p:sp>
        <p:nvSpPr>
          <p:cNvPr id="20" name="TextBox 19"/>
          <p:cNvSpPr txBox="1"/>
          <p:nvPr/>
        </p:nvSpPr>
        <p:spPr>
          <a:xfrm>
            <a:off x="3017520" y="5221224"/>
            <a:ext cx="1600200" cy="256032"/>
          </a:xfrm>
          <a:prstGeom prst="rect">
            <a:avLst/>
          </a:prstGeom>
          <a:noFill/>
        </p:spPr>
        <p:txBody>
          <a:bodyPr wrap="square" lIns="0" rIns="0" tIns="0" bIns="0" anchor="t">
            <a:spAutoFit/>
          </a:bodyPr>
          <a:lstStyle/>
          <a:p>
            <a:pPr algn="l">
              <a:defRPr sz="1300" b="1">
                <a:solidFill>
                  <a:srgbClr val="1C2732"/>
                </a:solidFill>
                <a:latin typeface="Aptos"/>
              </a:defRPr>
            </a:pPr>
            <a:r>
              <a:t>Realistic maps</a:t>
            </a:r>
          </a:p>
        </p:txBody>
      </p:sp>
      <p:sp>
        <p:nvSpPr>
          <p:cNvPr id="21" name="TextBox 20"/>
          <p:cNvSpPr txBox="1"/>
          <p:nvPr/>
        </p:nvSpPr>
        <p:spPr>
          <a:xfrm>
            <a:off x="3017520" y="5532120"/>
            <a:ext cx="1600200" cy="274320"/>
          </a:xfrm>
          <a:prstGeom prst="rect">
            <a:avLst/>
          </a:prstGeom>
          <a:noFill/>
        </p:spPr>
        <p:txBody>
          <a:bodyPr wrap="square" lIns="0" rIns="0" tIns="0" bIns="0" anchor="t">
            <a:spAutoFit/>
          </a:bodyPr>
          <a:lstStyle/>
          <a:p>
            <a:pPr algn="l">
              <a:defRPr sz="1000" b="0">
                <a:solidFill>
                  <a:srgbClr val="5B6B78"/>
                </a:solidFill>
                <a:latin typeface="Aptos"/>
              </a:defRPr>
            </a:pPr>
            <a:r>
              <a:t>walls, clutter &amp; obstacles</a:t>
            </a:r>
          </a:p>
        </p:txBody>
      </p:sp>
      <p:sp>
        <p:nvSpPr>
          <p:cNvPr id="22" name="Rounded Rectangle 21"/>
          <p:cNvSpPr/>
          <p:nvPr/>
        </p:nvSpPr>
        <p:spPr>
          <a:xfrm>
            <a:off x="4892040" y="4590288"/>
            <a:ext cx="196596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92040" y="4590288"/>
            <a:ext cx="82296" cy="1353312"/>
          </a:xfrm>
          <a:prstGeom prst="rect">
            <a:avLst/>
          </a:prstGeom>
          <a:solidFill>
            <a:srgbClr val="D89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4727448"/>
            <a:ext cx="1600200" cy="457200"/>
          </a:xfrm>
          <a:prstGeom prst="rect">
            <a:avLst/>
          </a:prstGeom>
          <a:noFill/>
        </p:spPr>
        <p:txBody>
          <a:bodyPr wrap="square" lIns="0" rIns="0" tIns="0" bIns="0" anchor="t">
            <a:spAutoFit/>
          </a:bodyPr>
          <a:lstStyle/>
          <a:p>
            <a:pPr algn="l">
              <a:defRPr sz="2800" b="1">
                <a:solidFill>
                  <a:srgbClr val="D89D36"/>
                </a:solidFill>
                <a:latin typeface="Georgia"/>
              </a:defRPr>
            </a:pPr>
            <a:r>
              <a:t>5</a:t>
            </a:r>
          </a:p>
        </p:txBody>
      </p:sp>
      <p:sp>
        <p:nvSpPr>
          <p:cNvPr id="25" name="TextBox 24"/>
          <p:cNvSpPr txBox="1"/>
          <p:nvPr/>
        </p:nvSpPr>
        <p:spPr>
          <a:xfrm>
            <a:off x="5120640" y="5221224"/>
            <a:ext cx="1600200" cy="256032"/>
          </a:xfrm>
          <a:prstGeom prst="rect">
            <a:avLst/>
          </a:prstGeom>
          <a:noFill/>
        </p:spPr>
        <p:txBody>
          <a:bodyPr wrap="square" lIns="0" rIns="0" tIns="0" bIns="0" anchor="t">
            <a:spAutoFit/>
          </a:bodyPr>
          <a:lstStyle/>
          <a:p>
            <a:pPr algn="l">
              <a:defRPr sz="1300" b="1">
                <a:solidFill>
                  <a:srgbClr val="1C2732"/>
                </a:solidFill>
                <a:latin typeface="Aptos"/>
              </a:defRPr>
            </a:pPr>
            <a:r>
              <a:t>Scenario classes</a:t>
            </a:r>
          </a:p>
        </p:txBody>
      </p:sp>
      <p:sp>
        <p:nvSpPr>
          <p:cNvPr id="26" name="TextBox 25"/>
          <p:cNvSpPr txBox="1"/>
          <p:nvPr/>
        </p:nvSpPr>
        <p:spPr>
          <a:xfrm>
            <a:off x="5120640" y="5532120"/>
            <a:ext cx="1600200" cy="274320"/>
          </a:xfrm>
          <a:prstGeom prst="rect">
            <a:avLst/>
          </a:prstGeom>
          <a:noFill/>
        </p:spPr>
        <p:txBody>
          <a:bodyPr wrap="square" lIns="0" rIns="0" tIns="0" bIns="0" anchor="t">
            <a:spAutoFit/>
          </a:bodyPr>
          <a:lstStyle/>
          <a:p>
            <a:pPr algn="l">
              <a:defRPr sz="1000" b="0">
                <a:solidFill>
                  <a:srgbClr val="5B6B78"/>
                </a:solidFill>
                <a:latin typeface="Aptos"/>
              </a:defRPr>
            </a:pPr>
            <a:r>
              <a:t>normal to combined</a:t>
            </a:r>
          </a:p>
        </p:txBody>
      </p:sp>
      <p:sp>
        <p:nvSpPr>
          <p:cNvPr id="27" name="Rounded Rectangle 26"/>
          <p:cNvSpPr/>
          <p:nvPr/>
        </p:nvSpPr>
        <p:spPr>
          <a:xfrm>
            <a:off x="566928" y="601675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611733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Classification is fast, interpretable and performed once before the 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How the Presets Change Controller Behaviour</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ADAPTIVE CONTROL</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09</a:t>
            </a:r>
          </a:p>
        </p:txBody>
      </p:sp>
      <p:sp>
        <p:nvSpPr>
          <p:cNvPr id="8" name="TextBox 7"/>
          <p:cNvSpPr txBox="1"/>
          <p:nvPr/>
        </p:nvSpPr>
        <p:spPr>
          <a:xfrm>
            <a:off x="822960" y="1389888"/>
            <a:ext cx="2286000" cy="274320"/>
          </a:xfrm>
          <a:prstGeom prst="rect">
            <a:avLst/>
          </a:prstGeom>
          <a:noFill/>
        </p:spPr>
        <p:txBody>
          <a:bodyPr wrap="square" lIns="0" rIns="0" tIns="0" bIns="0" anchor="t">
            <a:spAutoFit/>
          </a:bodyPr>
          <a:lstStyle/>
          <a:p>
            <a:pPr algn="l">
              <a:defRPr sz="1000" b="1">
                <a:solidFill>
                  <a:srgbClr val="5B6B78"/>
                </a:solidFill>
                <a:latin typeface="Aptos"/>
              </a:defRPr>
            </a:pPr>
            <a:r>
              <a:t>SCENARIO</a:t>
            </a:r>
          </a:p>
        </p:txBody>
      </p:sp>
      <p:sp>
        <p:nvSpPr>
          <p:cNvPr id="9" name="TextBox 8"/>
          <p:cNvSpPr txBox="1"/>
          <p:nvPr/>
        </p:nvSpPr>
        <p:spPr>
          <a:xfrm>
            <a:off x="3246120" y="1389888"/>
            <a:ext cx="2743200" cy="274320"/>
          </a:xfrm>
          <a:prstGeom prst="rect">
            <a:avLst/>
          </a:prstGeom>
          <a:noFill/>
        </p:spPr>
        <p:txBody>
          <a:bodyPr wrap="square" lIns="0" rIns="0" tIns="0" bIns="0" anchor="t">
            <a:spAutoFit/>
          </a:bodyPr>
          <a:lstStyle/>
          <a:p>
            <a:pPr algn="l">
              <a:defRPr sz="1000" b="1">
                <a:solidFill>
                  <a:srgbClr val="5B6B78"/>
                </a:solidFill>
                <a:latin typeface="Aptos"/>
              </a:defRPr>
            </a:pPr>
            <a:r>
              <a:t>PARAMETER LOGIC</a:t>
            </a:r>
          </a:p>
        </p:txBody>
      </p:sp>
      <p:sp>
        <p:nvSpPr>
          <p:cNvPr id="10" name="TextBox 9"/>
          <p:cNvSpPr txBox="1"/>
          <p:nvPr/>
        </p:nvSpPr>
        <p:spPr>
          <a:xfrm>
            <a:off x="6583680" y="1389888"/>
            <a:ext cx="4114800" cy="274320"/>
          </a:xfrm>
          <a:prstGeom prst="rect">
            <a:avLst/>
          </a:prstGeom>
          <a:noFill/>
        </p:spPr>
        <p:txBody>
          <a:bodyPr wrap="square" lIns="0" rIns="0" tIns="0" bIns="0" anchor="t">
            <a:spAutoFit/>
          </a:bodyPr>
          <a:lstStyle/>
          <a:p>
            <a:pPr algn="l">
              <a:defRPr sz="1000" b="1">
                <a:solidFill>
                  <a:srgbClr val="5B6B78"/>
                </a:solidFill>
                <a:latin typeface="Aptos"/>
              </a:defRPr>
            </a:pPr>
            <a:r>
              <a:t>CONTROL EFFECT</a:t>
            </a:r>
          </a:p>
        </p:txBody>
      </p:sp>
      <p:sp>
        <p:nvSpPr>
          <p:cNvPr id="11" name="Rounded Rectangle 10"/>
          <p:cNvSpPr/>
          <p:nvPr/>
        </p:nvSpPr>
        <p:spPr>
          <a:xfrm>
            <a:off x="685800" y="1755648"/>
            <a:ext cx="10835640" cy="585216"/>
          </a:xfrm>
          <a:prstGeom prst="round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755648"/>
            <a:ext cx="64008" cy="585216"/>
          </a:xfrm>
          <a:prstGeom prst="rect">
            <a:avLst/>
          </a:prstGeom>
          <a:solidFill>
            <a:srgbClr val="0B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883664"/>
            <a:ext cx="1828800" cy="256032"/>
          </a:xfrm>
          <a:prstGeom prst="rect">
            <a:avLst/>
          </a:prstGeom>
          <a:noFill/>
        </p:spPr>
        <p:txBody>
          <a:bodyPr wrap="square" lIns="0" rIns="0" tIns="0" bIns="0" anchor="t">
            <a:spAutoFit/>
          </a:bodyPr>
          <a:lstStyle/>
          <a:p>
            <a:pPr algn="l">
              <a:defRPr sz="1300" b="1">
                <a:solidFill>
                  <a:srgbClr val="0B3D5C"/>
                </a:solidFill>
                <a:latin typeface="Aptos"/>
              </a:defRPr>
            </a:pPr>
            <a:r>
              <a:t>Normal</a:t>
            </a:r>
          </a:p>
        </p:txBody>
      </p:sp>
      <p:sp>
        <p:nvSpPr>
          <p:cNvPr id="14" name="TextBox 13"/>
          <p:cNvSpPr txBox="1"/>
          <p:nvPr/>
        </p:nvSpPr>
        <p:spPr>
          <a:xfrm>
            <a:off x="3218688" y="1883664"/>
            <a:ext cx="2743200" cy="256032"/>
          </a:xfrm>
          <a:prstGeom prst="rect">
            <a:avLst/>
          </a:prstGeom>
          <a:noFill/>
        </p:spPr>
        <p:txBody>
          <a:bodyPr wrap="square" lIns="0" rIns="0" tIns="0" bIns="0" anchor="t">
            <a:spAutoFit/>
          </a:bodyPr>
          <a:lstStyle/>
          <a:p>
            <a:pPr algn="l">
              <a:defRPr sz="1300" b="1">
                <a:solidFill>
                  <a:srgbClr val="1C2732"/>
                </a:solidFill>
                <a:latin typeface="Aptos"/>
              </a:defRPr>
            </a:pPr>
            <a:r>
              <a:t>nominal gains</a:t>
            </a:r>
          </a:p>
        </p:txBody>
      </p:sp>
      <p:sp>
        <p:nvSpPr>
          <p:cNvPr id="15" name="TextBox 14"/>
          <p:cNvSpPr txBox="1"/>
          <p:nvPr/>
        </p:nvSpPr>
        <p:spPr>
          <a:xfrm>
            <a:off x="6565392" y="1883664"/>
            <a:ext cx="4206240" cy="256032"/>
          </a:xfrm>
          <a:prstGeom prst="rect">
            <a:avLst/>
          </a:prstGeom>
          <a:noFill/>
        </p:spPr>
        <p:txBody>
          <a:bodyPr wrap="square" lIns="0" rIns="0" tIns="0" bIns="0" anchor="t">
            <a:spAutoFit/>
          </a:bodyPr>
          <a:lstStyle/>
          <a:p>
            <a:pPr algn="l">
              <a:defRPr sz="1300" b="0">
                <a:solidFill>
                  <a:srgbClr val="5B6B78"/>
                </a:solidFill>
                <a:latin typeface="Aptos"/>
              </a:defRPr>
            </a:pPr>
            <a:r>
              <a:t>baseline behaviour</a:t>
            </a:r>
          </a:p>
        </p:txBody>
      </p:sp>
      <p:sp>
        <p:nvSpPr>
          <p:cNvPr id="16" name="Rounded Rectangle 15"/>
          <p:cNvSpPr/>
          <p:nvPr/>
        </p:nvSpPr>
        <p:spPr>
          <a:xfrm>
            <a:off x="685800" y="2505456"/>
            <a:ext cx="10835640"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505456"/>
            <a:ext cx="64008" cy="585216"/>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2633472"/>
            <a:ext cx="1828800" cy="256032"/>
          </a:xfrm>
          <a:prstGeom prst="rect">
            <a:avLst/>
          </a:prstGeom>
          <a:noFill/>
        </p:spPr>
        <p:txBody>
          <a:bodyPr wrap="square" lIns="0" rIns="0" tIns="0" bIns="0" anchor="t">
            <a:spAutoFit/>
          </a:bodyPr>
          <a:lstStyle/>
          <a:p>
            <a:pPr algn="l">
              <a:defRPr sz="1300" b="1">
                <a:solidFill>
                  <a:srgbClr val="00A98F"/>
                </a:solidFill>
                <a:latin typeface="Aptos"/>
              </a:defRPr>
            </a:pPr>
            <a:r>
              <a:t>Noise</a:t>
            </a:r>
          </a:p>
        </p:txBody>
      </p:sp>
      <p:sp>
        <p:nvSpPr>
          <p:cNvPr id="19" name="TextBox 18"/>
          <p:cNvSpPr txBox="1"/>
          <p:nvPr/>
        </p:nvSpPr>
        <p:spPr>
          <a:xfrm>
            <a:off x="3218688" y="2633472"/>
            <a:ext cx="2743200" cy="256032"/>
          </a:xfrm>
          <a:prstGeom prst="rect">
            <a:avLst/>
          </a:prstGeom>
          <a:noFill/>
        </p:spPr>
        <p:txBody>
          <a:bodyPr wrap="square" lIns="0" rIns="0" tIns="0" bIns="0" anchor="t">
            <a:spAutoFit/>
          </a:bodyPr>
          <a:lstStyle/>
          <a:p>
            <a:pPr algn="l">
              <a:defRPr sz="1300" b="1">
                <a:solidFill>
                  <a:srgbClr val="1C2732"/>
                </a:solidFill>
                <a:latin typeface="Aptos"/>
              </a:defRPr>
            </a:pPr>
            <a:r>
              <a:t>↑ φ, ↑ smoothing</a:t>
            </a:r>
          </a:p>
        </p:txBody>
      </p:sp>
      <p:sp>
        <p:nvSpPr>
          <p:cNvPr id="20" name="TextBox 19"/>
          <p:cNvSpPr txBox="1"/>
          <p:nvPr/>
        </p:nvSpPr>
        <p:spPr>
          <a:xfrm>
            <a:off x="6565392" y="2633472"/>
            <a:ext cx="4206240" cy="256032"/>
          </a:xfrm>
          <a:prstGeom prst="rect">
            <a:avLst/>
          </a:prstGeom>
          <a:noFill/>
        </p:spPr>
        <p:txBody>
          <a:bodyPr wrap="square" lIns="0" rIns="0" tIns="0" bIns="0" anchor="t">
            <a:spAutoFit/>
          </a:bodyPr>
          <a:lstStyle/>
          <a:p>
            <a:pPr algn="l">
              <a:defRPr sz="1300" b="0">
                <a:solidFill>
                  <a:srgbClr val="5B6B78"/>
                </a:solidFill>
                <a:latin typeface="Aptos"/>
              </a:defRPr>
            </a:pPr>
            <a:r>
              <a:t>less angular chattering</a:t>
            </a:r>
          </a:p>
        </p:txBody>
      </p:sp>
      <p:sp>
        <p:nvSpPr>
          <p:cNvPr id="21" name="Rounded Rectangle 20"/>
          <p:cNvSpPr/>
          <p:nvPr/>
        </p:nvSpPr>
        <p:spPr>
          <a:xfrm>
            <a:off x="685800" y="3255263"/>
            <a:ext cx="10835640" cy="585216"/>
          </a:xfrm>
          <a:prstGeom prst="round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255263"/>
            <a:ext cx="64008" cy="585216"/>
          </a:xfrm>
          <a:prstGeom prst="rect">
            <a:avLst/>
          </a:prstGeom>
          <a:solidFill>
            <a:srgbClr val="C44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383279"/>
            <a:ext cx="1828800" cy="256032"/>
          </a:xfrm>
          <a:prstGeom prst="rect">
            <a:avLst/>
          </a:prstGeom>
          <a:noFill/>
        </p:spPr>
        <p:txBody>
          <a:bodyPr wrap="square" lIns="0" rIns="0" tIns="0" bIns="0" anchor="t">
            <a:spAutoFit/>
          </a:bodyPr>
          <a:lstStyle/>
          <a:p>
            <a:pPr algn="l">
              <a:defRPr sz="1300" b="1">
                <a:solidFill>
                  <a:srgbClr val="C44747"/>
                </a:solidFill>
                <a:latin typeface="Aptos"/>
              </a:defRPr>
            </a:pPr>
            <a:r>
              <a:t>Disturbance</a:t>
            </a:r>
          </a:p>
        </p:txBody>
      </p:sp>
      <p:sp>
        <p:nvSpPr>
          <p:cNvPr id="24" name="TextBox 23"/>
          <p:cNvSpPr txBox="1"/>
          <p:nvPr/>
        </p:nvSpPr>
        <p:spPr>
          <a:xfrm>
            <a:off x="3218688" y="3383279"/>
            <a:ext cx="2743200" cy="256032"/>
          </a:xfrm>
          <a:prstGeom prst="rect">
            <a:avLst/>
          </a:prstGeom>
          <a:noFill/>
        </p:spPr>
        <p:txBody>
          <a:bodyPr wrap="square" lIns="0" rIns="0" tIns="0" bIns="0" anchor="t">
            <a:spAutoFit/>
          </a:bodyPr>
          <a:lstStyle/>
          <a:p>
            <a:pPr algn="l">
              <a:defRPr sz="1300" b="1">
                <a:solidFill>
                  <a:srgbClr val="1C2732"/>
                </a:solidFill>
                <a:latin typeface="Aptos"/>
              </a:defRPr>
            </a:pPr>
            <a:r>
              <a:t>↑ λy, ↑ kω</a:t>
            </a:r>
          </a:p>
        </p:txBody>
      </p:sp>
      <p:sp>
        <p:nvSpPr>
          <p:cNvPr id="25" name="TextBox 24"/>
          <p:cNvSpPr txBox="1"/>
          <p:nvPr/>
        </p:nvSpPr>
        <p:spPr>
          <a:xfrm>
            <a:off x="6565392" y="3383279"/>
            <a:ext cx="4206240" cy="256032"/>
          </a:xfrm>
          <a:prstGeom prst="rect">
            <a:avLst/>
          </a:prstGeom>
          <a:noFill/>
        </p:spPr>
        <p:txBody>
          <a:bodyPr wrap="square" lIns="0" rIns="0" tIns="0" bIns="0" anchor="t">
            <a:spAutoFit/>
          </a:bodyPr>
          <a:lstStyle/>
          <a:p>
            <a:pPr algn="l">
              <a:defRPr sz="1300" b="0">
                <a:solidFill>
                  <a:srgbClr val="5B6B78"/>
                </a:solidFill>
                <a:latin typeface="Aptos"/>
              </a:defRPr>
            </a:pPr>
            <a:r>
              <a:t>faster heading recovery</a:t>
            </a:r>
          </a:p>
        </p:txBody>
      </p:sp>
      <p:sp>
        <p:nvSpPr>
          <p:cNvPr id="26" name="Rounded Rectangle 25"/>
          <p:cNvSpPr/>
          <p:nvPr/>
        </p:nvSpPr>
        <p:spPr>
          <a:xfrm>
            <a:off x="685800" y="4005072"/>
            <a:ext cx="10835640"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4005072"/>
            <a:ext cx="64008" cy="585216"/>
          </a:xfrm>
          <a:prstGeom prst="rect">
            <a:avLst/>
          </a:prstGeom>
          <a:solidFill>
            <a:srgbClr val="D89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133088"/>
            <a:ext cx="1828800" cy="256032"/>
          </a:xfrm>
          <a:prstGeom prst="rect">
            <a:avLst/>
          </a:prstGeom>
          <a:noFill/>
        </p:spPr>
        <p:txBody>
          <a:bodyPr wrap="square" lIns="0" rIns="0" tIns="0" bIns="0" anchor="t">
            <a:spAutoFit/>
          </a:bodyPr>
          <a:lstStyle/>
          <a:p>
            <a:pPr algn="l">
              <a:defRPr sz="1300" b="1">
                <a:solidFill>
                  <a:srgbClr val="D89D36"/>
                </a:solidFill>
                <a:latin typeface="Aptos"/>
              </a:defRPr>
            </a:pPr>
            <a:r>
              <a:t>Slip</a:t>
            </a:r>
          </a:p>
        </p:txBody>
      </p:sp>
      <p:sp>
        <p:nvSpPr>
          <p:cNvPr id="29" name="TextBox 28"/>
          <p:cNvSpPr txBox="1"/>
          <p:nvPr/>
        </p:nvSpPr>
        <p:spPr>
          <a:xfrm>
            <a:off x="3218688" y="4133088"/>
            <a:ext cx="2743200" cy="256032"/>
          </a:xfrm>
          <a:prstGeom prst="rect">
            <a:avLst/>
          </a:prstGeom>
          <a:noFill/>
        </p:spPr>
        <p:txBody>
          <a:bodyPr wrap="square" lIns="0" rIns="0" tIns="0" bIns="0" anchor="t">
            <a:spAutoFit/>
          </a:bodyPr>
          <a:lstStyle/>
          <a:p>
            <a:pPr algn="l">
              <a:defRPr sz="1300" b="1">
                <a:solidFill>
                  <a:srgbClr val="1C2732"/>
                </a:solidFill>
                <a:latin typeface="Aptos"/>
              </a:defRPr>
            </a:pPr>
            <a:r>
              <a:t>↑ λx, ↑ λy</a:t>
            </a:r>
          </a:p>
        </p:txBody>
      </p:sp>
      <p:sp>
        <p:nvSpPr>
          <p:cNvPr id="30" name="TextBox 29"/>
          <p:cNvSpPr txBox="1"/>
          <p:nvPr/>
        </p:nvSpPr>
        <p:spPr>
          <a:xfrm>
            <a:off x="6565392" y="4133088"/>
            <a:ext cx="4206240" cy="256032"/>
          </a:xfrm>
          <a:prstGeom prst="rect">
            <a:avLst/>
          </a:prstGeom>
          <a:noFill/>
        </p:spPr>
        <p:txBody>
          <a:bodyPr wrap="square" lIns="0" rIns="0" tIns="0" bIns="0" anchor="t">
            <a:spAutoFit/>
          </a:bodyPr>
          <a:lstStyle/>
          <a:p>
            <a:pPr algn="l">
              <a:defRPr sz="1300" b="0">
                <a:solidFill>
                  <a:srgbClr val="5B6B78"/>
                </a:solidFill>
                <a:latin typeface="Aptos"/>
              </a:defRPr>
            </a:pPr>
            <a:r>
              <a:t>compensate velocity deficit</a:t>
            </a:r>
          </a:p>
        </p:txBody>
      </p:sp>
      <p:sp>
        <p:nvSpPr>
          <p:cNvPr id="31" name="Rounded Rectangle 30"/>
          <p:cNvSpPr/>
          <p:nvPr/>
        </p:nvSpPr>
        <p:spPr>
          <a:xfrm>
            <a:off x="685800" y="4754879"/>
            <a:ext cx="10835640" cy="585216"/>
          </a:xfrm>
          <a:prstGeom prst="round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754879"/>
            <a:ext cx="64008" cy="585216"/>
          </a:xfrm>
          <a:prstGeom prst="rect">
            <a:avLst/>
          </a:prstGeom>
          <a:solidFill>
            <a:srgbClr val="6B5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882895"/>
            <a:ext cx="1828800" cy="256032"/>
          </a:xfrm>
          <a:prstGeom prst="rect">
            <a:avLst/>
          </a:prstGeom>
          <a:noFill/>
        </p:spPr>
        <p:txBody>
          <a:bodyPr wrap="square" lIns="0" rIns="0" tIns="0" bIns="0" anchor="t">
            <a:spAutoFit/>
          </a:bodyPr>
          <a:lstStyle/>
          <a:p>
            <a:pPr algn="l">
              <a:defRPr sz="1300" b="1">
                <a:solidFill>
                  <a:srgbClr val="6B57B4"/>
                </a:solidFill>
                <a:latin typeface="Aptos"/>
              </a:defRPr>
            </a:pPr>
            <a:r>
              <a:t>Combined</a:t>
            </a:r>
          </a:p>
        </p:txBody>
      </p:sp>
      <p:sp>
        <p:nvSpPr>
          <p:cNvPr id="34" name="TextBox 33"/>
          <p:cNvSpPr txBox="1"/>
          <p:nvPr/>
        </p:nvSpPr>
        <p:spPr>
          <a:xfrm>
            <a:off x="3218688" y="4882895"/>
            <a:ext cx="2743200" cy="256032"/>
          </a:xfrm>
          <a:prstGeom prst="rect">
            <a:avLst/>
          </a:prstGeom>
          <a:noFill/>
        </p:spPr>
        <p:txBody>
          <a:bodyPr wrap="square" lIns="0" rIns="0" tIns="0" bIns="0" anchor="t">
            <a:spAutoFit/>
          </a:bodyPr>
          <a:lstStyle/>
          <a:p>
            <a:pPr algn="l">
              <a:defRPr sz="1300" b="1">
                <a:solidFill>
                  <a:srgbClr val="1C2732"/>
                </a:solidFill>
                <a:latin typeface="Aptos"/>
              </a:defRPr>
            </a:pPr>
            <a:r>
              <a:t>balanced preset</a:t>
            </a:r>
          </a:p>
        </p:txBody>
      </p:sp>
      <p:sp>
        <p:nvSpPr>
          <p:cNvPr id="35" name="TextBox 34"/>
          <p:cNvSpPr txBox="1"/>
          <p:nvPr/>
        </p:nvSpPr>
        <p:spPr>
          <a:xfrm>
            <a:off x="6565392" y="4882895"/>
            <a:ext cx="4206240" cy="256032"/>
          </a:xfrm>
          <a:prstGeom prst="rect">
            <a:avLst/>
          </a:prstGeom>
          <a:noFill/>
        </p:spPr>
        <p:txBody>
          <a:bodyPr wrap="square" lIns="0" rIns="0" tIns="0" bIns="0" anchor="t">
            <a:spAutoFit/>
          </a:bodyPr>
          <a:lstStyle/>
          <a:p>
            <a:pPr algn="l">
              <a:defRPr sz="1300" b="0">
                <a:solidFill>
                  <a:srgbClr val="5B6B78"/>
                </a:solidFill>
                <a:latin typeface="Aptos"/>
              </a:defRPr>
            </a:pPr>
            <a:r>
              <a:t>smoothness + correction</a:t>
            </a:r>
          </a:p>
        </p:txBody>
      </p:sp>
      <p:sp>
        <p:nvSpPr>
          <p:cNvPr id="36" name="Rounded Rectangle 35"/>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Adaptation remains explainable: each prediction maps to a documented engineering choice.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PPO Agent: A Continuous-Learning Alternative</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REINFORCEMENT LEARNING</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10</a:t>
            </a:r>
          </a:p>
        </p:txBody>
      </p:sp>
      <p:sp>
        <p:nvSpPr>
          <p:cNvPr id="8" name="Rounded Rectangle 7"/>
          <p:cNvSpPr/>
          <p:nvPr/>
        </p:nvSpPr>
        <p:spPr>
          <a:xfrm>
            <a:off x="731520" y="1600200"/>
            <a:ext cx="2057400" cy="960120"/>
          </a:xfrm>
          <a:prstGeom prst="roundRect">
            <a:avLst/>
          </a:prstGeom>
          <a:solidFill>
            <a:srgbClr val="FFFFFF"/>
          </a:solidFill>
          <a:ln w="12700">
            <a:solidFill>
              <a:srgbClr val="0B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55648"/>
            <a:ext cx="1874520" cy="274320"/>
          </a:xfrm>
          <a:prstGeom prst="rect">
            <a:avLst/>
          </a:prstGeom>
          <a:noFill/>
        </p:spPr>
        <p:txBody>
          <a:bodyPr wrap="square" lIns="0" rIns="0" tIns="0" bIns="0" anchor="t">
            <a:spAutoFit/>
          </a:bodyPr>
          <a:lstStyle/>
          <a:p>
            <a:pPr algn="ctr">
              <a:defRPr sz="1500" b="1">
                <a:solidFill>
                  <a:srgbClr val="0B3D5C"/>
                </a:solidFill>
                <a:latin typeface="Aptos"/>
              </a:defRPr>
            </a:pPr>
            <a:r>
              <a:t>Observation</a:t>
            </a:r>
          </a:p>
        </p:txBody>
      </p:sp>
      <p:sp>
        <p:nvSpPr>
          <p:cNvPr id="10" name="TextBox 9"/>
          <p:cNvSpPr txBox="1"/>
          <p:nvPr/>
        </p:nvSpPr>
        <p:spPr>
          <a:xfrm>
            <a:off x="822960" y="2112264"/>
            <a:ext cx="1874520" cy="228600"/>
          </a:xfrm>
          <a:prstGeom prst="rect">
            <a:avLst/>
          </a:prstGeom>
          <a:noFill/>
        </p:spPr>
        <p:txBody>
          <a:bodyPr wrap="square" lIns="0" rIns="0" tIns="0" bIns="0" anchor="t">
            <a:spAutoFit/>
          </a:bodyPr>
          <a:lstStyle/>
          <a:p>
            <a:pPr algn="ctr">
              <a:defRPr sz="900" b="0">
                <a:solidFill>
                  <a:srgbClr val="5B6B78"/>
                </a:solidFill>
                <a:latin typeface="Aptos"/>
              </a:defRPr>
            </a:pPr>
            <a:r>
              <a:t>error, rate,</a:t>
            </a:r>
            <a:br/>
            <a:r>
              <a:t>jitter, flags</a:t>
            </a:r>
          </a:p>
        </p:txBody>
      </p:sp>
      <p:cxnSp>
        <p:nvCxnSpPr>
          <p:cNvPr id="11" name="Connector 10"/>
          <p:cNvCxnSpPr/>
          <p:nvPr/>
        </p:nvCxnSpPr>
        <p:spPr>
          <a:xfrm>
            <a:off x="2788920" y="2084831"/>
            <a:ext cx="612648" cy="0"/>
          </a:xfrm>
          <a:prstGeom prst="line">
            <a:avLst/>
          </a:prstGeom>
          <a:ln w="27940">
            <a:solidFill>
              <a:srgbClr val="6B57B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20439" y="1600200"/>
            <a:ext cx="2057400" cy="960120"/>
          </a:xfrm>
          <a:prstGeom prst="roundRect">
            <a:avLst/>
          </a:prstGeom>
          <a:solidFill>
            <a:srgbClr val="FFFFFF"/>
          </a:solidFill>
          <a:ln w="12700">
            <a:solidFill>
              <a:srgbClr val="6B5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79" y="1755648"/>
            <a:ext cx="1874520" cy="274320"/>
          </a:xfrm>
          <a:prstGeom prst="rect">
            <a:avLst/>
          </a:prstGeom>
          <a:noFill/>
        </p:spPr>
        <p:txBody>
          <a:bodyPr wrap="square" lIns="0" rIns="0" tIns="0" bIns="0" anchor="t">
            <a:spAutoFit/>
          </a:bodyPr>
          <a:lstStyle/>
          <a:p>
            <a:pPr algn="ctr">
              <a:defRPr sz="1500" b="1">
                <a:solidFill>
                  <a:srgbClr val="6B57B4"/>
                </a:solidFill>
                <a:latin typeface="Aptos"/>
              </a:defRPr>
            </a:pPr>
            <a:r>
              <a:t>Actor–critic</a:t>
            </a:r>
          </a:p>
        </p:txBody>
      </p:sp>
      <p:sp>
        <p:nvSpPr>
          <p:cNvPr id="14" name="TextBox 13"/>
          <p:cNvSpPr txBox="1"/>
          <p:nvPr/>
        </p:nvSpPr>
        <p:spPr>
          <a:xfrm>
            <a:off x="3611879" y="2112264"/>
            <a:ext cx="1874520" cy="228600"/>
          </a:xfrm>
          <a:prstGeom prst="rect">
            <a:avLst/>
          </a:prstGeom>
          <a:noFill/>
        </p:spPr>
        <p:txBody>
          <a:bodyPr wrap="square" lIns="0" rIns="0" tIns="0" bIns="0" anchor="t">
            <a:spAutoFit/>
          </a:bodyPr>
          <a:lstStyle/>
          <a:p>
            <a:pPr algn="ctr">
              <a:defRPr sz="900" b="0">
                <a:solidFill>
                  <a:srgbClr val="5B6B78"/>
                </a:solidFill>
                <a:latin typeface="Aptos"/>
              </a:defRPr>
            </a:pPr>
            <a:r>
              <a:t>PPO + GAE</a:t>
            </a:r>
          </a:p>
        </p:txBody>
      </p:sp>
      <p:cxnSp>
        <p:nvCxnSpPr>
          <p:cNvPr id="15" name="Connector 14"/>
          <p:cNvCxnSpPr/>
          <p:nvPr/>
        </p:nvCxnSpPr>
        <p:spPr>
          <a:xfrm>
            <a:off x="5577839" y="2084831"/>
            <a:ext cx="612648" cy="0"/>
          </a:xfrm>
          <a:prstGeom prst="line">
            <a:avLst/>
          </a:prstGeom>
          <a:ln w="27940">
            <a:solidFill>
              <a:srgbClr val="6B57B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59" y="1600200"/>
            <a:ext cx="2057400" cy="960120"/>
          </a:xfrm>
          <a:prstGeom prst="roundRect">
            <a:avLst/>
          </a:prstGeom>
          <a:solidFill>
            <a:srgbClr val="FFFFFF"/>
          </a:solidFill>
          <a:ln w="12700">
            <a:solidFill>
              <a:srgbClr val="D89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799" y="1755648"/>
            <a:ext cx="1874520" cy="274320"/>
          </a:xfrm>
          <a:prstGeom prst="rect">
            <a:avLst/>
          </a:prstGeom>
          <a:noFill/>
        </p:spPr>
        <p:txBody>
          <a:bodyPr wrap="square" lIns="0" rIns="0" tIns="0" bIns="0" anchor="t">
            <a:spAutoFit/>
          </a:bodyPr>
          <a:lstStyle/>
          <a:p>
            <a:pPr algn="ctr">
              <a:defRPr sz="1500" b="1">
                <a:solidFill>
                  <a:srgbClr val="D89D36"/>
                </a:solidFill>
                <a:latin typeface="Aptos"/>
              </a:defRPr>
            </a:pPr>
            <a:r>
              <a:t>Action</a:t>
            </a:r>
          </a:p>
        </p:txBody>
      </p:sp>
      <p:sp>
        <p:nvSpPr>
          <p:cNvPr id="18" name="TextBox 17"/>
          <p:cNvSpPr txBox="1"/>
          <p:nvPr/>
        </p:nvSpPr>
        <p:spPr>
          <a:xfrm>
            <a:off x="6400799" y="2112264"/>
            <a:ext cx="1874520" cy="228600"/>
          </a:xfrm>
          <a:prstGeom prst="rect">
            <a:avLst/>
          </a:prstGeom>
          <a:noFill/>
        </p:spPr>
        <p:txBody>
          <a:bodyPr wrap="square" lIns="0" rIns="0" tIns="0" bIns="0" anchor="t">
            <a:spAutoFit/>
          </a:bodyPr>
          <a:lstStyle/>
          <a:p>
            <a:pPr algn="ctr">
              <a:defRPr sz="900" b="0">
                <a:solidFill>
                  <a:srgbClr val="5B6B78"/>
                </a:solidFill>
                <a:latin typeface="Aptos"/>
              </a:defRPr>
            </a:pPr>
            <a:r>
              <a:t>select SMC</a:t>
            </a:r>
            <a:br/>
            <a:r>
              <a:t>preset</a:t>
            </a:r>
          </a:p>
        </p:txBody>
      </p:sp>
      <p:cxnSp>
        <p:nvCxnSpPr>
          <p:cNvPr id="19" name="Connector 18"/>
          <p:cNvCxnSpPr/>
          <p:nvPr/>
        </p:nvCxnSpPr>
        <p:spPr>
          <a:xfrm>
            <a:off x="8366759" y="2084831"/>
            <a:ext cx="612648" cy="0"/>
          </a:xfrm>
          <a:prstGeom prst="line">
            <a:avLst/>
          </a:prstGeom>
          <a:ln w="27940">
            <a:solidFill>
              <a:srgbClr val="6B57B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98280" y="1600200"/>
            <a:ext cx="2057400" cy="960120"/>
          </a:xfrm>
          <a:prstGeom prst="roundRect">
            <a:avLst/>
          </a:prstGeom>
          <a:solidFill>
            <a:srgbClr val="FFFFFF"/>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20" y="1755648"/>
            <a:ext cx="1874520" cy="274320"/>
          </a:xfrm>
          <a:prstGeom prst="rect">
            <a:avLst/>
          </a:prstGeom>
          <a:noFill/>
        </p:spPr>
        <p:txBody>
          <a:bodyPr wrap="square" lIns="0" rIns="0" tIns="0" bIns="0" anchor="t">
            <a:spAutoFit/>
          </a:bodyPr>
          <a:lstStyle/>
          <a:p>
            <a:pPr algn="ctr">
              <a:defRPr sz="1500" b="1">
                <a:solidFill>
                  <a:srgbClr val="00A98F"/>
                </a:solidFill>
                <a:latin typeface="Aptos"/>
              </a:defRPr>
            </a:pPr>
            <a:r>
              <a:t>Reward</a:t>
            </a:r>
          </a:p>
        </p:txBody>
      </p:sp>
      <p:sp>
        <p:nvSpPr>
          <p:cNvPr id="22" name="TextBox 21"/>
          <p:cNvSpPr txBox="1"/>
          <p:nvPr/>
        </p:nvSpPr>
        <p:spPr>
          <a:xfrm>
            <a:off x="9189720" y="2112264"/>
            <a:ext cx="1874520" cy="228600"/>
          </a:xfrm>
          <a:prstGeom prst="rect">
            <a:avLst/>
          </a:prstGeom>
          <a:noFill/>
        </p:spPr>
        <p:txBody>
          <a:bodyPr wrap="square" lIns="0" rIns="0" tIns="0" bIns="0" anchor="t">
            <a:spAutoFit/>
          </a:bodyPr>
          <a:lstStyle/>
          <a:p>
            <a:pPr algn="ctr">
              <a:defRPr sz="900" b="0">
                <a:solidFill>
                  <a:srgbClr val="5B6B78"/>
                </a:solidFill>
                <a:latin typeface="Aptos"/>
              </a:defRPr>
            </a:pPr>
            <a:r>
              <a:t>−error − jitter</a:t>
            </a:r>
            <a:br/>
            <a:r>
              <a:t>− effort</a:t>
            </a:r>
          </a:p>
        </p:txBody>
      </p:sp>
      <p:sp>
        <p:nvSpPr>
          <p:cNvPr id="23" name="Rounded Rectangle 22"/>
          <p:cNvSpPr/>
          <p:nvPr/>
        </p:nvSpPr>
        <p:spPr>
          <a:xfrm>
            <a:off x="731520" y="3246120"/>
            <a:ext cx="10515600" cy="192024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0120" y="3520440"/>
            <a:ext cx="23774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120" y="3520440"/>
            <a:ext cx="82296" cy="1353312"/>
          </a:xfrm>
          <a:prstGeom prst="rect">
            <a:avLst/>
          </a:prstGeom>
          <a:solidFill>
            <a:srgbClr val="6B5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3657600"/>
            <a:ext cx="2011680" cy="457200"/>
          </a:xfrm>
          <a:prstGeom prst="rect">
            <a:avLst/>
          </a:prstGeom>
          <a:noFill/>
        </p:spPr>
        <p:txBody>
          <a:bodyPr wrap="square" lIns="0" rIns="0" tIns="0" bIns="0" anchor="t">
            <a:spAutoFit/>
          </a:bodyPr>
          <a:lstStyle/>
          <a:p>
            <a:pPr algn="l">
              <a:defRPr sz="2800" b="1">
                <a:solidFill>
                  <a:srgbClr val="6B57B4"/>
                </a:solidFill>
                <a:latin typeface="Georgia"/>
              </a:defRPr>
            </a:pPr>
            <a:r>
              <a:t>80k</a:t>
            </a:r>
          </a:p>
        </p:txBody>
      </p:sp>
      <p:sp>
        <p:nvSpPr>
          <p:cNvPr id="27" name="TextBox 26"/>
          <p:cNvSpPr txBox="1"/>
          <p:nvPr/>
        </p:nvSpPr>
        <p:spPr>
          <a:xfrm>
            <a:off x="1188720" y="4151376"/>
            <a:ext cx="2011680" cy="256032"/>
          </a:xfrm>
          <a:prstGeom prst="rect">
            <a:avLst/>
          </a:prstGeom>
          <a:noFill/>
        </p:spPr>
        <p:txBody>
          <a:bodyPr wrap="square" lIns="0" rIns="0" tIns="0" bIns="0" anchor="t">
            <a:spAutoFit/>
          </a:bodyPr>
          <a:lstStyle/>
          <a:p>
            <a:pPr algn="l">
              <a:defRPr sz="1300" b="1">
                <a:solidFill>
                  <a:srgbClr val="1C2732"/>
                </a:solidFill>
                <a:latin typeface="Aptos"/>
              </a:defRPr>
            </a:pPr>
            <a:r>
              <a:t>Training steps</a:t>
            </a:r>
          </a:p>
        </p:txBody>
      </p:sp>
      <p:sp>
        <p:nvSpPr>
          <p:cNvPr id="28" name="TextBox 27"/>
          <p:cNvSpPr txBox="1"/>
          <p:nvPr/>
        </p:nvSpPr>
        <p:spPr>
          <a:xfrm>
            <a:off x="1188720" y="4462272"/>
            <a:ext cx="2011680" cy="274320"/>
          </a:xfrm>
          <a:prstGeom prst="rect">
            <a:avLst/>
          </a:prstGeom>
          <a:noFill/>
        </p:spPr>
        <p:txBody>
          <a:bodyPr wrap="square" lIns="0" rIns="0" tIns="0" bIns="0" anchor="t">
            <a:spAutoFit/>
          </a:bodyPr>
          <a:lstStyle/>
          <a:p>
            <a:pPr algn="l">
              <a:defRPr sz="1000" b="0">
                <a:solidFill>
                  <a:srgbClr val="5B6B78"/>
                </a:solidFill>
                <a:latin typeface="Aptos"/>
              </a:defRPr>
            </a:pPr>
            <a:r>
              <a:t>40 randomised episodes</a:t>
            </a:r>
          </a:p>
        </p:txBody>
      </p:sp>
      <p:sp>
        <p:nvSpPr>
          <p:cNvPr id="29" name="Rounded Rectangle 28"/>
          <p:cNvSpPr/>
          <p:nvPr/>
        </p:nvSpPr>
        <p:spPr>
          <a:xfrm>
            <a:off x="3611880" y="3520440"/>
            <a:ext cx="23774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11880" y="3520440"/>
            <a:ext cx="82296" cy="1353312"/>
          </a:xfrm>
          <a:prstGeom prst="rect">
            <a:avLst/>
          </a:prstGeom>
          <a:solidFill>
            <a:srgbClr val="D89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0" y="3657600"/>
            <a:ext cx="2011680" cy="457200"/>
          </a:xfrm>
          <a:prstGeom prst="rect">
            <a:avLst/>
          </a:prstGeom>
          <a:noFill/>
        </p:spPr>
        <p:txBody>
          <a:bodyPr wrap="square" lIns="0" rIns="0" tIns="0" bIns="0" anchor="t">
            <a:spAutoFit/>
          </a:bodyPr>
          <a:lstStyle/>
          <a:p>
            <a:pPr algn="l">
              <a:defRPr sz="2800" b="1">
                <a:solidFill>
                  <a:srgbClr val="D89D36"/>
                </a:solidFill>
                <a:latin typeface="Georgia"/>
              </a:defRPr>
            </a:pPr>
            <a:r>
              <a:t>0.2 s</a:t>
            </a:r>
          </a:p>
        </p:txBody>
      </p:sp>
      <p:sp>
        <p:nvSpPr>
          <p:cNvPr id="32" name="TextBox 31"/>
          <p:cNvSpPr txBox="1"/>
          <p:nvPr/>
        </p:nvSpPr>
        <p:spPr>
          <a:xfrm>
            <a:off x="3840480" y="4151376"/>
            <a:ext cx="2011680" cy="256032"/>
          </a:xfrm>
          <a:prstGeom prst="rect">
            <a:avLst/>
          </a:prstGeom>
          <a:noFill/>
        </p:spPr>
        <p:txBody>
          <a:bodyPr wrap="square" lIns="0" rIns="0" tIns="0" bIns="0" anchor="t">
            <a:spAutoFit/>
          </a:bodyPr>
          <a:lstStyle/>
          <a:p>
            <a:pPr algn="l">
              <a:defRPr sz="1300" b="1">
                <a:solidFill>
                  <a:srgbClr val="1C2732"/>
                </a:solidFill>
                <a:latin typeface="Aptos"/>
              </a:defRPr>
            </a:pPr>
            <a:r>
              <a:t>Update interval</a:t>
            </a:r>
          </a:p>
        </p:txBody>
      </p:sp>
      <p:sp>
        <p:nvSpPr>
          <p:cNvPr id="33" name="TextBox 32"/>
          <p:cNvSpPr txBox="1"/>
          <p:nvPr/>
        </p:nvSpPr>
        <p:spPr>
          <a:xfrm>
            <a:off x="3840480" y="4462272"/>
            <a:ext cx="2011680" cy="274320"/>
          </a:xfrm>
          <a:prstGeom prst="rect">
            <a:avLst/>
          </a:prstGeom>
          <a:noFill/>
        </p:spPr>
        <p:txBody>
          <a:bodyPr wrap="square" lIns="0" rIns="0" tIns="0" bIns="0" anchor="t">
            <a:spAutoFit/>
          </a:bodyPr>
          <a:lstStyle/>
          <a:p>
            <a:pPr algn="l">
              <a:defRPr sz="1000" b="0">
                <a:solidFill>
                  <a:srgbClr val="5B6B78"/>
                </a:solidFill>
                <a:latin typeface="Aptos"/>
              </a:defRPr>
            </a:pPr>
            <a:r>
              <a:t>policy selects preset</a:t>
            </a:r>
          </a:p>
        </p:txBody>
      </p:sp>
      <p:sp>
        <p:nvSpPr>
          <p:cNvPr id="34" name="Rounded Rectangle 33"/>
          <p:cNvSpPr/>
          <p:nvPr/>
        </p:nvSpPr>
        <p:spPr>
          <a:xfrm>
            <a:off x="6263640" y="3520440"/>
            <a:ext cx="23774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3520440"/>
            <a:ext cx="82296" cy="1353312"/>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3657600"/>
            <a:ext cx="2011680" cy="457200"/>
          </a:xfrm>
          <a:prstGeom prst="rect">
            <a:avLst/>
          </a:prstGeom>
          <a:noFill/>
        </p:spPr>
        <p:txBody>
          <a:bodyPr wrap="square" lIns="0" rIns="0" tIns="0" bIns="0" anchor="t">
            <a:spAutoFit/>
          </a:bodyPr>
          <a:lstStyle/>
          <a:p>
            <a:pPr algn="l">
              <a:defRPr sz="2800" b="1">
                <a:solidFill>
                  <a:srgbClr val="00A98F"/>
                </a:solidFill>
                <a:latin typeface="Georgia"/>
              </a:defRPr>
            </a:pPr>
            <a:r>
              <a:t>48.9</a:t>
            </a:r>
          </a:p>
        </p:txBody>
      </p:sp>
      <p:sp>
        <p:nvSpPr>
          <p:cNvPr id="37" name="TextBox 36"/>
          <p:cNvSpPr txBox="1"/>
          <p:nvPr/>
        </p:nvSpPr>
        <p:spPr>
          <a:xfrm>
            <a:off x="6492240" y="4151376"/>
            <a:ext cx="2011680" cy="256032"/>
          </a:xfrm>
          <a:prstGeom prst="rect">
            <a:avLst/>
          </a:prstGeom>
          <a:noFill/>
        </p:spPr>
        <p:txBody>
          <a:bodyPr wrap="square" lIns="0" rIns="0" tIns="0" bIns="0" anchor="t">
            <a:spAutoFit/>
          </a:bodyPr>
          <a:lstStyle/>
          <a:p>
            <a:pPr algn="l">
              <a:defRPr sz="1300" b="1">
                <a:solidFill>
                  <a:srgbClr val="1C2732"/>
                </a:solidFill>
                <a:latin typeface="Aptos"/>
              </a:defRPr>
            </a:pPr>
            <a:r>
              <a:t>Combined chatter</a:t>
            </a:r>
          </a:p>
        </p:txBody>
      </p:sp>
      <p:sp>
        <p:nvSpPr>
          <p:cNvPr id="38" name="TextBox 37"/>
          <p:cNvSpPr txBox="1"/>
          <p:nvPr/>
        </p:nvSpPr>
        <p:spPr>
          <a:xfrm>
            <a:off x="6492240" y="4462272"/>
            <a:ext cx="2011680" cy="274320"/>
          </a:xfrm>
          <a:prstGeom prst="rect">
            <a:avLst/>
          </a:prstGeom>
          <a:noFill/>
        </p:spPr>
        <p:txBody>
          <a:bodyPr wrap="square" lIns="0" rIns="0" tIns="0" bIns="0" anchor="t">
            <a:spAutoFit/>
          </a:bodyPr>
          <a:lstStyle/>
          <a:p>
            <a:pPr algn="l">
              <a:defRPr sz="1000" b="0">
                <a:solidFill>
                  <a:srgbClr val="5B6B78"/>
                </a:solidFill>
                <a:latin typeface="Aptos"/>
              </a:defRPr>
            </a:pPr>
            <a:r>
              <a:t>best in Table V</a:t>
            </a:r>
          </a:p>
        </p:txBody>
      </p:sp>
      <p:sp>
        <p:nvSpPr>
          <p:cNvPr id="39" name="TextBox 38"/>
          <p:cNvSpPr txBox="1"/>
          <p:nvPr/>
        </p:nvSpPr>
        <p:spPr>
          <a:xfrm>
            <a:off x="8869680" y="3730752"/>
            <a:ext cx="2103120" cy="822960"/>
          </a:xfrm>
          <a:prstGeom prst="rect">
            <a:avLst/>
          </a:prstGeom>
          <a:noFill/>
        </p:spPr>
        <p:txBody>
          <a:bodyPr wrap="square" lIns="0" rIns="0" tIns="0" bIns="0" anchor="t">
            <a:spAutoFit/>
          </a:bodyPr>
          <a:lstStyle/>
          <a:p>
            <a:pPr algn="ctr">
              <a:defRPr sz="1300" b="1">
                <a:solidFill>
                  <a:srgbClr val="C44747"/>
                </a:solidFill>
                <a:latin typeface="Aptos"/>
              </a:defRPr>
            </a:pPr>
            <a:r>
              <a:t>Promising, but weaker under disturbance and slip → more training needed</a:t>
            </a:r>
          </a:p>
        </p:txBody>
      </p:sp>
      <p:sp>
        <p:nvSpPr>
          <p:cNvPr id="40" name="Rounded Rectangle 39"/>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PPO is competitive under combined uncertainty but does not yet replace CNN supervision.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Evaluation Protocol</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EXPERIMENTAL SETUP</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11</a:t>
            </a:r>
          </a:p>
        </p:txBody>
      </p:sp>
      <p:sp>
        <p:nvSpPr>
          <p:cNvPr id="8" name="TextBox 7"/>
          <p:cNvSpPr txBox="1"/>
          <p:nvPr/>
        </p:nvSpPr>
        <p:spPr>
          <a:xfrm>
            <a:off x="777240" y="1463040"/>
            <a:ext cx="1280160" cy="292608"/>
          </a:xfrm>
          <a:prstGeom prst="rect">
            <a:avLst/>
          </a:prstGeom>
          <a:noFill/>
        </p:spPr>
        <p:txBody>
          <a:bodyPr wrap="square" lIns="0" rIns="0" tIns="0" bIns="0" anchor="t">
            <a:spAutoFit/>
          </a:bodyPr>
          <a:lstStyle/>
          <a:p>
            <a:pPr algn="l">
              <a:defRPr sz="1000" b="1">
                <a:solidFill>
                  <a:srgbClr val="00A98F"/>
                </a:solidFill>
                <a:latin typeface="Aptos"/>
              </a:defRPr>
            </a:pPr>
            <a:r>
              <a:t>DURATION</a:t>
            </a:r>
          </a:p>
        </p:txBody>
      </p:sp>
      <p:sp>
        <p:nvSpPr>
          <p:cNvPr id="9" name="TextBox 8"/>
          <p:cNvSpPr txBox="1"/>
          <p:nvPr/>
        </p:nvSpPr>
        <p:spPr>
          <a:xfrm>
            <a:off x="2011680" y="1435608"/>
            <a:ext cx="3291840" cy="365760"/>
          </a:xfrm>
          <a:prstGeom prst="rect">
            <a:avLst/>
          </a:prstGeom>
          <a:noFill/>
        </p:spPr>
        <p:txBody>
          <a:bodyPr wrap="square" lIns="0" rIns="0" tIns="0" bIns="0" anchor="t">
            <a:spAutoFit/>
          </a:bodyPr>
          <a:lstStyle/>
          <a:p>
            <a:pPr algn="l">
              <a:defRPr sz="1600" b="1">
                <a:solidFill>
                  <a:srgbClr val="1C2732"/>
                </a:solidFill>
                <a:latin typeface="Aptos"/>
              </a:defRPr>
            </a:pPr>
            <a:r>
              <a:t>20 s · 2,000 steps</a:t>
            </a:r>
          </a:p>
        </p:txBody>
      </p:sp>
      <p:sp>
        <p:nvSpPr>
          <p:cNvPr id="10" name="Rectangle 9"/>
          <p:cNvSpPr/>
          <p:nvPr/>
        </p:nvSpPr>
        <p:spPr>
          <a:xfrm>
            <a:off x="777240" y="1965960"/>
            <a:ext cx="4526280" cy="13716"/>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95728"/>
            <a:ext cx="1280160" cy="292608"/>
          </a:xfrm>
          <a:prstGeom prst="rect">
            <a:avLst/>
          </a:prstGeom>
          <a:noFill/>
        </p:spPr>
        <p:txBody>
          <a:bodyPr wrap="square" lIns="0" rIns="0" tIns="0" bIns="0" anchor="t">
            <a:spAutoFit/>
          </a:bodyPr>
          <a:lstStyle/>
          <a:p>
            <a:pPr algn="l">
              <a:defRPr sz="1000" b="1">
                <a:solidFill>
                  <a:srgbClr val="00A98F"/>
                </a:solidFill>
                <a:latin typeface="Aptos"/>
              </a:defRPr>
            </a:pPr>
            <a:r>
              <a:t>REFERENCE</a:t>
            </a:r>
          </a:p>
        </p:txBody>
      </p:sp>
      <p:sp>
        <p:nvSpPr>
          <p:cNvPr id="12" name="TextBox 11"/>
          <p:cNvSpPr txBox="1"/>
          <p:nvPr/>
        </p:nvSpPr>
        <p:spPr>
          <a:xfrm>
            <a:off x="2011680" y="2368296"/>
            <a:ext cx="3291840" cy="365760"/>
          </a:xfrm>
          <a:prstGeom prst="rect">
            <a:avLst/>
          </a:prstGeom>
          <a:noFill/>
        </p:spPr>
        <p:txBody>
          <a:bodyPr wrap="square" lIns="0" rIns="0" tIns="0" bIns="0" anchor="t">
            <a:spAutoFit/>
          </a:bodyPr>
          <a:lstStyle/>
          <a:p>
            <a:pPr algn="l">
              <a:defRPr sz="1600" b="1">
                <a:solidFill>
                  <a:srgbClr val="1C2732"/>
                </a:solidFill>
                <a:latin typeface="Aptos"/>
              </a:defRPr>
            </a:pPr>
            <a:r>
              <a:t>straight path · 0.3 m/s</a:t>
            </a:r>
          </a:p>
        </p:txBody>
      </p:sp>
      <p:sp>
        <p:nvSpPr>
          <p:cNvPr id="13" name="Rectangle 12"/>
          <p:cNvSpPr/>
          <p:nvPr/>
        </p:nvSpPr>
        <p:spPr>
          <a:xfrm>
            <a:off x="777240" y="2898648"/>
            <a:ext cx="4526280" cy="13716"/>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328416"/>
            <a:ext cx="1280160" cy="292608"/>
          </a:xfrm>
          <a:prstGeom prst="rect">
            <a:avLst/>
          </a:prstGeom>
          <a:noFill/>
        </p:spPr>
        <p:txBody>
          <a:bodyPr wrap="square" lIns="0" rIns="0" tIns="0" bIns="0" anchor="t">
            <a:spAutoFit/>
          </a:bodyPr>
          <a:lstStyle/>
          <a:p>
            <a:pPr algn="l">
              <a:defRPr sz="1000" b="1">
                <a:solidFill>
                  <a:srgbClr val="00A98F"/>
                </a:solidFill>
                <a:latin typeface="Aptos"/>
              </a:defRPr>
            </a:pPr>
            <a:r>
              <a:t>RANDOMNESS</a:t>
            </a:r>
          </a:p>
        </p:txBody>
      </p:sp>
      <p:sp>
        <p:nvSpPr>
          <p:cNvPr id="15" name="TextBox 14"/>
          <p:cNvSpPr txBox="1"/>
          <p:nvPr/>
        </p:nvSpPr>
        <p:spPr>
          <a:xfrm>
            <a:off x="2011680" y="3300984"/>
            <a:ext cx="3291840" cy="365760"/>
          </a:xfrm>
          <a:prstGeom prst="rect">
            <a:avLst/>
          </a:prstGeom>
          <a:noFill/>
        </p:spPr>
        <p:txBody>
          <a:bodyPr wrap="square" lIns="0" rIns="0" tIns="0" bIns="0" anchor="t">
            <a:spAutoFit/>
          </a:bodyPr>
          <a:lstStyle/>
          <a:p>
            <a:pPr algn="l">
              <a:defRPr sz="1600" b="1">
                <a:solidFill>
                  <a:srgbClr val="1C2732"/>
                </a:solidFill>
                <a:latin typeface="Aptos"/>
              </a:defRPr>
            </a:pPr>
            <a:r>
              <a:t>fixed seeds for reproducibility</a:t>
            </a:r>
          </a:p>
        </p:txBody>
      </p:sp>
      <p:sp>
        <p:nvSpPr>
          <p:cNvPr id="16" name="Rectangle 15"/>
          <p:cNvSpPr/>
          <p:nvPr/>
        </p:nvSpPr>
        <p:spPr>
          <a:xfrm>
            <a:off x="777240" y="3831336"/>
            <a:ext cx="4526280" cy="13716"/>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61104"/>
            <a:ext cx="1280160" cy="292608"/>
          </a:xfrm>
          <a:prstGeom prst="rect">
            <a:avLst/>
          </a:prstGeom>
          <a:noFill/>
        </p:spPr>
        <p:txBody>
          <a:bodyPr wrap="square" lIns="0" rIns="0" tIns="0" bIns="0" anchor="t">
            <a:spAutoFit/>
          </a:bodyPr>
          <a:lstStyle/>
          <a:p>
            <a:pPr algn="l">
              <a:defRPr sz="1000" b="1">
                <a:solidFill>
                  <a:srgbClr val="00A98F"/>
                </a:solidFill>
                <a:latin typeface="Aptos"/>
              </a:defRPr>
            </a:pPr>
            <a:r>
              <a:t>CONTROLLERS</a:t>
            </a:r>
          </a:p>
        </p:txBody>
      </p:sp>
      <p:sp>
        <p:nvSpPr>
          <p:cNvPr id="18" name="TextBox 17"/>
          <p:cNvSpPr txBox="1"/>
          <p:nvPr/>
        </p:nvSpPr>
        <p:spPr>
          <a:xfrm>
            <a:off x="2011680" y="4233672"/>
            <a:ext cx="3291840" cy="365760"/>
          </a:xfrm>
          <a:prstGeom prst="rect">
            <a:avLst/>
          </a:prstGeom>
          <a:noFill/>
        </p:spPr>
        <p:txBody>
          <a:bodyPr wrap="square" lIns="0" rIns="0" tIns="0" bIns="0" anchor="t">
            <a:spAutoFit/>
          </a:bodyPr>
          <a:lstStyle/>
          <a:p>
            <a:pPr algn="l">
              <a:defRPr sz="1600" b="1">
                <a:solidFill>
                  <a:srgbClr val="1C2732"/>
                </a:solidFill>
                <a:latin typeface="Aptos"/>
              </a:defRPr>
            </a:pPr>
            <a:r>
              <a:t>Classical · Fuzzy · CNN · Oracle · RL</a:t>
            </a:r>
          </a:p>
        </p:txBody>
      </p:sp>
      <p:sp>
        <p:nvSpPr>
          <p:cNvPr id="19" name="Rectangle 18"/>
          <p:cNvSpPr/>
          <p:nvPr/>
        </p:nvSpPr>
        <p:spPr>
          <a:xfrm>
            <a:off x="777240" y="4764024"/>
            <a:ext cx="4526280" cy="13716"/>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806440" y="1417320"/>
            <a:ext cx="5486400" cy="4160520"/>
          </a:xfrm>
          <a:prstGeom prst="roundRect">
            <a:avLst/>
          </a:prstGeom>
          <a:solidFill>
            <a:srgbClr val="06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4768" y="1719072"/>
            <a:ext cx="4846320" cy="365760"/>
          </a:xfrm>
          <a:prstGeom prst="rect">
            <a:avLst/>
          </a:prstGeom>
          <a:noFill/>
        </p:spPr>
        <p:txBody>
          <a:bodyPr wrap="square" lIns="0" rIns="0" tIns="0" bIns="0" anchor="t">
            <a:spAutoFit/>
          </a:bodyPr>
          <a:lstStyle/>
          <a:p>
            <a:pPr algn="l">
              <a:defRPr sz="2000" b="1">
                <a:solidFill>
                  <a:srgbClr val="FFFFFF"/>
                </a:solidFill>
                <a:latin typeface="Georgia"/>
              </a:defRPr>
            </a:pPr>
            <a:r>
              <a:t>Four evaluation metrics</a:t>
            </a:r>
          </a:p>
        </p:txBody>
      </p:sp>
      <p:sp>
        <p:nvSpPr>
          <p:cNvPr id="22" name="TextBox 21"/>
          <p:cNvSpPr txBox="1"/>
          <p:nvPr/>
        </p:nvSpPr>
        <p:spPr>
          <a:xfrm>
            <a:off x="6199632" y="2377440"/>
            <a:ext cx="1325880" cy="274320"/>
          </a:xfrm>
          <a:prstGeom prst="rect">
            <a:avLst/>
          </a:prstGeom>
          <a:noFill/>
        </p:spPr>
        <p:txBody>
          <a:bodyPr wrap="square" lIns="0" rIns="0" tIns="0" bIns="0" anchor="t">
            <a:spAutoFit/>
          </a:bodyPr>
          <a:lstStyle/>
          <a:p>
            <a:pPr algn="l">
              <a:defRPr sz="1400" b="1">
                <a:solidFill>
                  <a:srgbClr val="00A98F"/>
                </a:solidFill>
                <a:latin typeface="Aptos"/>
              </a:defRPr>
            </a:pPr>
            <a:r>
              <a:t>RMSE</a:t>
            </a:r>
          </a:p>
        </p:txBody>
      </p:sp>
      <p:sp>
        <p:nvSpPr>
          <p:cNvPr id="23" name="TextBox 22"/>
          <p:cNvSpPr txBox="1"/>
          <p:nvPr/>
        </p:nvSpPr>
        <p:spPr>
          <a:xfrm>
            <a:off x="7680960" y="2377440"/>
            <a:ext cx="3108960" cy="274320"/>
          </a:xfrm>
          <a:prstGeom prst="rect">
            <a:avLst/>
          </a:prstGeom>
          <a:noFill/>
        </p:spPr>
        <p:txBody>
          <a:bodyPr wrap="square" lIns="0" rIns="0" tIns="0" bIns="0" anchor="t">
            <a:spAutoFit/>
          </a:bodyPr>
          <a:lstStyle/>
          <a:p>
            <a:pPr algn="l">
              <a:defRPr sz="1300" b="0">
                <a:solidFill>
                  <a:srgbClr val="DCE8EE"/>
                </a:solidFill>
                <a:latin typeface="Aptos"/>
              </a:defRPr>
            </a:pPr>
            <a:r>
              <a:t>overall tracking accuracy</a:t>
            </a:r>
          </a:p>
        </p:txBody>
      </p:sp>
      <p:sp>
        <p:nvSpPr>
          <p:cNvPr id="24" name="TextBox 23"/>
          <p:cNvSpPr txBox="1"/>
          <p:nvPr/>
        </p:nvSpPr>
        <p:spPr>
          <a:xfrm>
            <a:off x="6199632" y="3035808"/>
            <a:ext cx="1325880" cy="274320"/>
          </a:xfrm>
          <a:prstGeom prst="rect">
            <a:avLst/>
          </a:prstGeom>
          <a:noFill/>
        </p:spPr>
        <p:txBody>
          <a:bodyPr wrap="square" lIns="0" rIns="0" tIns="0" bIns="0" anchor="t">
            <a:spAutoFit/>
          </a:bodyPr>
          <a:lstStyle/>
          <a:p>
            <a:pPr algn="l">
              <a:defRPr sz="1400" b="1">
                <a:solidFill>
                  <a:srgbClr val="00A98F"/>
                </a:solidFill>
                <a:latin typeface="Aptos"/>
              </a:defRPr>
            </a:pPr>
            <a:r>
              <a:t>Final error</a:t>
            </a:r>
          </a:p>
        </p:txBody>
      </p:sp>
      <p:sp>
        <p:nvSpPr>
          <p:cNvPr id="25" name="TextBox 24"/>
          <p:cNvSpPr txBox="1"/>
          <p:nvPr/>
        </p:nvSpPr>
        <p:spPr>
          <a:xfrm>
            <a:off x="7680960" y="3035808"/>
            <a:ext cx="3108960" cy="274320"/>
          </a:xfrm>
          <a:prstGeom prst="rect">
            <a:avLst/>
          </a:prstGeom>
          <a:noFill/>
        </p:spPr>
        <p:txBody>
          <a:bodyPr wrap="square" lIns="0" rIns="0" tIns="0" bIns="0" anchor="t">
            <a:spAutoFit/>
          </a:bodyPr>
          <a:lstStyle/>
          <a:p>
            <a:pPr algn="l">
              <a:defRPr sz="1300" b="0">
                <a:solidFill>
                  <a:srgbClr val="DCE8EE"/>
                </a:solidFill>
                <a:latin typeface="Aptos"/>
              </a:defRPr>
            </a:pPr>
            <a:r>
              <a:t>post-perturbation recovery</a:t>
            </a:r>
          </a:p>
        </p:txBody>
      </p:sp>
      <p:sp>
        <p:nvSpPr>
          <p:cNvPr id="26" name="TextBox 25"/>
          <p:cNvSpPr txBox="1"/>
          <p:nvPr/>
        </p:nvSpPr>
        <p:spPr>
          <a:xfrm>
            <a:off x="6199632" y="3694176"/>
            <a:ext cx="1325880" cy="274320"/>
          </a:xfrm>
          <a:prstGeom prst="rect">
            <a:avLst/>
          </a:prstGeom>
          <a:noFill/>
        </p:spPr>
        <p:txBody>
          <a:bodyPr wrap="square" lIns="0" rIns="0" tIns="0" bIns="0" anchor="t">
            <a:spAutoFit/>
          </a:bodyPr>
          <a:lstStyle/>
          <a:p>
            <a:pPr algn="l">
              <a:defRPr sz="1400" b="1">
                <a:solidFill>
                  <a:srgbClr val="00A98F"/>
                </a:solidFill>
                <a:latin typeface="Aptos"/>
              </a:defRPr>
            </a:pPr>
            <a:r>
              <a:t>Chattering</a:t>
            </a:r>
          </a:p>
        </p:txBody>
      </p:sp>
      <p:sp>
        <p:nvSpPr>
          <p:cNvPr id="27" name="TextBox 26"/>
          <p:cNvSpPr txBox="1"/>
          <p:nvPr/>
        </p:nvSpPr>
        <p:spPr>
          <a:xfrm>
            <a:off x="7680960" y="3694176"/>
            <a:ext cx="3108960" cy="274320"/>
          </a:xfrm>
          <a:prstGeom prst="rect">
            <a:avLst/>
          </a:prstGeom>
          <a:noFill/>
        </p:spPr>
        <p:txBody>
          <a:bodyPr wrap="square" lIns="0" rIns="0" tIns="0" bIns="0" anchor="t">
            <a:spAutoFit/>
          </a:bodyPr>
          <a:lstStyle/>
          <a:p>
            <a:pPr algn="l">
              <a:defRPr sz="1300" b="0">
                <a:solidFill>
                  <a:srgbClr val="DCE8EE"/>
                </a:solidFill>
                <a:latin typeface="Aptos"/>
              </a:defRPr>
            </a:pPr>
            <a:r>
              <a:t>command smoothness</a:t>
            </a:r>
          </a:p>
        </p:txBody>
      </p:sp>
      <p:sp>
        <p:nvSpPr>
          <p:cNvPr id="28" name="TextBox 27"/>
          <p:cNvSpPr txBox="1"/>
          <p:nvPr/>
        </p:nvSpPr>
        <p:spPr>
          <a:xfrm>
            <a:off x="6199632" y="4352544"/>
            <a:ext cx="1325880" cy="274320"/>
          </a:xfrm>
          <a:prstGeom prst="rect">
            <a:avLst/>
          </a:prstGeom>
          <a:noFill/>
        </p:spPr>
        <p:txBody>
          <a:bodyPr wrap="square" lIns="0" rIns="0" tIns="0" bIns="0" anchor="t">
            <a:spAutoFit/>
          </a:bodyPr>
          <a:lstStyle/>
          <a:p>
            <a:pPr algn="l">
              <a:defRPr sz="1400" b="1">
                <a:solidFill>
                  <a:srgbClr val="00A98F"/>
                </a:solidFill>
                <a:latin typeface="Aptos"/>
              </a:defRPr>
            </a:pPr>
            <a:r>
              <a:t>Control effort</a:t>
            </a:r>
          </a:p>
        </p:txBody>
      </p:sp>
      <p:sp>
        <p:nvSpPr>
          <p:cNvPr id="29" name="TextBox 28"/>
          <p:cNvSpPr txBox="1"/>
          <p:nvPr/>
        </p:nvSpPr>
        <p:spPr>
          <a:xfrm>
            <a:off x="7680960" y="4352544"/>
            <a:ext cx="3108960" cy="274320"/>
          </a:xfrm>
          <a:prstGeom prst="rect">
            <a:avLst/>
          </a:prstGeom>
          <a:noFill/>
        </p:spPr>
        <p:txBody>
          <a:bodyPr wrap="square" lIns="0" rIns="0" tIns="0" bIns="0" anchor="t">
            <a:spAutoFit/>
          </a:bodyPr>
          <a:lstStyle/>
          <a:p>
            <a:pPr algn="l">
              <a:defRPr sz="1300" b="0">
                <a:solidFill>
                  <a:srgbClr val="DCE8EE"/>
                </a:solidFill>
                <a:latin typeface="Aptos"/>
              </a:defRPr>
            </a:pPr>
            <a:r>
              <a:t>actuator demand</a:t>
            </a:r>
          </a:p>
        </p:txBody>
      </p:sp>
      <p:sp>
        <p:nvSpPr>
          <p:cNvPr id="30" name="Rounded Rectangle 29"/>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Lower error is not enough: a useful controller must also be smooth and 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The Four Numbers to Remember</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RESULTS</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12</a:t>
            </a:r>
          </a:p>
        </p:txBody>
      </p:sp>
      <p:sp>
        <p:nvSpPr>
          <p:cNvPr id="8" name="Rounded Rectangle 7"/>
          <p:cNvSpPr/>
          <p:nvPr/>
        </p:nvSpPr>
        <p:spPr>
          <a:xfrm>
            <a:off x="658368" y="1508760"/>
            <a:ext cx="26060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508760"/>
            <a:ext cx="82296" cy="1353312"/>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45920"/>
            <a:ext cx="2240280" cy="457200"/>
          </a:xfrm>
          <a:prstGeom prst="rect">
            <a:avLst/>
          </a:prstGeom>
          <a:noFill/>
        </p:spPr>
        <p:txBody>
          <a:bodyPr wrap="square" lIns="0" rIns="0" tIns="0" bIns="0" anchor="t">
            <a:spAutoFit/>
          </a:bodyPr>
          <a:lstStyle/>
          <a:p>
            <a:pPr algn="l">
              <a:defRPr sz="2800" b="1">
                <a:solidFill>
                  <a:srgbClr val="00A98F"/>
                </a:solidFill>
                <a:latin typeface="Georgia"/>
              </a:defRPr>
            </a:pPr>
            <a:r>
              <a:t>35.7%</a:t>
            </a:r>
          </a:p>
        </p:txBody>
      </p:sp>
      <p:sp>
        <p:nvSpPr>
          <p:cNvPr id="11" name="TextBox 10"/>
          <p:cNvSpPr txBox="1"/>
          <p:nvPr/>
        </p:nvSpPr>
        <p:spPr>
          <a:xfrm>
            <a:off x="886968" y="2139696"/>
            <a:ext cx="2240280" cy="256032"/>
          </a:xfrm>
          <a:prstGeom prst="rect">
            <a:avLst/>
          </a:prstGeom>
          <a:noFill/>
        </p:spPr>
        <p:txBody>
          <a:bodyPr wrap="square" lIns="0" rIns="0" tIns="0" bIns="0" anchor="t">
            <a:spAutoFit/>
          </a:bodyPr>
          <a:lstStyle/>
          <a:p>
            <a:pPr algn="l">
              <a:defRPr sz="1300" b="1">
                <a:solidFill>
                  <a:srgbClr val="1C2732"/>
                </a:solidFill>
                <a:latin typeface="Aptos"/>
              </a:defRPr>
            </a:pPr>
            <a:r>
              <a:t>Less chattering</a:t>
            </a:r>
          </a:p>
        </p:txBody>
      </p:sp>
      <p:sp>
        <p:nvSpPr>
          <p:cNvPr id="12" name="TextBox 11"/>
          <p:cNvSpPr txBox="1"/>
          <p:nvPr/>
        </p:nvSpPr>
        <p:spPr>
          <a:xfrm>
            <a:off x="886968" y="2450592"/>
            <a:ext cx="2240280" cy="274320"/>
          </a:xfrm>
          <a:prstGeom prst="rect">
            <a:avLst/>
          </a:prstGeom>
          <a:noFill/>
        </p:spPr>
        <p:txBody>
          <a:bodyPr wrap="square" lIns="0" rIns="0" tIns="0" bIns="0" anchor="t">
            <a:spAutoFit/>
          </a:bodyPr>
          <a:lstStyle/>
          <a:p>
            <a:pPr algn="l">
              <a:defRPr sz="1000" b="0">
                <a:solidFill>
                  <a:srgbClr val="5B6B78"/>
                </a:solidFill>
                <a:latin typeface="Aptos"/>
              </a:defRPr>
            </a:pPr>
            <a:r>
              <a:t>noise scenario · 76.48 → 49.14</a:t>
            </a:r>
          </a:p>
        </p:txBody>
      </p:sp>
      <p:sp>
        <p:nvSpPr>
          <p:cNvPr id="13" name="Rounded Rectangle 12"/>
          <p:cNvSpPr/>
          <p:nvPr/>
        </p:nvSpPr>
        <p:spPr>
          <a:xfrm>
            <a:off x="3401568" y="1508760"/>
            <a:ext cx="26060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508760"/>
            <a:ext cx="82296" cy="1353312"/>
          </a:xfrm>
          <a:prstGeom prst="rect">
            <a:avLst/>
          </a:prstGeom>
          <a:solidFill>
            <a:srgbClr val="C44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0168" y="1645920"/>
            <a:ext cx="2240280" cy="457200"/>
          </a:xfrm>
          <a:prstGeom prst="rect">
            <a:avLst/>
          </a:prstGeom>
          <a:noFill/>
        </p:spPr>
        <p:txBody>
          <a:bodyPr wrap="square" lIns="0" rIns="0" tIns="0" bIns="0" anchor="t">
            <a:spAutoFit/>
          </a:bodyPr>
          <a:lstStyle/>
          <a:p>
            <a:pPr algn="l">
              <a:defRPr sz="2800" b="1">
                <a:solidFill>
                  <a:srgbClr val="C44747"/>
                </a:solidFill>
                <a:latin typeface="Georgia"/>
              </a:defRPr>
            </a:pPr>
            <a:r>
              <a:t>14.4%</a:t>
            </a:r>
          </a:p>
        </p:txBody>
      </p:sp>
      <p:sp>
        <p:nvSpPr>
          <p:cNvPr id="16" name="TextBox 15"/>
          <p:cNvSpPr txBox="1"/>
          <p:nvPr/>
        </p:nvSpPr>
        <p:spPr>
          <a:xfrm>
            <a:off x="3630168" y="2139696"/>
            <a:ext cx="2240280" cy="256032"/>
          </a:xfrm>
          <a:prstGeom prst="rect">
            <a:avLst/>
          </a:prstGeom>
          <a:noFill/>
        </p:spPr>
        <p:txBody>
          <a:bodyPr wrap="square" lIns="0" rIns="0" tIns="0" bIns="0" anchor="t">
            <a:spAutoFit/>
          </a:bodyPr>
          <a:lstStyle/>
          <a:p>
            <a:pPr algn="l">
              <a:defRPr sz="1300" b="1">
                <a:solidFill>
                  <a:srgbClr val="1C2732"/>
                </a:solidFill>
                <a:latin typeface="Aptos"/>
              </a:defRPr>
            </a:pPr>
            <a:r>
              <a:t>Better final error</a:t>
            </a:r>
          </a:p>
        </p:txBody>
      </p:sp>
      <p:sp>
        <p:nvSpPr>
          <p:cNvPr id="17" name="TextBox 16"/>
          <p:cNvSpPr txBox="1"/>
          <p:nvPr/>
        </p:nvSpPr>
        <p:spPr>
          <a:xfrm>
            <a:off x="3630168" y="2450592"/>
            <a:ext cx="2240280" cy="274320"/>
          </a:xfrm>
          <a:prstGeom prst="rect">
            <a:avLst/>
          </a:prstGeom>
          <a:noFill/>
        </p:spPr>
        <p:txBody>
          <a:bodyPr wrap="square" lIns="0" rIns="0" tIns="0" bIns="0" anchor="t">
            <a:spAutoFit/>
          </a:bodyPr>
          <a:lstStyle/>
          <a:p>
            <a:pPr algn="l">
              <a:defRPr sz="1000" b="0">
                <a:solidFill>
                  <a:srgbClr val="5B6B78"/>
                </a:solidFill>
                <a:latin typeface="Aptos"/>
              </a:defRPr>
            </a:pPr>
            <a:r>
              <a:t>disturbance · 20.9 → 17.9 mm</a:t>
            </a:r>
          </a:p>
        </p:txBody>
      </p:sp>
      <p:sp>
        <p:nvSpPr>
          <p:cNvPr id="18" name="Rounded Rectangle 17"/>
          <p:cNvSpPr/>
          <p:nvPr/>
        </p:nvSpPr>
        <p:spPr>
          <a:xfrm>
            <a:off x="6144768" y="1508760"/>
            <a:ext cx="26060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508760"/>
            <a:ext cx="82296" cy="1353312"/>
          </a:xfrm>
          <a:prstGeom prst="rect">
            <a:avLst/>
          </a:prstGeom>
          <a:solidFill>
            <a:srgbClr val="D89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1645920"/>
            <a:ext cx="2240280" cy="457200"/>
          </a:xfrm>
          <a:prstGeom prst="rect">
            <a:avLst/>
          </a:prstGeom>
          <a:noFill/>
        </p:spPr>
        <p:txBody>
          <a:bodyPr wrap="square" lIns="0" rIns="0" tIns="0" bIns="0" anchor="t">
            <a:spAutoFit/>
          </a:bodyPr>
          <a:lstStyle/>
          <a:p>
            <a:pPr algn="l">
              <a:defRPr sz="2800" b="1">
                <a:solidFill>
                  <a:srgbClr val="D89D36"/>
                </a:solidFill>
                <a:latin typeface="Georgia"/>
              </a:defRPr>
            </a:pPr>
            <a:r>
              <a:t>32.7%</a:t>
            </a:r>
          </a:p>
        </p:txBody>
      </p:sp>
      <p:sp>
        <p:nvSpPr>
          <p:cNvPr id="21" name="TextBox 20"/>
          <p:cNvSpPr txBox="1"/>
          <p:nvPr/>
        </p:nvSpPr>
        <p:spPr>
          <a:xfrm>
            <a:off x="6373368" y="2139696"/>
            <a:ext cx="2240280" cy="256032"/>
          </a:xfrm>
          <a:prstGeom prst="rect">
            <a:avLst/>
          </a:prstGeom>
          <a:noFill/>
        </p:spPr>
        <p:txBody>
          <a:bodyPr wrap="square" lIns="0" rIns="0" tIns="0" bIns="0" anchor="t">
            <a:spAutoFit/>
          </a:bodyPr>
          <a:lstStyle/>
          <a:p>
            <a:pPr algn="l">
              <a:defRPr sz="1300" b="1">
                <a:solidFill>
                  <a:srgbClr val="1C2732"/>
                </a:solidFill>
                <a:latin typeface="Aptos"/>
              </a:defRPr>
            </a:pPr>
            <a:r>
              <a:t>Better final error</a:t>
            </a:r>
          </a:p>
        </p:txBody>
      </p:sp>
      <p:sp>
        <p:nvSpPr>
          <p:cNvPr id="22" name="TextBox 21"/>
          <p:cNvSpPr txBox="1"/>
          <p:nvPr/>
        </p:nvSpPr>
        <p:spPr>
          <a:xfrm>
            <a:off x="6373368" y="2450592"/>
            <a:ext cx="2240280" cy="274320"/>
          </a:xfrm>
          <a:prstGeom prst="rect">
            <a:avLst/>
          </a:prstGeom>
          <a:noFill/>
        </p:spPr>
        <p:txBody>
          <a:bodyPr wrap="square" lIns="0" rIns="0" tIns="0" bIns="0" anchor="t">
            <a:spAutoFit/>
          </a:bodyPr>
          <a:lstStyle/>
          <a:p>
            <a:pPr algn="l">
              <a:defRPr sz="1000" b="0">
                <a:solidFill>
                  <a:srgbClr val="5B6B78"/>
                </a:solidFill>
                <a:latin typeface="Aptos"/>
              </a:defRPr>
            </a:pPr>
            <a:r>
              <a:t>wheel slip · 40.7 → 27.4 mm</a:t>
            </a:r>
          </a:p>
        </p:txBody>
      </p:sp>
      <p:sp>
        <p:nvSpPr>
          <p:cNvPr id="23" name="Rounded Rectangle 22"/>
          <p:cNvSpPr/>
          <p:nvPr/>
        </p:nvSpPr>
        <p:spPr>
          <a:xfrm>
            <a:off x="8887968" y="1508760"/>
            <a:ext cx="2606040" cy="1353312"/>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1508760"/>
            <a:ext cx="82296" cy="1353312"/>
          </a:xfrm>
          <a:prstGeom prst="rect">
            <a:avLst/>
          </a:prstGeom>
          <a:solidFill>
            <a:srgbClr val="0B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6568" y="1645920"/>
            <a:ext cx="2240280" cy="457200"/>
          </a:xfrm>
          <a:prstGeom prst="rect">
            <a:avLst/>
          </a:prstGeom>
          <a:noFill/>
        </p:spPr>
        <p:txBody>
          <a:bodyPr wrap="square" lIns="0" rIns="0" tIns="0" bIns="0" anchor="t">
            <a:spAutoFit/>
          </a:bodyPr>
          <a:lstStyle/>
          <a:p>
            <a:pPr algn="l">
              <a:defRPr sz="2800" b="1">
                <a:solidFill>
                  <a:srgbClr val="0B3D5C"/>
                </a:solidFill>
                <a:latin typeface="Georgia"/>
              </a:defRPr>
            </a:pPr>
            <a:r>
              <a:t>95.1%</a:t>
            </a:r>
          </a:p>
        </p:txBody>
      </p:sp>
      <p:sp>
        <p:nvSpPr>
          <p:cNvPr id="26" name="TextBox 25"/>
          <p:cNvSpPr txBox="1"/>
          <p:nvPr/>
        </p:nvSpPr>
        <p:spPr>
          <a:xfrm>
            <a:off x="9116568" y="2139696"/>
            <a:ext cx="2240280" cy="256032"/>
          </a:xfrm>
          <a:prstGeom prst="rect">
            <a:avLst/>
          </a:prstGeom>
          <a:noFill/>
        </p:spPr>
        <p:txBody>
          <a:bodyPr wrap="square" lIns="0" rIns="0" tIns="0" bIns="0" anchor="t">
            <a:spAutoFit/>
          </a:bodyPr>
          <a:lstStyle/>
          <a:p>
            <a:pPr algn="l">
              <a:defRPr sz="1300" b="1">
                <a:solidFill>
                  <a:srgbClr val="1C2732"/>
                </a:solidFill>
                <a:latin typeface="Aptos"/>
              </a:defRPr>
            </a:pPr>
            <a:r>
              <a:t>CNN accuracy</a:t>
            </a:r>
          </a:p>
        </p:txBody>
      </p:sp>
      <p:sp>
        <p:nvSpPr>
          <p:cNvPr id="27" name="TextBox 26"/>
          <p:cNvSpPr txBox="1"/>
          <p:nvPr/>
        </p:nvSpPr>
        <p:spPr>
          <a:xfrm>
            <a:off x="9116568" y="2450592"/>
            <a:ext cx="2240280" cy="274320"/>
          </a:xfrm>
          <a:prstGeom prst="rect">
            <a:avLst/>
          </a:prstGeom>
          <a:noFill/>
        </p:spPr>
        <p:txBody>
          <a:bodyPr wrap="square" lIns="0" rIns="0" tIns="0" bIns="0" anchor="t">
            <a:spAutoFit/>
          </a:bodyPr>
          <a:lstStyle/>
          <a:p>
            <a:pPr algn="l">
              <a:defRPr sz="1000" b="0">
                <a:solidFill>
                  <a:srgbClr val="5B6B78"/>
                </a:solidFill>
                <a:latin typeface="Aptos"/>
              </a:defRPr>
            </a:pPr>
            <a:r>
              <a:t>realistic cluttered maps</a:t>
            </a:r>
          </a:p>
        </p:txBody>
      </p:sp>
      <p:sp>
        <p:nvSpPr>
          <p:cNvPr id="28" name="Rounded Rectangle 27"/>
          <p:cNvSpPr/>
          <p:nvPr/>
        </p:nvSpPr>
        <p:spPr>
          <a:xfrm>
            <a:off x="658368" y="3337560"/>
            <a:ext cx="10835640" cy="196596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3639312"/>
            <a:ext cx="1828800" cy="320040"/>
          </a:xfrm>
          <a:prstGeom prst="rect">
            <a:avLst/>
          </a:prstGeom>
          <a:noFill/>
        </p:spPr>
        <p:txBody>
          <a:bodyPr wrap="square" lIns="0" rIns="0" tIns="0" bIns="0" anchor="t">
            <a:spAutoFit/>
          </a:bodyPr>
          <a:lstStyle/>
          <a:p>
            <a:pPr algn="l">
              <a:defRPr sz="1800" b="1">
                <a:solidFill>
                  <a:srgbClr val="0B3D5C"/>
                </a:solidFill>
                <a:latin typeface="Georgia"/>
              </a:defRPr>
            </a:pPr>
            <a:r>
              <a:t>Near-oracle</a:t>
            </a:r>
          </a:p>
        </p:txBody>
      </p:sp>
      <p:sp>
        <p:nvSpPr>
          <p:cNvPr id="30" name="TextBox 29"/>
          <p:cNvSpPr txBox="1"/>
          <p:nvPr/>
        </p:nvSpPr>
        <p:spPr>
          <a:xfrm>
            <a:off x="960120" y="4160520"/>
            <a:ext cx="3017520" cy="640080"/>
          </a:xfrm>
          <a:prstGeom prst="rect">
            <a:avLst/>
          </a:prstGeom>
          <a:noFill/>
        </p:spPr>
        <p:txBody>
          <a:bodyPr wrap="square" lIns="0" rIns="0" tIns="0" bIns="0" anchor="t">
            <a:spAutoFit/>
          </a:bodyPr>
          <a:lstStyle/>
          <a:p>
            <a:pPr algn="l">
              <a:defRPr sz="1500" b="0">
                <a:solidFill>
                  <a:srgbClr val="1C2732"/>
                </a:solidFill>
                <a:latin typeface="Aptos"/>
              </a:defRPr>
            </a:pPr>
            <a:r>
              <a:t>17.9 mm CNN final error</a:t>
            </a:r>
            <a:br/>
            <a:r>
              <a:t>15.6 mm oracle upper bound</a:t>
            </a:r>
          </a:p>
        </p:txBody>
      </p:sp>
      <p:sp>
        <p:nvSpPr>
          <p:cNvPr id="31" name="TextBox 30"/>
          <p:cNvSpPr txBox="1"/>
          <p:nvPr/>
        </p:nvSpPr>
        <p:spPr>
          <a:xfrm>
            <a:off x="4617720" y="3639312"/>
            <a:ext cx="2194560" cy="320040"/>
          </a:xfrm>
          <a:prstGeom prst="rect">
            <a:avLst/>
          </a:prstGeom>
          <a:noFill/>
        </p:spPr>
        <p:txBody>
          <a:bodyPr wrap="square" lIns="0" rIns="0" tIns="0" bIns="0" anchor="t">
            <a:spAutoFit/>
          </a:bodyPr>
          <a:lstStyle/>
          <a:p>
            <a:pPr algn="l">
              <a:defRPr sz="1800" b="1">
                <a:solidFill>
                  <a:srgbClr val="0B3D5C"/>
                </a:solidFill>
                <a:latin typeface="Georgia"/>
              </a:defRPr>
            </a:pPr>
            <a:r>
              <a:t>Honest trade-off</a:t>
            </a:r>
          </a:p>
        </p:txBody>
      </p:sp>
      <p:sp>
        <p:nvSpPr>
          <p:cNvPr id="32" name="TextBox 31"/>
          <p:cNvSpPr txBox="1"/>
          <p:nvPr/>
        </p:nvSpPr>
        <p:spPr>
          <a:xfrm>
            <a:off x="4617720" y="4160520"/>
            <a:ext cx="6126480" cy="640080"/>
          </a:xfrm>
          <a:prstGeom prst="rect">
            <a:avLst/>
          </a:prstGeom>
          <a:noFill/>
        </p:spPr>
        <p:txBody>
          <a:bodyPr wrap="square" lIns="0" rIns="0" tIns="0" bIns="0" anchor="t">
            <a:spAutoFit/>
          </a:bodyPr>
          <a:lstStyle/>
          <a:p>
            <a:pPr algn="l">
              <a:defRPr sz="1400" b="0">
                <a:solidFill>
                  <a:srgbClr val="5B6B78"/>
                </a:solidFill>
                <a:latin typeface="Aptos"/>
              </a:defRPr>
            </a:pPr>
            <a:r>
              <a:t>Under persistent noise, smoother commands widen steady-state error—exactly as predicted by the Lyapunov boundary-layer analysis.</a:t>
            </a:r>
          </a:p>
        </p:txBody>
      </p:sp>
      <p:sp>
        <p:nvSpPr>
          <p:cNvPr id="33" name="Rounded Rectangle 32"/>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CNN adaptation improves the metric that matters most for each uncertainty type.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Combined Scenario: Recovery After the Push</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RESULTS</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13</a:t>
            </a:r>
          </a:p>
        </p:txBody>
      </p:sp>
      <p:pic>
        <p:nvPicPr>
          <p:cNvPr id="8" name="Picture 7" descr="fig03_trajectory_comparison.png"/>
          <p:cNvPicPr>
            <a:picLocks noChangeAspect="1"/>
          </p:cNvPicPr>
          <p:nvPr/>
        </p:nvPicPr>
        <p:blipFill>
          <a:blip r:embed="rId2"/>
          <a:stretch>
            <a:fillRect/>
          </a:stretch>
        </p:blipFill>
        <p:spPr>
          <a:xfrm>
            <a:off x="640080" y="1470190"/>
            <a:ext cx="7909560" cy="4137074"/>
          </a:xfrm>
          <a:prstGeom prst="rect">
            <a:avLst/>
          </a:prstGeom>
        </p:spPr>
      </p:pic>
      <p:sp>
        <p:nvSpPr>
          <p:cNvPr id="9" name="Rounded Rectangle 8"/>
          <p:cNvSpPr/>
          <p:nvPr/>
        </p:nvSpPr>
        <p:spPr>
          <a:xfrm>
            <a:off x="8796528" y="1417320"/>
            <a:ext cx="2697480" cy="406908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0848" y="1737360"/>
            <a:ext cx="2148840" cy="347472"/>
          </a:xfrm>
          <a:prstGeom prst="rect">
            <a:avLst/>
          </a:prstGeom>
          <a:noFill/>
        </p:spPr>
        <p:txBody>
          <a:bodyPr wrap="square" lIns="0" rIns="0" tIns="0" bIns="0" anchor="t">
            <a:spAutoFit/>
          </a:bodyPr>
          <a:lstStyle/>
          <a:p>
            <a:pPr algn="l">
              <a:defRPr sz="1800" b="1">
                <a:solidFill>
                  <a:srgbClr val="0B3D5C"/>
                </a:solidFill>
                <a:latin typeface="Georgia"/>
              </a:defRPr>
            </a:pPr>
            <a:r>
              <a:t>Read the graph</a:t>
            </a:r>
          </a:p>
        </p:txBody>
      </p:sp>
      <p:sp>
        <p:nvSpPr>
          <p:cNvPr id="11" name="TextBox 10"/>
          <p:cNvSpPr txBox="1"/>
          <p:nvPr/>
        </p:nvSpPr>
        <p:spPr>
          <a:xfrm>
            <a:off x="9052560" y="2331720"/>
            <a:ext cx="2103120" cy="2560320"/>
          </a:xfrm>
          <a:prstGeom prst="rect">
            <a:avLst/>
          </a:prstGeom>
          <a:noFill/>
        </p:spPr>
        <p:txBody>
          <a:bodyPr wrap="square">
            <a:spAutoFit/>
          </a:bodyPr>
          <a:lstStyle/>
          <a:p>
            <a:pPr>
              <a:spcAft>
                <a:spcPts val="700"/>
              </a:spcAft>
              <a:defRPr sz="1200">
                <a:solidFill>
                  <a:srgbClr val="1C2732"/>
                </a:solidFill>
                <a:latin typeface="Aptos"/>
              </a:defRPr>
            </a:pPr>
            <a:r>
              <a:t>•  Reference path: dashed</a:t>
            </a:r>
          </a:p>
          <a:p>
            <a:pPr>
              <a:spcAft>
                <a:spcPts val="700"/>
              </a:spcAft>
              <a:defRPr sz="1200">
                <a:solidFill>
                  <a:srgbClr val="1C2732"/>
                </a:solidFill>
                <a:latin typeface="Aptos"/>
              </a:defRPr>
            </a:pPr>
            <a:r>
              <a:t>•  Push at x ≈ 2.4 m</a:t>
            </a:r>
          </a:p>
          <a:p>
            <a:pPr>
              <a:spcAft>
                <a:spcPts val="700"/>
              </a:spcAft>
              <a:defRPr sz="1200">
                <a:solidFill>
                  <a:srgbClr val="1C2732"/>
                </a:solidFill>
                <a:latin typeface="Aptos"/>
              </a:defRPr>
            </a:pPr>
            <a:r>
              <a:t>•  Classical: largest overshoot</a:t>
            </a:r>
          </a:p>
          <a:p>
            <a:pPr>
              <a:spcAft>
                <a:spcPts val="700"/>
              </a:spcAft>
              <a:defRPr sz="1200">
                <a:solidFill>
                  <a:srgbClr val="1C2732"/>
                </a:solidFill>
                <a:latin typeface="Aptos"/>
              </a:defRPr>
            </a:pPr>
            <a:r>
              <a:t>•  CNN: tighter recovery</a:t>
            </a:r>
          </a:p>
          <a:p>
            <a:pPr>
              <a:spcAft>
                <a:spcPts val="700"/>
              </a:spcAft>
              <a:defRPr sz="1200">
                <a:solidFill>
                  <a:srgbClr val="1C2732"/>
                </a:solidFill>
                <a:latin typeface="Aptos"/>
              </a:defRPr>
            </a:pPr>
            <a:r>
              <a:t>•  RL: intermediate response</a:t>
            </a:r>
          </a:p>
        </p:txBody>
      </p:sp>
      <p:sp>
        <p:nvSpPr>
          <p:cNvPr id="12" name="Rounded Rectangle 11"/>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Adaptive controllers recover more tightly after the same impulsive disturbance.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Combined Scenario: Error Through Time</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RESULTS</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14</a:t>
            </a:r>
          </a:p>
        </p:txBody>
      </p:sp>
      <p:pic>
        <p:nvPicPr>
          <p:cNvPr id="8" name="Picture 7" descr="fig04_tracking_error.png"/>
          <p:cNvPicPr>
            <a:picLocks noChangeAspect="1"/>
          </p:cNvPicPr>
          <p:nvPr/>
        </p:nvPicPr>
        <p:blipFill>
          <a:blip r:embed="rId2"/>
          <a:stretch>
            <a:fillRect/>
          </a:stretch>
        </p:blipFill>
        <p:spPr>
          <a:xfrm>
            <a:off x="640080" y="1446221"/>
            <a:ext cx="8321040" cy="4203301"/>
          </a:xfrm>
          <a:prstGeom prst="rect">
            <a:avLst/>
          </a:prstGeom>
        </p:spPr>
      </p:pic>
      <p:sp>
        <p:nvSpPr>
          <p:cNvPr id="9" name="Rounded Rectangle 8"/>
          <p:cNvSpPr/>
          <p:nvPr/>
        </p:nvSpPr>
        <p:spPr>
          <a:xfrm>
            <a:off x="9189720" y="1444752"/>
            <a:ext cx="2304288" cy="3977639"/>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36608" y="1755648"/>
            <a:ext cx="1828800" cy="320040"/>
          </a:xfrm>
          <a:prstGeom prst="rect">
            <a:avLst/>
          </a:prstGeom>
          <a:noFill/>
        </p:spPr>
        <p:txBody>
          <a:bodyPr wrap="square" lIns="0" rIns="0" tIns="0" bIns="0" anchor="t">
            <a:spAutoFit/>
          </a:bodyPr>
          <a:lstStyle/>
          <a:p>
            <a:pPr algn="l">
              <a:defRPr sz="1800" b="1">
                <a:solidFill>
                  <a:srgbClr val="0B3D5C"/>
                </a:solidFill>
                <a:latin typeface="Georgia"/>
              </a:defRPr>
            </a:pPr>
            <a:r>
              <a:t>Events</a:t>
            </a:r>
          </a:p>
        </p:txBody>
      </p:sp>
      <p:sp>
        <p:nvSpPr>
          <p:cNvPr id="11" name="TextBox 10"/>
          <p:cNvSpPr txBox="1"/>
          <p:nvPr/>
        </p:nvSpPr>
        <p:spPr>
          <a:xfrm>
            <a:off x="9418320" y="2423160"/>
            <a:ext cx="685800" cy="274320"/>
          </a:xfrm>
          <a:prstGeom prst="rect">
            <a:avLst/>
          </a:prstGeom>
          <a:noFill/>
        </p:spPr>
        <p:txBody>
          <a:bodyPr wrap="square" lIns="0" rIns="0" tIns="0" bIns="0" anchor="t">
            <a:spAutoFit/>
          </a:bodyPr>
          <a:lstStyle/>
          <a:p>
            <a:pPr algn="l">
              <a:defRPr sz="1100" b="1">
                <a:solidFill>
                  <a:srgbClr val="00A98F"/>
                </a:solidFill>
                <a:latin typeface="Aptos"/>
              </a:defRPr>
            </a:pPr>
            <a:r>
              <a:t>0–8 s</a:t>
            </a:r>
          </a:p>
        </p:txBody>
      </p:sp>
      <p:sp>
        <p:nvSpPr>
          <p:cNvPr id="12" name="TextBox 11"/>
          <p:cNvSpPr txBox="1"/>
          <p:nvPr/>
        </p:nvSpPr>
        <p:spPr>
          <a:xfrm>
            <a:off x="10131552" y="2423160"/>
            <a:ext cx="1097280" cy="274320"/>
          </a:xfrm>
          <a:prstGeom prst="rect">
            <a:avLst/>
          </a:prstGeom>
          <a:noFill/>
        </p:spPr>
        <p:txBody>
          <a:bodyPr wrap="square" lIns="0" rIns="0" tIns="0" bIns="0" anchor="t">
            <a:spAutoFit/>
          </a:bodyPr>
          <a:lstStyle/>
          <a:p>
            <a:pPr algn="l">
              <a:defRPr sz="1100" b="0">
                <a:solidFill>
                  <a:srgbClr val="5B6B78"/>
                </a:solidFill>
                <a:latin typeface="Aptos"/>
              </a:defRPr>
            </a:pPr>
            <a:r>
              <a:t>noise only</a:t>
            </a:r>
          </a:p>
        </p:txBody>
      </p:sp>
      <p:sp>
        <p:nvSpPr>
          <p:cNvPr id="13" name="TextBox 12"/>
          <p:cNvSpPr txBox="1"/>
          <p:nvPr/>
        </p:nvSpPr>
        <p:spPr>
          <a:xfrm>
            <a:off x="9418320" y="3127248"/>
            <a:ext cx="685800" cy="274320"/>
          </a:xfrm>
          <a:prstGeom prst="rect">
            <a:avLst/>
          </a:prstGeom>
          <a:noFill/>
        </p:spPr>
        <p:txBody>
          <a:bodyPr wrap="square" lIns="0" rIns="0" tIns="0" bIns="0" anchor="t">
            <a:spAutoFit/>
          </a:bodyPr>
          <a:lstStyle/>
          <a:p>
            <a:pPr algn="l">
              <a:defRPr sz="1100" b="1">
                <a:solidFill>
                  <a:srgbClr val="C44747"/>
                </a:solidFill>
                <a:latin typeface="Aptos"/>
              </a:defRPr>
            </a:pPr>
            <a:r>
              <a:t>8 s</a:t>
            </a:r>
          </a:p>
        </p:txBody>
      </p:sp>
      <p:sp>
        <p:nvSpPr>
          <p:cNvPr id="14" name="TextBox 13"/>
          <p:cNvSpPr txBox="1"/>
          <p:nvPr/>
        </p:nvSpPr>
        <p:spPr>
          <a:xfrm>
            <a:off x="10131552" y="3127248"/>
            <a:ext cx="1097280" cy="274320"/>
          </a:xfrm>
          <a:prstGeom prst="rect">
            <a:avLst/>
          </a:prstGeom>
          <a:noFill/>
        </p:spPr>
        <p:txBody>
          <a:bodyPr wrap="square" lIns="0" rIns="0" tIns="0" bIns="0" anchor="t">
            <a:spAutoFit/>
          </a:bodyPr>
          <a:lstStyle/>
          <a:p>
            <a:pPr algn="l">
              <a:defRPr sz="1100" b="0">
                <a:solidFill>
                  <a:srgbClr val="5B6B78"/>
                </a:solidFill>
                <a:latin typeface="Aptos"/>
              </a:defRPr>
            </a:pPr>
            <a:r>
              <a:t>external push</a:t>
            </a:r>
          </a:p>
        </p:txBody>
      </p:sp>
      <p:sp>
        <p:nvSpPr>
          <p:cNvPr id="15" name="TextBox 14"/>
          <p:cNvSpPr txBox="1"/>
          <p:nvPr/>
        </p:nvSpPr>
        <p:spPr>
          <a:xfrm>
            <a:off x="9418320" y="3831336"/>
            <a:ext cx="685800" cy="274320"/>
          </a:xfrm>
          <a:prstGeom prst="rect">
            <a:avLst/>
          </a:prstGeom>
          <a:noFill/>
        </p:spPr>
        <p:txBody>
          <a:bodyPr wrap="square" lIns="0" rIns="0" tIns="0" bIns="0" anchor="t">
            <a:spAutoFit/>
          </a:bodyPr>
          <a:lstStyle/>
          <a:p>
            <a:pPr algn="l">
              <a:defRPr sz="1100" b="1">
                <a:solidFill>
                  <a:srgbClr val="D89D36"/>
                </a:solidFill>
                <a:latin typeface="Aptos"/>
              </a:defRPr>
            </a:pPr>
            <a:r>
              <a:t>10–14 s</a:t>
            </a:r>
          </a:p>
        </p:txBody>
      </p:sp>
      <p:sp>
        <p:nvSpPr>
          <p:cNvPr id="16" name="TextBox 15"/>
          <p:cNvSpPr txBox="1"/>
          <p:nvPr/>
        </p:nvSpPr>
        <p:spPr>
          <a:xfrm>
            <a:off x="10131552" y="3831336"/>
            <a:ext cx="1097280" cy="274320"/>
          </a:xfrm>
          <a:prstGeom prst="rect">
            <a:avLst/>
          </a:prstGeom>
          <a:noFill/>
        </p:spPr>
        <p:txBody>
          <a:bodyPr wrap="square" lIns="0" rIns="0" tIns="0" bIns="0" anchor="t">
            <a:spAutoFit/>
          </a:bodyPr>
          <a:lstStyle/>
          <a:p>
            <a:pPr algn="l">
              <a:defRPr sz="1100" b="0">
                <a:solidFill>
                  <a:srgbClr val="5B6B78"/>
                </a:solidFill>
                <a:latin typeface="Aptos"/>
              </a:defRPr>
            </a:pPr>
            <a:r>
              <a:t>wheel slip</a:t>
            </a:r>
          </a:p>
        </p:txBody>
      </p:sp>
      <p:sp>
        <p:nvSpPr>
          <p:cNvPr id="17" name="TextBox 16"/>
          <p:cNvSpPr txBox="1"/>
          <p:nvPr/>
        </p:nvSpPr>
        <p:spPr>
          <a:xfrm>
            <a:off x="9418320" y="4535424"/>
            <a:ext cx="685800" cy="274320"/>
          </a:xfrm>
          <a:prstGeom prst="rect">
            <a:avLst/>
          </a:prstGeom>
          <a:noFill/>
        </p:spPr>
        <p:txBody>
          <a:bodyPr wrap="square" lIns="0" rIns="0" tIns="0" bIns="0" anchor="t">
            <a:spAutoFit/>
          </a:bodyPr>
          <a:lstStyle/>
          <a:p>
            <a:pPr algn="l">
              <a:defRPr sz="1100" b="1">
                <a:solidFill>
                  <a:srgbClr val="6B57B4"/>
                </a:solidFill>
                <a:latin typeface="Aptos"/>
              </a:defRPr>
            </a:pPr>
            <a:r>
              <a:t>14–20 s</a:t>
            </a:r>
          </a:p>
        </p:txBody>
      </p:sp>
      <p:sp>
        <p:nvSpPr>
          <p:cNvPr id="18" name="TextBox 17"/>
          <p:cNvSpPr txBox="1"/>
          <p:nvPr/>
        </p:nvSpPr>
        <p:spPr>
          <a:xfrm>
            <a:off x="10131552" y="4535424"/>
            <a:ext cx="1097280" cy="274320"/>
          </a:xfrm>
          <a:prstGeom prst="rect">
            <a:avLst/>
          </a:prstGeom>
          <a:noFill/>
        </p:spPr>
        <p:txBody>
          <a:bodyPr wrap="square" lIns="0" rIns="0" tIns="0" bIns="0" anchor="t">
            <a:spAutoFit/>
          </a:bodyPr>
          <a:lstStyle/>
          <a:p>
            <a:pPr algn="l">
              <a:defRPr sz="1100" b="0">
                <a:solidFill>
                  <a:srgbClr val="5B6B78"/>
                </a:solidFill>
                <a:latin typeface="Aptos"/>
              </a:defRPr>
            </a:pPr>
            <a:r>
              <a:t>recovery</a:t>
            </a:r>
          </a:p>
        </p:txBody>
      </p:sp>
      <p:sp>
        <p:nvSpPr>
          <p:cNvPr id="19" name="Rounded Rectangle 18"/>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time series separates disturbance response, slip response and final recovery.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Accuracy vs. Smoothness: The Real Trade-off</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RESULTS</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15</a:t>
            </a:r>
          </a:p>
        </p:txBody>
      </p:sp>
      <p:pic>
        <p:nvPicPr>
          <p:cNvPr id="8" name="Picture 7" descr="fig05_rmse_bars.png"/>
          <p:cNvPicPr>
            <a:picLocks noChangeAspect="1"/>
          </p:cNvPicPr>
          <p:nvPr/>
        </p:nvPicPr>
        <p:blipFill>
          <a:blip r:embed="rId2"/>
          <a:stretch>
            <a:fillRect/>
          </a:stretch>
        </p:blipFill>
        <p:spPr>
          <a:xfrm>
            <a:off x="594360" y="2079055"/>
            <a:ext cx="5440680" cy="2608449"/>
          </a:xfrm>
          <a:prstGeom prst="rect">
            <a:avLst/>
          </a:prstGeom>
        </p:spPr>
      </p:pic>
      <p:pic>
        <p:nvPicPr>
          <p:cNvPr id="9" name="Picture 8" descr="fig06_chattering_bars.png"/>
          <p:cNvPicPr>
            <a:picLocks noChangeAspect="1"/>
          </p:cNvPicPr>
          <p:nvPr/>
        </p:nvPicPr>
        <p:blipFill>
          <a:blip r:embed="rId3"/>
          <a:stretch>
            <a:fillRect/>
          </a:stretch>
        </p:blipFill>
        <p:spPr>
          <a:xfrm>
            <a:off x="6172200" y="2056891"/>
            <a:ext cx="5440680" cy="2652776"/>
          </a:xfrm>
          <a:prstGeom prst="rect">
            <a:avLst/>
          </a:prstGeom>
        </p:spPr>
      </p:pic>
      <p:sp>
        <p:nvSpPr>
          <p:cNvPr id="10" name="TextBox 9"/>
          <p:cNvSpPr txBox="1"/>
          <p:nvPr/>
        </p:nvSpPr>
        <p:spPr>
          <a:xfrm>
            <a:off x="822960" y="5285232"/>
            <a:ext cx="4983480" cy="365760"/>
          </a:xfrm>
          <a:prstGeom prst="rect">
            <a:avLst/>
          </a:prstGeom>
          <a:noFill/>
        </p:spPr>
        <p:txBody>
          <a:bodyPr wrap="square" lIns="0" rIns="0" tIns="0" bIns="0" anchor="t">
            <a:spAutoFit/>
          </a:bodyPr>
          <a:lstStyle/>
          <a:p>
            <a:pPr algn="ctr">
              <a:defRPr sz="1200" b="0">
                <a:solidFill>
                  <a:srgbClr val="5B6B78"/>
                </a:solidFill>
                <a:latin typeface="Aptos"/>
              </a:defRPr>
            </a:pPr>
            <a:r>
              <a:t>RMSE stays similar; combined case remains hardest.</a:t>
            </a:r>
          </a:p>
        </p:txBody>
      </p:sp>
      <p:sp>
        <p:nvSpPr>
          <p:cNvPr id="11" name="TextBox 10"/>
          <p:cNvSpPr txBox="1"/>
          <p:nvPr/>
        </p:nvSpPr>
        <p:spPr>
          <a:xfrm>
            <a:off x="6400800" y="5285232"/>
            <a:ext cx="4983480" cy="365760"/>
          </a:xfrm>
          <a:prstGeom prst="rect">
            <a:avLst/>
          </a:prstGeom>
          <a:noFill/>
        </p:spPr>
        <p:txBody>
          <a:bodyPr wrap="square" lIns="0" rIns="0" tIns="0" bIns="0" anchor="t">
            <a:spAutoFit/>
          </a:bodyPr>
          <a:lstStyle/>
          <a:p>
            <a:pPr algn="ctr">
              <a:defRPr sz="1200" b="0">
                <a:solidFill>
                  <a:srgbClr val="5B6B78"/>
                </a:solidFill>
                <a:latin typeface="Aptos"/>
              </a:defRPr>
            </a:pPr>
            <a:r>
              <a:t>CNN strongly reduces chattering under noise and combined.</a:t>
            </a:r>
          </a:p>
        </p:txBody>
      </p:sp>
      <p:sp>
        <p:nvSpPr>
          <p:cNvPr id="12" name="Rounded Rectangle 11"/>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proposed controller trades a small RMSE change for much smoother actuation.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Where CNN Adaptation Helps—and Where It Does Not</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DISCUSSION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16</a:t>
            </a:r>
          </a:p>
        </p:txBody>
      </p:sp>
      <p:pic>
        <p:nvPicPr>
          <p:cNvPr id="8" name="Picture 7" descr="fig09_improvement_heatmap.png"/>
          <p:cNvPicPr>
            <a:picLocks noChangeAspect="1"/>
          </p:cNvPicPr>
          <p:nvPr/>
        </p:nvPicPr>
        <p:blipFill>
          <a:blip r:embed="rId2"/>
          <a:stretch>
            <a:fillRect/>
          </a:stretch>
        </p:blipFill>
        <p:spPr>
          <a:xfrm>
            <a:off x="640080" y="1751894"/>
            <a:ext cx="7040880" cy="3619387"/>
          </a:xfrm>
          <a:prstGeom prst="rect">
            <a:avLst/>
          </a:prstGeom>
        </p:spPr>
      </p:pic>
      <p:sp>
        <p:nvSpPr>
          <p:cNvPr id="9" name="Rounded Rectangle 8"/>
          <p:cNvSpPr/>
          <p:nvPr/>
        </p:nvSpPr>
        <p:spPr>
          <a:xfrm>
            <a:off x="7973568" y="1417320"/>
            <a:ext cx="3520440" cy="416052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1" y="1737360"/>
            <a:ext cx="2926080" cy="320040"/>
          </a:xfrm>
          <a:prstGeom prst="rect">
            <a:avLst/>
          </a:prstGeom>
          <a:noFill/>
        </p:spPr>
        <p:txBody>
          <a:bodyPr wrap="square" lIns="0" rIns="0" tIns="0" bIns="0" anchor="t">
            <a:spAutoFit/>
          </a:bodyPr>
          <a:lstStyle/>
          <a:p>
            <a:pPr algn="l">
              <a:defRPr sz="1800" b="1">
                <a:solidFill>
                  <a:srgbClr val="0B3D5C"/>
                </a:solidFill>
                <a:latin typeface="Georgia"/>
              </a:defRPr>
            </a:pPr>
            <a:r>
              <a:t>Interpretation</a:t>
            </a:r>
          </a:p>
        </p:txBody>
      </p:sp>
      <p:sp>
        <p:nvSpPr>
          <p:cNvPr id="11" name="TextBox 10"/>
          <p:cNvSpPr txBox="1"/>
          <p:nvPr/>
        </p:nvSpPr>
        <p:spPr>
          <a:xfrm>
            <a:off x="8229600" y="2286000"/>
            <a:ext cx="2880360" cy="2697480"/>
          </a:xfrm>
          <a:prstGeom prst="rect">
            <a:avLst/>
          </a:prstGeom>
          <a:noFill/>
        </p:spPr>
        <p:txBody>
          <a:bodyPr wrap="square">
            <a:spAutoFit/>
          </a:bodyPr>
          <a:lstStyle/>
          <a:p>
            <a:pPr>
              <a:spcAft>
                <a:spcPts val="800"/>
              </a:spcAft>
              <a:defRPr sz="1300">
                <a:solidFill>
                  <a:srgbClr val="1C2732"/>
                </a:solidFill>
                <a:latin typeface="Aptos"/>
              </a:defRPr>
            </a:pPr>
            <a:r>
              <a:t>•  Green = adaptive better</a:t>
            </a:r>
          </a:p>
          <a:p>
            <a:pPr>
              <a:spcAft>
                <a:spcPts val="800"/>
              </a:spcAft>
              <a:defRPr sz="1300">
                <a:solidFill>
                  <a:srgbClr val="1C2732"/>
                </a:solidFill>
                <a:latin typeface="Aptos"/>
              </a:defRPr>
            </a:pPr>
            <a:r>
              <a:t>•  Noise: major chattering win</a:t>
            </a:r>
          </a:p>
          <a:p>
            <a:pPr>
              <a:spcAft>
                <a:spcPts val="800"/>
              </a:spcAft>
              <a:defRPr sz="1300">
                <a:solidFill>
                  <a:srgbClr val="1C2732"/>
                </a:solidFill>
                <a:latin typeface="Aptos"/>
              </a:defRPr>
            </a:pPr>
            <a:r>
              <a:t>•  Disturbance/slip: final error win</a:t>
            </a:r>
          </a:p>
          <a:p>
            <a:pPr>
              <a:spcAft>
                <a:spcPts val="800"/>
              </a:spcAft>
              <a:defRPr sz="1300">
                <a:solidFill>
                  <a:srgbClr val="1C2732"/>
                </a:solidFill>
                <a:latin typeface="Aptos"/>
              </a:defRPr>
            </a:pPr>
            <a:r>
              <a:t>•  Red cells expose costs</a:t>
            </a:r>
          </a:p>
          <a:p>
            <a:pPr>
              <a:spcAft>
                <a:spcPts val="800"/>
              </a:spcAft>
              <a:defRPr sz="1300">
                <a:solidFill>
                  <a:srgbClr val="1C2732"/>
                </a:solidFill>
                <a:latin typeface="Aptos"/>
              </a:defRPr>
            </a:pPr>
            <a:r>
              <a:t>•  No claim of universal superiority</a:t>
            </a:r>
          </a:p>
        </p:txBody>
      </p:sp>
      <p:sp>
        <p:nvSpPr>
          <p:cNvPr id="12" name="Rounded Rectangle 11"/>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Adaptation is scenario-dependent—not uniformly better on every 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Benchmark Against Fuzzy, Oracle and PPO</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DISCUSSION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17</a:t>
            </a:r>
          </a:p>
        </p:txBody>
      </p:sp>
      <p:pic>
        <p:nvPicPr>
          <p:cNvPr id="8" name="Picture 7" descr="fig10_multicontroller.png"/>
          <p:cNvPicPr>
            <a:picLocks noChangeAspect="1"/>
          </p:cNvPicPr>
          <p:nvPr/>
        </p:nvPicPr>
        <p:blipFill>
          <a:blip r:embed="rId2"/>
          <a:stretch>
            <a:fillRect/>
          </a:stretch>
        </p:blipFill>
        <p:spPr>
          <a:xfrm>
            <a:off x="640080" y="1402100"/>
            <a:ext cx="8046720" cy="4318974"/>
          </a:xfrm>
          <a:prstGeom prst="rect">
            <a:avLst/>
          </a:prstGeom>
        </p:spPr>
      </p:pic>
      <p:sp>
        <p:nvSpPr>
          <p:cNvPr id="9" name="Rounded Rectangle 8"/>
          <p:cNvSpPr/>
          <p:nvPr/>
        </p:nvSpPr>
        <p:spPr>
          <a:xfrm>
            <a:off x="8961120" y="1444752"/>
            <a:ext cx="2514600" cy="3977639"/>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89720" y="1764792"/>
            <a:ext cx="2011680" cy="320040"/>
          </a:xfrm>
          <a:prstGeom prst="rect">
            <a:avLst/>
          </a:prstGeom>
          <a:noFill/>
        </p:spPr>
        <p:txBody>
          <a:bodyPr wrap="square" lIns="0" rIns="0" tIns="0" bIns="0" anchor="t">
            <a:spAutoFit/>
          </a:bodyPr>
          <a:lstStyle/>
          <a:p>
            <a:pPr algn="l">
              <a:defRPr sz="1800" b="1">
                <a:solidFill>
                  <a:srgbClr val="0B3D5C"/>
                </a:solidFill>
                <a:latin typeface="Georgia"/>
              </a:defRPr>
            </a:pPr>
            <a:r>
              <a:t>What it proves</a:t>
            </a:r>
          </a:p>
        </p:txBody>
      </p:sp>
      <p:sp>
        <p:nvSpPr>
          <p:cNvPr id="11" name="TextBox 10"/>
          <p:cNvSpPr txBox="1"/>
          <p:nvPr/>
        </p:nvSpPr>
        <p:spPr>
          <a:xfrm>
            <a:off x="9162288" y="2331720"/>
            <a:ext cx="1965960" cy="2514600"/>
          </a:xfrm>
          <a:prstGeom prst="rect">
            <a:avLst/>
          </a:prstGeom>
          <a:noFill/>
        </p:spPr>
        <p:txBody>
          <a:bodyPr wrap="square">
            <a:spAutoFit/>
          </a:bodyPr>
          <a:lstStyle/>
          <a:p>
            <a:pPr>
              <a:spcAft>
                <a:spcPts val="800"/>
              </a:spcAft>
              <a:defRPr sz="1200">
                <a:solidFill>
                  <a:srgbClr val="1C2732"/>
                </a:solidFill>
                <a:latin typeface="Aptos"/>
              </a:defRPr>
            </a:pPr>
            <a:r>
              <a:t>•  CNN ≈ oracle</a:t>
            </a:r>
          </a:p>
          <a:p>
            <a:pPr>
              <a:spcAft>
                <a:spcPts val="800"/>
              </a:spcAft>
              <a:defRPr sz="1200">
                <a:solidFill>
                  <a:srgbClr val="1C2732"/>
                </a:solidFill>
                <a:latin typeface="Aptos"/>
              </a:defRPr>
            </a:pPr>
            <a:r>
              <a:t>•  CNN beats fuzzy on key recovery metrics</a:t>
            </a:r>
          </a:p>
          <a:p>
            <a:pPr>
              <a:spcAft>
                <a:spcPts val="800"/>
              </a:spcAft>
              <a:defRPr sz="1200">
                <a:solidFill>
                  <a:srgbClr val="1C2732"/>
                </a:solidFill>
                <a:latin typeface="Aptos"/>
              </a:defRPr>
            </a:pPr>
            <a:r>
              <a:t>•  RL best on combined chatter</a:t>
            </a:r>
          </a:p>
          <a:p>
            <a:pPr>
              <a:spcAft>
                <a:spcPts val="800"/>
              </a:spcAft>
              <a:defRPr sz="1200">
                <a:solidFill>
                  <a:srgbClr val="1C2732"/>
                </a:solidFill>
                <a:latin typeface="Aptos"/>
              </a:defRPr>
            </a:pPr>
            <a:r>
              <a:t>•  RL weaker on slip</a:t>
            </a:r>
          </a:p>
        </p:txBody>
      </p:sp>
      <p:sp>
        <p:nvSpPr>
          <p:cNvPr id="12" name="Rounded Rectangle 11"/>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CNN supervision approaches oracle performance with lower deployment complexity.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From Research Code to a Live Digital Twin</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DEMONSTRATION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18</a:t>
            </a:r>
          </a:p>
        </p:txBody>
      </p:sp>
      <p:pic>
        <p:nvPicPr>
          <p:cNvPr id="8" name="Picture 7" descr="fig08_digital_twin.png"/>
          <p:cNvPicPr>
            <a:picLocks noChangeAspect="1"/>
          </p:cNvPicPr>
          <p:nvPr/>
        </p:nvPicPr>
        <p:blipFill>
          <a:blip r:embed="rId2"/>
          <a:stretch>
            <a:fillRect/>
          </a:stretch>
        </p:blipFill>
        <p:spPr>
          <a:xfrm>
            <a:off x="594360" y="1357189"/>
            <a:ext cx="7360920" cy="4463661"/>
          </a:xfrm>
          <a:prstGeom prst="rect">
            <a:avLst/>
          </a:prstGeom>
        </p:spPr>
      </p:pic>
      <p:sp>
        <p:nvSpPr>
          <p:cNvPr id="9" name="Rounded Rectangle 8"/>
          <p:cNvSpPr/>
          <p:nvPr/>
        </p:nvSpPr>
        <p:spPr>
          <a:xfrm>
            <a:off x="8229600" y="1417320"/>
            <a:ext cx="3273552" cy="4251960"/>
          </a:xfrm>
          <a:prstGeom prst="roundRect">
            <a:avLst/>
          </a:prstGeom>
          <a:solidFill>
            <a:srgbClr val="06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22208" y="1737360"/>
            <a:ext cx="2697480" cy="365760"/>
          </a:xfrm>
          <a:prstGeom prst="rect">
            <a:avLst/>
          </a:prstGeom>
          <a:noFill/>
        </p:spPr>
        <p:txBody>
          <a:bodyPr wrap="square" lIns="0" rIns="0" tIns="0" bIns="0" anchor="t">
            <a:spAutoFit/>
          </a:bodyPr>
          <a:lstStyle/>
          <a:p>
            <a:pPr algn="l">
              <a:defRPr sz="2000" b="1">
                <a:solidFill>
                  <a:srgbClr val="FFFFFF"/>
                </a:solidFill>
                <a:latin typeface="Georgia"/>
              </a:defRPr>
            </a:pPr>
            <a:r>
              <a:t>Demo sequence</a:t>
            </a:r>
          </a:p>
        </p:txBody>
      </p:sp>
      <p:sp>
        <p:nvSpPr>
          <p:cNvPr id="11" name="TextBox 10"/>
          <p:cNvSpPr txBox="1"/>
          <p:nvPr/>
        </p:nvSpPr>
        <p:spPr>
          <a:xfrm>
            <a:off x="8522208" y="2395728"/>
            <a:ext cx="320040" cy="256032"/>
          </a:xfrm>
          <a:prstGeom prst="rect">
            <a:avLst/>
          </a:prstGeom>
          <a:noFill/>
        </p:spPr>
        <p:txBody>
          <a:bodyPr wrap="square" lIns="0" rIns="0" tIns="0" bIns="0" anchor="t">
            <a:spAutoFit/>
          </a:bodyPr>
          <a:lstStyle/>
          <a:p>
            <a:pPr algn="l">
              <a:defRPr sz="1300" b="1">
                <a:solidFill>
                  <a:srgbClr val="00A98F"/>
                </a:solidFill>
                <a:latin typeface="Aptos"/>
              </a:defRPr>
            </a:pPr>
            <a:r>
              <a:t>1</a:t>
            </a:r>
          </a:p>
        </p:txBody>
      </p:sp>
      <p:sp>
        <p:nvSpPr>
          <p:cNvPr id="12" name="TextBox 11"/>
          <p:cNvSpPr txBox="1"/>
          <p:nvPr/>
        </p:nvSpPr>
        <p:spPr>
          <a:xfrm>
            <a:off x="8915400" y="2395728"/>
            <a:ext cx="777240" cy="256032"/>
          </a:xfrm>
          <a:prstGeom prst="rect">
            <a:avLst/>
          </a:prstGeom>
          <a:noFill/>
        </p:spPr>
        <p:txBody>
          <a:bodyPr wrap="square" lIns="0" rIns="0" tIns="0" bIns="0" anchor="t">
            <a:spAutoFit/>
          </a:bodyPr>
          <a:lstStyle/>
          <a:p>
            <a:pPr algn="l">
              <a:defRPr sz="1200" b="1">
                <a:solidFill>
                  <a:srgbClr val="FFFFFF"/>
                </a:solidFill>
                <a:latin typeface="Aptos"/>
              </a:defRPr>
            </a:pPr>
            <a:r>
              <a:t>Press T</a:t>
            </a:r>
          </a:p>
        </p:txBody>
      </p:sp>
      <p:sp>
        <p:nvSpPr>
          <p:cNvPr id="13" name="TextBox 12"/>
          <p:cNvSpPr txBox="1"/>
          <p:nvPr/>
        </p:nvSpPr>
        <p:spPr>
          <a:xfrm>
            <a:off x="9710928" y="2395728"/>
            <a:ext cx="1371600" cy="256032"/>
          </a:xfrm>
          <a:prstGeom prst="rect">
            <a:avLst/>
          </a:prstGeom>
          <a:noFill/>
        </p:spPr>
        <p:txBody>
          <a:bodyPr wrap="square" lIns="0" rIns="0" tIns="0" bIns="0" anchor="t">
            <a:spAutoFit/>
          </a:bodyPr>
          <a:lstStyle/>
          <a:p>
            <a:pPr algn="l">
              <a:defRPr sz="1000" b="0">
                <a:solidFill>
                  <a:srgbClr val="C4D6DF"/>
                </a:solidFill>
                <a:latin typeface="Aptos"/>
              </a:defRPr>
            </a:pPr>
            <a:r>
              <a:t>Controller Tour</a:t>
            </a:r>
          </a:p>
        </p:txBody>
      </p:sp>
      <p:sp>
        <p:nvSpPr>
          <p:cNvPr id="14" name="TextBox 13"/>
          <p:cNvSpPr txBox="1"/>
          <p:nvPr/>
        </p:nvSpPr>
        <p:spPr>
          <a:xfrm>
            <a:off x="8522208" y="2962656"/>
            <a:ext cx="320040" cy="256032"/>
          </a:xfrm>
          <a:prstGeom prst="rect">
            <a:avLst/>
          </a:prstGeom>
          <a:noFill/>
        </p:spPr>
        <p:txBody>
          <a:bodyPr wrap="square" lIns="0" rIns="0" tIns="0" bIns="0" anchor="t">
            <a:spAutoFit/>
          </a:bodyPr>
          <a:lstStyle/>
          <a:p>
            <a:pPr algn="l">
              <a:defRPr sz="1300" b="1">
                <a:solidFill>
                  <a:srgbClr val="00A98F"/>
                </a:solidFill>
                <a:latin typeface="Aptos"/>
              </a:defRPr>
            </a:pPr>
            <a:r>
              <a:t>2</a:t>
            </a:r>
          </a:p>
        </p:txBody>
      </p:sp>
      <p:sp>
        <p:nvSpPr>
          <p:cNvPr id="15" name="TextBox 14"/>
          <p:cNvSpPr txBox="1"/>
          <p:nvPr/>
        </p:nvSpPr>
        <p:spPr>
          <a:xfrm>
            <a:off x="8915400" y="2962656"/>
            <a:ext cx="777240" cy="256032"/>
          </a:xfrm>
          <a:prstGeom prst="rect">
            <a:avLst/>
          </a:prstGeom>
          <a:noFill/>
        </p:spPr>
        <p:txBody>
          <a:bodyPr wrap="square" lIns="0" rIns="0" tIns="0" bIns="0" anchor="t">
            <a:spAutoFit/>
          </a:bodyPr>
          <a:lstStyle/>
          <a:p>
            <a:pPr algn="l">
              <a:defRPr sz="1200" b="1">
                <a:solidFill>
                  <a:srgbClr val="FFFFFF"/>
                </a:solidFill>
                <a:latin typeface="Aptos"/>
              </a:defRPr>
            </a:pPr>
            <a:r>
              <a:t>Compare</a:t>
            </a:r>
          </a:p>
        </p:txBody>
      </p:sp>
      <p:sp>
        <p:nvSpPr>
          <p:cNvPr id="16" name="TextBox 15"/>
          <p:cNvSpPr txBox="1"/>
          <p:nvPr/>
        </p:nvSpPr>
        <p:spPr>
          <a:xfrm>
            <a:off x="9710928" y="2962656"/>
            <a:ext cx="1371600" cy="256032"/>
          </a:xfrm>
          <a:prstGeom prst="rect">
            <a:avLst/>
          </a:prstGeom>
          <a:noFill/>
        </p:spPr>
        <p:txBody>
          <a:bodyPr wrap="square" lIns="0" rIns="0" tIns="0" bIns="0" anchor="t">
            <a:spAutoFit/>
          </a:bodyPr>
          <a:lstStyle/>
          <a:p>
            <a:pPr algn="l">
              <a:defRPr sz="1000" b="0">
                <a:solidFill>
                  <a:srgbClr val="C4D6DF"/>
                </a:solidFill>
                <a:latin typeface="Aptos"/>
              </a:defRPr>
            </a:pPr>
            <a:r>
              <a:t>3-controller benchmark</a:t>
            </a:r>
          </a:p>
        </p:txBody>
      </p:sp>
      <p:sp>
        <p:nvSpPr>
          <p:cNvPr id="17" name="TextBox 16"/>
          <p:cNvSpPr txBox="1"/>
          <p:nvPr/>
        </p:nvSpPr>
        <p:spPr>
          <a:xfrm>
            <a:off x="8522208" y="3529584"/>
            <a:ext cx="320040" cy="256032"/>
          </a:xfrm>
          <a:prstGeom prst="rect">
            <a:avLst/>
          </a:prstGeom>
          <a:noFill/>
        </p:spPr>
        <p:txBody>
          <a:bodyPr wrap="square" lIns="0" rIns="0" tIns="0" bIns="0" anchor="t">
            <a:spAutoFit/>
          </a:bodyPr>
          <a:lstStyle/>
          <a:p>
            <a:pPr algn="l">
              <a:defRPr sz="1300" b="1">
                <a:solidFill>
                  <a:srgbClr val="00A98F"/>
                </a:solidFill>
                <a:latin typeface="Aptos"/>
              </a:defRPr>
            </a:pPr>
            <a:r>
              <a:t>3</a:t>
            </a:r>
          </a:p>
        </p:txBody>
      </p:sp>
      <p:sp>
        <p:nvSpPr>
          <p:cNvPr id="18" name="TextBox 17"/>
          <p:cNvSpPr txBox="1"/>
          <p:nvPr/>
        </p:nvSpPr>
        <p:spPr>
          <a:xfrm>
            <a:off x="8915400" y="3529584"/>
            <a:ext cx="777240" cy="256032"/>
          </a:xfrm>
          <a:prstGeom prst="rect">
            <a:avLst/>
          </a:prstGeom>
          <a:noFill/>
        </p:spPr>
        <p:txBody>
          <a:bodyPr wrap="square" lIns="0" rIns="0" tIns="0" bIns="0" anchor="t">
            <a:spAutoFit/>
          </a:bodyPr>
          <a:lstStyle/>
          <a:p>
            <a:pPr algn="l">
              <a:defRPr sz="1200" b="1">
                <a:solidFill>
                  <a:srgbClr val="FFFFFF"/>
                </a:solidFill>
                <a:latin typeface="Aptos"/>
              </a:defRPr>
            </a:pPr>
            <a:r>
              <a:t>Dual view</a:t>
            </a:r>
          </a:p>
        </p:txBody>
      </p:sp>
      <p:sp>
        <p:nvSpPr>
          <p:cNvPr id="19" name="TextBox 18"/>
          <p:cNvSpPr txBox="1"/>
          <p:nvPr/>
        </p:nvSpPr>
        <p:spPr>
          <a:xfrm>
            <a:off x="9710928" y="3529584"/>
            <a:ext cx="1371600" cy="256032"/>
          </a:xfrm>
          <a:prstGeom prst="rect">
            <a:avLst/>
          </a:prstGeom>
          <a:noFill/>
        </p:spPr>
        <p:txBody>
          <a:bodyPr wrap="square" lIns="0" rIns="0" tIns="0" bIns="0" anchor="t">
            <a:spAutoFit/>
          </a:bodyPr>
          <a:lstStyle/>
          <a:p>
            <a:pPr algn="l">
              <a:defRPr sz="1000" b="0">
                <a:solidFill>
                  <a:srgbClr val="C4D6DF"/>
                </a:solidFill>
                <a:latin typeface="Aptos"/>
              </a:defRPr>
            </a:pPr>
            <a:r>
              <a:t>Classical vs CNN paths</a:t>
            </a:r>
          </a:p>
        </p:txBody>
      </p:sp>
      <p:sp>
        <p:nvSpPr>
          <p:cNvPr id="20" name="TextBox 19"/>
          <p:cNvSpPr txBox="1"/>
          <p:nvPr/>
        </p:nvSpPr>
        <p:spPr>
          <a:xfrm>
            <a:off x="8522208" y="4096512"/>
            <a:ext cx="320040" cy="256032"/>
          </a:xfrm>
          <a:prstGeom prst="rect">
            <a:avLst/>
          </a:prstGeom>
          <a:noFill/>
        </p:spPr>
        <p:txBody>
          <a:bodyPr wrap="square" lIns="0" rIns="0" tIns="0" bIns="0" anchor="t">
            <a:spAutoFit/>
          </a:bodyPr>
          <a:lstStyle/>
          <a:p>
            <a:pPr algn="l">
              <a:defRPr sz="1300" b="1">
                <a:solidFill>
                  <a:srgbClr val="00A98F"/>
                </a:solidFill>
                <a:latin typeface="Aptos"/>
              </a:defRPr>
            </a:pPr>
            <a:r>
              <a:t>4</a:t>
            </a:r>
          </a:p>
        </p:txBody>
      </p:sp>
      <p:sp>
        <p:nvSpPr>
          <p:cNvPr id="21" name="TextBox 20"/>
          <p:cNvSpPr txBox="1"/>
          <p:nvPr/>
        </p:nvSpPr>
        <p:spPr>
          <a:xfrm>
            <a:off x="8915400" y="4096512"/>
            <a:ext cx="777240" cy="256032"/>
          </a:xfrm>
          <a:prstGeom prst="rect">
            <a:avLst/>
          </a:prstGeom>
          <a:noFill/>
        </p:spPr>
        <p:txBody>
          <a:bodyPr wrap="square" lIns="0" rIns="0" tIns="0" bIns="0" anchor="t">
            <a:spAutoFit/>
          </a:bodyPr>
          <a:lstStyle/>
          <a:p>
            <a:pPr algn="l">
              <a:defRPr sz="1200" b="1">
                <a:solidFill>
                  <a:srgbClr val="FFFFFF"/>
                </a:solidFill>
                <a:latin typeface="Aptos"/>
              </a:defRPr>
            </a:pPr>
            <a:r>
              <a:t>Replay</a:t>
            </a:r>
          </a:p>
        </p:txBody>
      </p:sp>
      <p:sp>
        <p:nvSpPr>
          <p:cNvPr id="22" name="TextBox 21"/>
          <p:cNvSpPr txBox="1"/>
          <p:nvPr/>
        </p:nvSpPr>
        <p:spPr>
          <a:xfrm>
            <a:off x="9710928" y="4096512"/>
            <a:ext cx="1371600" cy="256032"/>
          </a:xfrm>
          <a:prstGeom prst="rect">
            <a:avLst/>
          </a:prstGeom>
          <a:noFill/>
        </p:spPr>
        <p:txBody>
          <a:bodyPr wrap="square" lIns="0" rIns="0" tIns="0" bIns="0" anchor="t">
            <a:spAutoFit/>
          </a:bodyPr>
          <a:lstStyle/>
          <a:p>
            <a:pPr algn="l">
              <a:defRPr sz="1000" b="0">
                <a:solidFill>
                  <a:srgbClr val="C4D6DF"/>
                </a:solidFill>
                <a:latin typeface="Aptos"/>
              </a:defRPr>
            </a:pPr>
            <a:r>
              <a:t>Saved simulation</a:t>
            </a:r>
          </a:p>
        </p:txBody>
      </p:sp>
      <p:sp>
        <p:nvSpPr>
          <p:cNvPr id="23" name="TextBox 22"/>
          <p:cNvSpPr txBox="1"/>
          <p:nvPr/>
        </p:nvSpPr>
        <p:spPr>
          <a:xfrm>
            <a:off x="8522208" y="4663440"/>
            <a:ext cx="320040" cy="256032"/>
          </a:xfrm>
          <a:prstGeom prst="rect">
            <a:avLst/>
          </a:prstGeom>
          <a:noFill/>
        </p:spPr>
        <p:txBody>
          <a:bodyPr wrap="square" lIns="0" rIns="0" tIns="0" bIns="0" anchor="t">
            <a:spAutoFit/>
          </a:bodyPr>
          <a:lstStyle/>
          <a:p>
            <a:pPr algn="l">
              <a:defRPr sz="1300" b="1">
                <a:solidFill>
                  <a:srgbClr val="00A98F"/>
                </a:solidFill>
                <a:latin typeface="Aptos"/>
              </a:defRPr>
            </a:pPr>
            <a:r>
              <a:t>5</a:t>
            </a:r>
          </a:p>
        </p:txBody>
      </p:sp>
      <p:sp>
        <p:nvSpPr>
          <p:cNvPr id="24" name="TextBox 23"/>
          <p:cNvSpPr txBox="1"/>
          <p:nvPr/>
        </p:nvSpPr>
        <p:spPr>
          <a:xfrm>
            <a:off x="8915400" y="4663440"/>
            <a:ext cx="777240" cy="256032"/>
          </a:xfrm>
          <a:prstGeom prst="rect">
            <a:avLst/>
          </a:prstGeom>
          <a:noFill/>
        </p:spPr>
        <p:txBody>
          <a:bodyPr wrap="square" lIns="0" rIns="0" tIns="0" bIns="0" anchor="t">
            <a:spAutoFit/>
          </a:bodyPr>
          <a:lstStyle/>
          <a:p>
            <a:pPr algn="l">
              <a:defRPr sz="1200" b="1">
                <a:solidFill>
                  <a:srgbClr val="FFFFFF"/>
                </a:solidFill>
                <a:latin typeface="Aptos"/>
              </a:defRPr>
            </a:pPr>
            <a:r>
              <a:t>Export</a:t>
            </a:r>
          </a:p>
        </p:txBody>
      </p:sp>
      <p:sp>
        <p:nvSpPr>
          <p:cNvPr id="25" name="TextBox 24"/>
          <p:cNvSpPr txBox="1"/>
          <p:nvPr/>
        </p:nvSpPr>
        <p:spPr>
          <a:xfrm>
            <a:off x="9710928" y="4663440"/>
            <a:ext cx="1371600" cy="256032"/>
          </a:xfrm>
          <a:prstGeom prst="rect">
            <a:avLst/>
          </a:prstGeom>
          <a:noFill/>
        </p:spPr>
        <p:txBody>
          <a:bodyPr wrap="square" lIns="0" rIns="0" tIns="0" bIns="0" anchor="t">
            <a:spAutoFit/>
          </a:bodyPr>
          <a:lstStyle/>
          <a:p>
            <a:pPr algn="l">
              <a:defRPr sz="1000" b="0">
                <a:solidFill>
                  <a:srgbClr val="C4D6DF"/>
                </a:solidFill>
                <a:latin typeface="Aptos"/>
              </a:defRPr>
            </a:pPr>
            <a:r>
              <a:t>Metrics as CSV</a:t>
            </a:r>
          </a:p>
        </p:txBody>
      </p:sp>
      <p:sp>
        <p:nvSpPr>
          <p:cNvPr id="26" name="TextBox 25"/>
          <p:cNvSpPr txBox="1"/>
          <p:nvPr/>
        </p:nvSpPr>
        <p:spPr>
          <a:xfrm>
            <a:off x="8522208" y="5349240"/>
            <a:ext cx="2651760" cy="228600"/>
          </a:xfrm>
          <a:prstGeom prst="rect">
            <a:avLst/>
          </a:prstGeom>
          <a:noFill/>
        </p:spPr>
        <p:txBody>
          <a:bodyPr wrap="square" lIns="0" rIns="0" tIns="0" bIns="0" anchor="t">
            <a:spAutoFit/>
          </a:bodyPr>
          <a:lstStyle/>
          <a:p>
            <a:pPr algn="ctr">
              <a:defRPr sz="1200" b="1">
                <a:solidFill>
                  <a:srgbClr val="00A98F"/>
                </a:solidFill>
                <a:latin typeface="Aptos"/>
              </a:defRPr>
            </a:pPr>
            <a:r>
              <a:t>localhost:8000</a:t>
            </a:r>
          </a:p>
        </p:txBody>
      </p:sp>
      <p:sp>
        <p:nvSpPr>
          <p:cNvPr id="27" name="Rounded Rectangle 26"/>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twin makes controller behaviour visible, comparable and replayable.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Limitations: What We Have Not Yet Proven</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CRITICAL REFLECTION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19</a:t>
            </a:r>
          </a:p>
        </p:txBody>
      </p:sp>
      <p:sp>
        <p:nvSpPr>
          <p:cNvPr id="8" name="TextBox 7"/>
          <p:cNvSpPr txBox="1"/>
          <p:nvPr/>
        </p:nvSpPr>
        <p:spPr>
          <a:xfrm>
            <a:off x="749808" y="1444752"/>
            <a:ext cx="411480" cy="320040"/>
          </a:xfrm>
          <a:prstGeom prst="rect">
            <a:avLst/>
          </a:prstGeom>
          <a:noFill/>
        </p:spPr>
        <p:txBody>
          <a:bodyPr wrap="square" lIns="0" rIns="0" tIns="0" bIns="0" anchor="t">
            <a:spAutoFit/>
          </a:bodyPr>
          <a:lstStyle/>
          <a:p>
            <a:pPr algn="l">
              <a:defRPr sz="1600" b="1">
                <a:solidFill>
                  <a:srgbClr val="C44747"/>
                </a:solidFill>
                <a:latin typeface="Georgia"/>
              </a:defRPr>
            </a:pPr>
            <a:r>
              <a:t>1</a:t>
            </a:r>
          </a:p>
        </p:txBody>
      </p:sp>
      <p:sp>
        <p:nvSpPr>
          <p:cNvPr id="9" name="TextBox 8"/>
          <p:cNvSpPr txBox="1"/>
          <p:nvPr/>
        </p:nvSpPr>
        <p:spPr>
          <a:xfrm>
            <a:off x="1325880" y="1353312"/>
            <a:ext cx="2468880" cy="320040"/>
          </a:xfrm>
          <a:prstGeom prst="rect">
            <a:avLst/>
          </a:prstGeom>
          <a:noFill/>
        </p:spPr>
        <p:txBody>
          <a:bodyPr wrap="square" lIns="0" rIns="0" tIns="0" bIns="0" anchor="t">
            <a:spAutoFit/>
          </a:bodyPr>
          <a:lstStyle/>
          <a:p>
            <a:pPr algn="l">
              <a:defRPr sz="1500" b="1">
                <a:solidFill>
                  <a:srgbClr val="0B3D5C"/>
                </a:solidFill>
                <a:latin typeface="Aptos"/>
              </a:defRPr>
            </a:pPr>
            <a:r>
              <a:t>Synthetic perception</a:t>
            </a:r>
          </a:p>
        </p:txBody>
      </p:sp>
      <p:sp>
        <p:nvSpPr>
          <p:cNvPr id="10" name="TextBox 9"/>
          <p:cNvSpPr txBox="1"/>
          <p:nvPr/>
        </p:nvSpPr>
        <p:spPr>
          <a:xfrm>
            <a:off x="3886200" y="1353312"/>
            <a:ext cx="7132320" cy="502920"/>
          </a:xfrm>
          <a:prstGeom prst="rect">
            <a:avLst/>
          </a:prstGeom>
          <a:noFill/>
        </p:spPr>
        <p:txBody>
          <a:bodyPr wrap="square" lIns="0" rIns="0" tIns="0" bIns="0" anchor="t">
            <a:spAutoFit/>
          </a:bodyPr>
          <a:lstStyle/>
          <a:p>
            <a:pPr algn="l">
              <a:defRPr sz="1300" b="0">
                <a:solidFill>
                  <a:srgbClr val="5B6B78"/>
                </a:solidFill>
                <a:latin typeface="Aptos"/>
              </a:defRPr>
            </a:pPr>
            <a:r>
              <a:t>Most maps are engineered; realistic set is procedural, not real LiDAR.</a:t>
            </a:r>
          </a:p>
        </p:txBody>
      </p:sp>
      <p:sp>
        <p:nvSpPr>
          <p:cNvPr id="11" name="Rectangle 10"/>
          <p:cNvSpPr/>
          <p:nvPr/>
        </p:nvSpPr>
        <p:spPr>
          <a:xfrm>
            <a:off x="1325880" y="1956816"/>
            <a:ext cx="9738360" cy="10972"/>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304288"/>
            <a:ext cx="411480" cy="320040"/>
          </a:xfrm>
          <a:prstGeom prst="rect">
            <a:avLst/>
          </a:prstGeom>
          <a:noFill/>
        </p:spPr>
        <p:txBody>
          <a:bodyPr wrap="square" lIns="0" rIns="0" tIns="0" bIns="0" anchor="t">
            <a:spAutoFit/>
          </a:bodyPr>
          <a:lstStyle/>
          <a:p>
            <a:pPr algn="l">
              <a:defRPr sz="1600" b="1">
                <a:solidFill>
                  <a:srgbClr val="C44747"/>
                </a:solidFill>
                <a:latin typeface="Georgia"/>
              </a:defRPr>
            </a:pPr>
            <a:r>
              <a:t>2</a:t>
            </a:r>
          </a:p>
        </p:txBody>
      </p:sp>
      <p:sp>
        <p:nvSpPr>
          <p:cNvPr id="13" name="TextBox 12"/>
          <p:cNvSpPr txBox="1"/>
          <p:nvPr/>
        </p:nvSpPr>
        <p:spPr>
          <a:xfrm>
            <a:off x="1325880" y="2212848"/>
            <a:ext cx="2468880" cy="320040"/>
          </a:xfrm>
          <a:prstGeom prst="rect">
            <a:avLst/>
          </a:prstGeom>
          <a:noFill/>
        </p:spPr>
        <p:txBody>
          <a:bodyPr wrap="square" lIns="0" rIns="0" tIns="0" bIns="0" anchor="t">
            <a:spAutoFit/>
          </a:bodyPr>
          <a:lstStyle/>
          <a:p>
            <a:pPr algn="l">
              <a:defRPr sz="1500" b="1">
                <a:solidFill>
                  <a:srgbClr val="0B3D5C"/>
                </a:solidFill>
                <a:latin typeface="Aptos"/>
              </a:defRPr>
            </a:pPr>
            <a:r>
              <a:t>Pre-mission inference</a:t>
            </a:r>
          </a:p>
        </p:txBody>
      </p:sp>
      <p:sp>
        <p:nvSpPr>
          <p:cNvPr id="14" name="TextBox 13"/>
          <p:cNvSpPr txBox="1"/>
          <p:nvPr/>
        </p:nvSpPr>
        <p:spPr>
          <a:xfrm>
            <a:off x="3886200" y="2212848"/>
            <a:ext cx="7132320" cy="502920"/>
          </a:xfrm>
          <a:prstGeom prst="rect">
            <a:avLst/>
          </a:prstGeom>
          <a:noFill/>
        </p:spPr>
        <p:txBody>
          <a:bodyPr wrap="square" lIns="0" rIns="0" tIns="0" bIns="0" anchor="t">
            <a:spAutoFit/>
          </a:bodyPr>
          <a:lstStyle/>
          <a:p>
            <a:pPr algn="l">
              <a:defRPr sz="1300" b="0">
                <a:solidFill>
                  <a:srgbClr val="5B6B78"/>
                </a:solidFill>
                <a:latin typeface="Aptos"/>
              </a:defRPr>
            </a:pPr>
            <a:r>
              <a:t>Current CNN classifies once, not continuously during mission.</a:t>
            </a:r>
          </a:p>
        </p:txBody>
      </p:sp>
      <p:sp>
        <p:nvSpPr>
          <p:cNvPr id="15" name="Rectangle 14"/>
          <p:cNvSpPr/>
          <p:nvPr/>
        </p:nvSpPr>
        <p:spPr>
          <a:xfrm>
            <a:off x="1325880" y="2816352"/>
            <a:ext cx="9738360" cy="10972"/>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163824"/>
            <a:ext cx="411480" cy="320040"/>
          </a:xfrm>
          <a:prstGeom prst="rect">
            <a:avLst/>
          </a:prstGeom>
          <a:noFill/>
        </p:spPr>
        <p:txBody>
          <a:bodyPr wrap="square" lIns="0" rIns="0" tIns="0" bIns="0" anchor="t">
            <a:spAutoFit/>
          </a:bodyPr>
          <a:lstStyle/>
          <a:p>
            <a:pPr algn="l">
              <a:defRPr sz="1600" b="1">
                <a:solidFill>
                  <a:srgbClr val="C44747"/>
                </a:solidFill>
                <a:latin typeface="Georgia"/>
              </a:defRPr>
            </a:pPr>
            <a:r>
              <a:t>3</a:t>
            </a:r>
          </a:p>
        </p:txBody>
      </p:sp>
      <p:sp>
        <p:nvSpPr>
          <p:cNvPr id="17" name="TextBox 16"/>
          <p:cNvSpPr txBox="1"/>
          <p:nvPr/>
        </p:nvSpPr>
        <p:spPr>
          <a:xfrm>
            <a:off x="1325880" y="3072384"/>
            <a:ext cx="2468880" cy="320040"/>
          </a:xfrm>
          <a:prstGeom prst="rect">
            <a:avLst/>
          </a:prstGeom>
          <a:noFill/>
        </p:spPr>
        <p:txBody>
          <a:bodyPr wrap="square" lIns="0" rIns="0" tIns="0" bIns="0" anchor="t">
            <a:spAutoFit/>
          </a:bodyPr>
          <a:lstStyle/>
          <a:p>
            <a:pPr algn="l">
              <a:defRPr sz="1500" b="1">
                <a:solidFill>
                  <a:srgbClr val="0B3D5C"/>
                </a:solidFill>
                <a:latin typeface="Aptos"/>
              </a:defRPr>
            </a:pPr>
            <a:r>
              <a:t>Hand-tuned presets</a:t>
            </a:r>
          </a:p>
        </p:txBody>
      </p:sp>
      <p:sp>
        <p:nvSpPr>
          <p:cNvPr id="18" name="TextBox 17"/>
          <p:cNvSpPr txBox="1"/>
          <p:nvPr/>
        </p:nvSpPr>
        <p:spPr>
          <a:xfrm>
            <a:off x="3886200" y="3072384"/>
            <a:ext cx="7132320" cy="502920"/>
          </a:xfrm>
          <a:prstGeom prst="rect">
            <a:avLst/>
          </a:prstGeom>
          <a:noFill/>
        </p:spPr>
        <p:txBody>
          <a:bodyPr wrap="square" lIns="0" rIns="0" tIns="0" bIns="0" anchor="t">
            <a:spAutoFit/>
          </a:bodyPr>
          <a:lstStyle/>
          <a:p>
            <a:pPr algn="l">
              <a:defRPr sz="1300" b="0">
                <a:solidFill>
                  <a:srgbClr val="5B6B78"/>
                </a:solidFill>
                <a:latin typeface="Aptos"/>
              </a:defRPr>
            </a:pPr>
            <a:r>
              <a:t>CNN chooses parameters but does not learn them end-to-end.</a:t>
            </a:r>
          </a:p>
        </p:txBody>
      </p:sp>
      <p:sp>
        <p:nvSpPr>
          <p:cNvPr id="19" name="Rectangle 18"/>
          <p:cNvSpPr/>
          <p:nvPr/>
        </p:nvSpPr>
        <p:spPr>
          <a:xfrm>
            <a:off x="1325880" y="3675888"/>
            <a:ext cx="9738360" cy="10972"/>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023360"/>
            <a:ext cx="411480" cy="320040"/>
          </a:xfrm>
          <a:prstGeom prst="rect">
            <a:avLst/>
          </a:prstGeom>
          <a:noFill/>
        </p:spPr>
        <p:txBody>
          <a:bodyPr wrap="square" lIns="0" rIns="0" tIns="0" bIns="0" anchor="t">
            <a:spAutoFit/>
          </a:bodyPr>
          <a:lstStyle/>
          <a:p>
            <a:pPr algn="l">
              <a:defRPr sz="1600" b="1">
                <a:solidFill>
                  <a:srgbClr val="C44747"/>
                </a:solidFill>
                <a:latin typeface="Georgia"/>
              </a:defRPr>
            </a:pPr>
            <a:r>
              <a:t>4</a:t>
            </a:r>
          </a:p>
        </p:txBody>
      </p:sp>
      <p:sp>
        <p:nvSpPr>
          <p:cNvPr id="21" name="TextBox 20"/>
          <p:cNvSpPr txBox="1"/>
          <p:nvPr/>
        </p:nvSpPr>
        <p:spPr>
          <a:xfrm>
            <a:off x="1325880" y="3931920"/>
            <a:ext cx="2468880" cy="320040"/>
          </a:xfrm>
          <a:prstGeom prst="rect">
            <a:avLst/>
          </a:prstGeom>
          <a:noFill/>
        </p:spPr>
        <p:txBody>
          <a:bodyPr wrap="square" lIns="0" rIns="0" tIns="0" bIns="0" anchor="t">
            <a:spAutoFit/>
          </a:bodyPr>
          <a:lstStyle/>
          <a:p>
            <a:pPr algn="l">
              <a:defRPr sz="1500" b="1">
                <a:solidFill>
                  <a:srgbClr val="0B3D5C"/>
                </a:solidFill>
                <a:latin typeface="Aptos"/>
              </a:defRPr>
            </a:pPr>
            <a:r>
              <a:t>Simulation scope</a:t>
            </a:r>
          </a:p>
        </p:txBody>
      </p:sp>
      <p:sp>
        <p:nvSpPr>
          <p:cNvPr id="22" name="TextBox 21"/>
          <p:cNvSpPr txBox="1"/>
          <p:nvPr/>
        </p:nvSpPr>
        <p:spPr>
          <a:xfrm>
            <a:off x="3886200" y="3931920"/>
            <a:ext cx="7132320" cy="502920"/>
          </a:xfrm>
          <a:prstGeom prst="rect">
            <a:avLst/>
          </a:prstGeom>
          <a:noFill/>
        </p:spPr>
        <p:txBody>
          <a:bodyPr wrap="square" lIns="0" rIns="0" tIns="0" bIns="0" anchor="t">
            <a:spAutoFit/>
          </a:bodyPr>
          <a:lstStyle/>
          <a:p>
            <a:pPr algn="l">
              <a:defRPr sz="1300" b="0">
                <a:solidFill>
                  <a:srgbClr val="5B6B78"/>
                </a:solidFill>
                <a:latin typeface="Aptos"/>
              </a:defRPr>
            </a:pPr>
            <a:r>
              <a:t>2D kinematics, straight reference and fixed seeds.</a:t>
            </a:r>
          </a:p>
        </p:txBody>
      </p:sp>
      <p:sp>
        <p:nvSpPr>
          <p:cNvPr id="23" name="Rectangle 22"/>
          <p:cNvSpPr/>
          <p:nvPr/>
        </p:nvSpPr>
        <p:spPr>
          <a:xfrm>
            <a:off x="1325880" y="4535424"/>
            <a:ext cx="9738360" cy="10972"/>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882896"/>
            <a:ext cx="411480" cy="320040"/>
          </a:xfrm>
          <a:prstGeom prst="rect">
            <a:avLst/>
          </a:prstGeom>
          <a:noFill/>
        </p:spPr>
        <p:txBody>
          <a:bodyPr wrap="square" lIns="0" rIns="0" tIns="0" bIns="0" anchor="t">
            <a:spAutoFit/>
          </a:bodyPr>
          <a:lstStyle/>
          <a:p>
            <a:pPr algn="l">
              <a:defRPr sz="1600" b="1">
                <a:solidFill>
                  <a:srgbClr val="C44747"/>
                </a:solidFill>
                <a:latin typeface="Georgia"/>
              </a:defRPr>
            </a:pPr>
            <a:r>
              <a:t>5</a:t>
            </a:r>
          </a:p>
        </p:txBody>
      </p:sp>
      <p:sp>
        <p:nvSpPr>
          <p:cNvPr id="25" name="TextBox 24"/>
          <p:cNvSpPr txBox="1"/>
          <p:nvPr/>
        </p:nvSpPr>
        <p:spPr>
          <a:xfrm>
            <a:off x="1325880" y="4791456"/>
            <a:ext cx="2468880" cy="320040"/>
          </a:xfrm>
          <a:prstGeom prst="rect">
            <a:avLst/>
          </a:prstGeom>
          <a:noFill/>
        </p:spPr>
        <p:txBody>
          <a:bodyPr wrap="square" lIns="0" rIns="0" tIns="0" bIns="0" anchor="t">
            <a:spAutoFit/>
          </a:bodyPr>
          <a:lstStyle/>
          <a:p>
            <a:pPr algn="l">
              <a:defRPr sz="1500" b="1">
                <a:solidFill>
                  <a:srgbClr val="0B3D5C"/>
                </a:solidFill>
                <a:latin typeface="Aptos"/>
              </a:defRPr>
            </a:pPr>
            <a:r>
              <a:t>RL maturity</a:t>
            </a:r>
          </a:p>
        </p:txBody>
      </p:sp>
      <p:sp>
        <p:nvSpPr>
          <p:cNvPr id="26" name="TextBox 25"/>
          <p:cNvSpPr txBox="1"/>
          <p:nvPr/>
        </p:nvSpPr>
        <p:spPr>
          <a:xfrm>
            <a:off x="3886200" y="4791456"/>
            <a:ext cx="7132320" cy="502920"/>
          </a:xfrm>
          <a:prstGeom prst="rect">
            <a:avLst/>
          </a:prstGeom>
          <a:noFill/>
        </p:spPr>
        <p:txBody>
          <a:bodyPr wrap="square" lIns="0" rIns="0" tIns="0" bIns="0" anchor="t">
            <a:spAutoFit/>
          </a:bodyPr>
          <a:lstStyle/>
          <a:p>
            <a:pPr algn="l">
              <a:defRPr sz="1300" b="0">
                <a:solidFill>
                  <a:srgbClr val="5B6B78"/>
                </a:solidFill>
                <a:latin typeface="Aptos"/>
              </a:defRPr>
            </a:pPr>
            <a:r>
              <a:t>PPO needs more training and reward shaping before deployment.</a:t>
            </a:r>
          </a:p>
        </p:txBody>
      </p:sp>
      <p:sp>
        <p:nvSpPr>
          <p:cNvPr id="27" name="Rectangle 26"/>
          <p:cNvSpPr/>
          <p:nvPr/>
        </p:nvSpPr>
        <p:spPr>
          <a:xfrm>
            <a:off x="1325880" y="5394960"/>
            <a:ext cx="9738360" cy="10972"/>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results establish feasibility—not physical-robot generalisation.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Conclusion &amp; Next Steps</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CONCLUSION</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20</a:t>
            </a:r>
          </a:p>
        </p:txBody>
      </p:sp>
      <p:sp>
        <p:nvSpPr>
          <p:cNvPr id="8" name="Rounded Rectangle 7"/>
          <p:cNvSpPr/>
          <p:nvPr/>
        </p:nvSpPr>
        <p:spPr>
          <a:xfrm>
            <a:off x="658368" y="1389888"/>
            <a:ext cx="5303520" cy="4315968"/>
          </a:xfrm>
          <a:prstGeom prst="roundRect">
            <a:avLst/>
          </a:prstGeom>
          <a:solidFill>
            <a:srgbClr val="06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19072"/>
            <a:ext cx="4663440" cy="365760"/>
          </a:xfrm>
          <a:prstGeom prst="rect">
            <a:avLst/>
          </a:prstGeom>
          <a:noFill/>
        </p:spPr>
        <p:txBody>
          <a:bodyPr wrap="square" lIns="0" rIns="0" tIns="0" bIns="0" anchor="t">
            <a:spAutoFit/>
          </a:bodyPr>
          <a:lstStyle/>
          <a:p>
            <a:pPr algn="l">
              <a:defRPr sz="2100" b="1">
                <a:solidFill>
                  <a:srgbClr val="FFFFFF"/>
                </a:solidFill>
                <a:latin typeface="Georgia"/>
              </a:defRPr>
            </a:pPr>
            <a:r>
              <a:t>What we demonstrated</a:t>
            </a:r>
          </a:p>
        </p:txBody>
      </p:sp>
      <p:sp>
        <p:nvSpPr>
          <p:cNvPr id="10" name="TextBox 9"/>
          <p:cNvSpPr txBox="1"/>
          <p:nvPr/>
        </p:nvSpPr>
        <p:spPr>
          <a:xfrm>
            <a:off x="960120" y="2340864"/>
            <a:ext cx="4526280" cy="2514600"/>
          </a:xfrm>
          <a:prstGeom prst="rect">
            <a:avLst/>
          </a:prstGeom>
          <a:noFill/>
        </p:spPr>
        <p:txBody>
          <a:bodyPr wrap="square">
            <a:spAutoFit/>
          </a:bodyPr>
          <a:lstStyle/>
          <a:p>
            <a:pPr>
              <a:spcAft>
                <a:spcPts val="800"/>
              </a:spcAft>
              <a:defRPr sz="1400">
                <a:solidFill>
                  <a:srgbClr val="E1EBF0"/>
                </a:solidFill>
                <a:latin typeface="Aptos"/>
              </a:defRPr>
            </a:pPr>
            <a:r>
              <a:t>•  Context-aware SMC adaptation</a:t>
            </a:r>
          </a:p>
          <a:p>
            <a:pPr>
              <a:spcAft>
                <a:spcPts val="800"/>
              </a:spcAft>
              <a:defRPr sz="1400">
                <a:solidFill>
                  <a:srgbClr val="E1EBF0"/>
                </a:solidFill>
                <a:latin typeface="Aptos"/>
              </a:defRPr>
            </a:pPr>
            <a:r>
              <a:t>•  35.7% chattering reduction</a:t>
            </a:r>
          </a:p>
          <a:p>
            <a:pPr>
              <a:spcAft>
                <a:spcPts val="800"/>
              </a:spcAft>
              <a:defRPr sz="1400">
                <a:solidFill>
                  <a:srgbClr val="E1EBF0"/>
                </a:solidFill>
                <a:latin typeface="Aptos"/>
              </a:defRPr>
            </a:pPr>
            <a:r>
              <a:t>•  Up to 32.7% recovery improvement</a:t>
            </a:r>
          </a:p>
          <a:p>
            <a:pPr>
              <a:spcAft>
                <a:spcPts val="800"/>
              </a:spcAft>
              <a:defRPr sz="1400">
                <a:solidFill>
                  <a:srgbClr val="E1EBF0"/>
                </a:solidFill>
                <a:latin typeface="Aptos"/>
              </a:defRPr>
            </a:pPr>
            <a:r>
              <a:t>•  95.1% realistic-map classification</a:t>
            </a:r>
          </a:p>
          <a:p>
            <a:pPr>
              <a:spcAft>
                <a:spcPts val="800"/>
              </a:spcAft>
              <a:defRPr sz="1400">
                <a:solidFill>
                  <a:srgbClr val="E1EBF0"/>
                </a:solidFill>
                <a:latin typeface="Aptos"/>
              </a:defRPr>
            </a:pPr>
            <a:r>
              <a:t>•  Operational 3D digital twin</a:t>
            </a:r>
          </a:p>
        </p:txBody>
      </p:sp>
      <p:sp>
        <p:nvSpPr>
          <p:cNvPr id="11" name="Rounded Rectangle 10"/>
          <p:cNvSpPr/>
          <p:nvPr/>
        </p:nvSpPr>
        <p:spPr>
          <a:xfrm>
            <a:off x="6236208" y="1389888"/>
            <a:ext cx="5303520" cy="4315968"/>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719072"/>
            <a:ext cx="4663440" cy="365760"/>
          </a:xfrm>
          <a:prstGeom prst="rect">
            <a:avLst/>
          </a:prstGeom>
          <a:noFill/>
        </p:spPr>
        <p:txBody>
          <a:bodyPr wrap="square" lIns="0" rIns="0" tIns="0" bIns="0" anchor="t">
            <a:spAutoFit/>
          </a:bodyPr>
          <a:lstStyle/>
          <a:p>
            <a:pPr algn="l">
              <a:defRPr sz="2100" b="1">
                <a:solidFill>
                  <a:srgbClr val="0B3D5C"/>
                </a:solidFill>
                <a:latin typeface="Georgia"/>
              </a:defRPr>
            </a:pPr>
            <a:r>
              <a:t>What comes next</a:t>
            </a:r>
          </a:p>
        </p:txBody>
      </p:sp>
      <p:sp>
        <p:nvSpPr>
          <p:cNvPr id="13" name="TextBox 12"/>
          <p:cNvSpPr txBox="1"/>
          <p:nvPr/>
        </p:nvSpPr>
        <p:spPr>
          <a:xfrm>
            <a:off x="6537960" y="2340864"/>
            <a:ext cx="4526280" cy="2514600"/>
          </a:xfrm>
          <a:prstGeom prst="rect">
            <a:avLst/>
          </a:prstGeom>
          <a:noFill/>
        </p:spPr>
        <p:txBody>
          <a:bodyPr wrap="square">
            <a:spAutoFit/>
          </a:bodyPr>
          <a:lstStyle/>
          <a:p>
            <a:pPr>
              <a:spcAft>
                <a:spcPts val="800"/>
              </a:spcAft>
              <a:defRPr sz="1400">
                <a:solidFill>
                  <a:srgbClr val="1C2732"/>
                </a:solidFill>
                <a:latin typeface="Aptos"/>
              </a:defRPr>
            </a:pPr>
            <a:r>
              <a:t>•  Real LiDAR occupancy maps</a:t>
            </a:r>
          </a:p>
          <a:p>
            <a:pPr>
              <a:spcAft>
                <a:spcPts val="800"/>
              </a:spcAft>
              <a:defRPr sz="1400">
                <a:solidFill>
                  <a:srgbClr val="1C2732"/>
                </a:solidFill>
                <a:latin typeface="Aptos"/>
              </a:defRPr>
            </a:pPr>
            <a:r>
              <a:t>•  Continuous online inference</a:t>
            </a:r>
          </a:p>
          <a:p>
            <a:pPr>
              <a:spcAft>
                <a:spcPts val="800"/>
              </a:spcAft>
              <a:defRPr sz="1400">
                <a:solidFill>
                  <a:srgbClr val="1C2732"/>
                </a:solidFill>
                <a:latin typeface="Aptos"/>
              </a:defRPr>
            </a:pPr>
            <a:r>
              <a:t>•  Monte-Carlo confidence intervals</a:t>
            </a:r>
          </a:p>
          <a:p>
            <a:pPr>
              <a:spcAft>
                <a:spcPts val="800"/>
              </a:spcAft>
              <a:defRPr sz="1400">
                <a:solidFill>
                  <a:srgbClr val="1C2732"/>
                </a:solidFill>
                <a:latin typeface="Aptos"/>
              </a:defRPr>
            </a:pPr>
            <a:r>
              <a:t>•  Longer PPO curriculum training</a:t>
            </a:r>
          </a:p>
          <a:p>
            <a:pPr>
              <a:spcAft>
                <a:spcPts val="800"/>
              </a:spcAft>
              <a:defRPr sz="1400">
                <a:solidFill>
                  <a:srgbClr val="1C2732"/>
                </a:solidFill>
                <a:latin typeface="Aptos"/>
              </a:defRPr>
            </a:pPr>
            <a:r>
              <a:t>•  Physical robot validation</a:t>
            </a:r>
          </a:p>
        </p:txBody>
      </p:sp>
      <p:sp>
        <p:nvSpPr>
          <p:cNvPr id="14" name="Rounded Rectangle 13"/>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Explainable AI can improve robust control without replacing the control law.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438"/>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548640"/>
          </a:xfrm>
          <a:prstGeom prst="rect">
            <a:avLst/>
          </a:prstGeom>
          <a:noFill/>
        </p:spPr>
        <p:txBody>
          <a:bodyPr wrap="square" lIns="0" rIns="0" tIns="0" bIns="0" anchor="t">
            <a:spAutoFit/>
          </a:bodyPr>
          <a:lstStyle/>
          <a:p>
            <a:pPr algn="ctr">
              <a:defRPr sz="4200" b="1">
                <a:solidFill>
                  <a:srgbClr val="FFFFFF"/>
                </a:solidFill>
                <a:latin typeface="Georgia"/>
              </a:defRPr>
            </a:pPr>
            <a:r>
              <a:t>Thank you</a:t>
            </a:r>
          </a:p>
        </p:txBody>
      </p:sp>
      <p:sp>
        <p:nvSpPr>
          <p:cNvPr id="4" name="TextBox 3"/>
          <p:cNvSpPr txBox="1"/>
          <p:nvPr/>
        </p:nvSpPr>
        <p:spPr>
          <a:xfrm>
            <a:off x="914400" y="1828800"/>
            <a:ext cx="10332720" cy="457200"/>
          </a:xfrm>
          <a:prstGeom prst="rect">
            <a:avLst/>
          </a:prstGeom>
          <a:noFill/>
        </p:spPr>
        <p:txBody>
          <a:bodyPr wrap="square" lIns="0" rIns="0" tIns="0" bIns="0" anchor="t">
            <a:spAutoFit/>
          </a:bodyPr>
          <a:lstStyle/>
          <a:p>
            <a:pPr algn="ctr">
              <a:defRPr sz="2200" b="1">
                <a:solidFill>
                  <a:srgbClr val="00A98F"/>
                </a:solidFill>
                <a:latin typeface="Aptos"/>
              </a:defRPr>
            </a:pPr>
            <a:r>
              <a:t>Questions &amp; discussion</a:t>
            </a:r>
          </a:p>
        </p:txBody>
      </p:sp>
      <p:sp>
        <p:nvSpPr>
          <p:cNvPr id="5" name="Rounded Rectangle 4"/>
          <p:cNvSpPr/>
          <p:nvPr/>
        </p:nvSpPr>
        <p:spPr>
          <a:xfrm>
            <a:off x="1920240" y="2743200"/>
            <a:ext cx="8321040" cy="1417320"/>
          </a:xfrm>
          <a:prstGeom prst="roundRect">
            <a:avLst/>
          </a:prstGeom>
          <a:solidFill>
            <a:srgbClr val="0F4B69"/>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3063240"/>
            <a:ext cx="7772400" cy="292608"/>
          </a:xfrm>
          <a:prstGeom prst="rect">
            <a:avLst/>
          </a:prstGeom>
          <a:noFill/>
        </p:spPr>
        <p:txBody>
          <a:bodyPr wrap="square" lIns="0" rIns="0" tIns="0" bIns="0" anchor="t">
            <a:spAutoFit/>
          </a:bodyPr>
          <a:lstStyle/>
          <a:p>
            <a:pPr algn="ctr">
              <a:defRPr sz="2000" b="1">
                <a:solidFill>
                  <a:srgbClr val="FFFFFF"/>
                </a:solidFill>
                <a:latin typeface="Aptos"/>
              </a:defRPr>
            </a:pPr>
            <a:r>
              <a:t>CNN-Adaptive SMC · PPO · Digital Twin</a:t>
            </a:r>
          </a:p>
        </p:txBody>
      </p:sp>
      <p:sp>
        <p:nvSpPr>
          <p:cNvPr id="7" name="TextBox 6"/>
          <p:cNvSpPr txBox="1"/>
          <p:nvPr/>
        </p:nvSpPr>
        <p:spPr>
          <a:xfrm>
            <a:off x="2194560" y="3584448"/>
            <a:ext cx="7772400" cy="274320"/>
          </a:xfrm>
          <a:prstGeom prst="rect">
            <a:avLst/>
          </a:prstGeom>
          <a:noFill/>
        </p:spPr>
        <p:txBody>
          <a:bodyPr wrap="square" lIns="0" rIns="0" tIns="0" bIns="0" anchor="t">
            <a:spAutoFit/>
          </a:bodyPr>
          <a:lstStyle/>
          <a:p>
            <a:pPr algn="ctr">
              <a:defRPr sz="1300" b="0">
                <a:solidFill>
                  <a:srgbClr val="CDE0E8"/>
                </a:solidFill>
                <a:latin typeface="Aptos"/>
              </a:defRPr>
            </a:pPr>
            <a:r>
              <a:t>github.com/LikhitaYerra/smc_cnn</a:t>
            </a:r>
          </a:p>
        </p:txBody>
      </p:sp>
      <p:pic>
        <p:nvPicPr>
          <p:cNvPr id="8" name="Picture 7" descr="aivancity_logo.png"/>
          <p:cNvPicPr>
            <a:picLocks noChangeAspect="1"/>
          </p:cNvPicPr>
          <p:nvPr/>
        </p:nvPicPr>
        <p:blipFill>
          <a:blip r:embed="rId2"/>
          <a:stretch>
            <a:fillRect/>
          </a:stretch>
        </p:blipFill>
        <p:spPr>
          <a:xfrm>
            <a:off x="5375795" y="4892040"/>
            <a:ext cx="1437361" cy="777240"/>
          </a:xfrm>
          <a:prstGeom prst="rect">
            <a:avLst/>
          </a:prstGeom>
        </p:spPr>
      </p:pic>
      <p:sp>
        <p:nvSpPr>
          <p:cNvPr id="9" name="TextBox 8"/>
          <p:cNvSpPr txBox="1"/>
          <p:nvPr/>
        </p:nvSpPr>
        <p:spPr>
          <a:xfrm>
            <a:off x="914400" y="5989320"/>
            <a:ext cx="10332720" cy="274320"/>
          </a:xfrm>
          <a:prstGeom prst="rect">
            <a:avLst/>
          </a:prstGeom>
          <a:noFill/>
        </p:spPr>
        <p:txBody>
          <a:bodyPr wrap="square" lIns="0" rIns="0" tIns="0" bIns="0" anchor="t">
            <a:spAutoFit/>
          </a:bodyPr>
          <a:lstStyle/>
          <a:p>
            <a:pPr algn="ctr">
              <a:defRPr sz="1200" b="0">
                <a:solidFill>
                  <a:srgbClr val="FFFFFF"/>
                </a:solidFill>
                <a:latin typeface="Aptos"/>
              </a:defRPr>
            </a:pPr>
            <a:r>
              <a:t>Supervisor · Prof. Vishvjit Thakar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Backup: Scenario-Specific SMC Presets</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APPENDIX</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22</a:t>
            </a:r>
          </a:p>
        </p:txBody>
      </p:sp>
      <p:graphicFrame>
        <p:nvGraphicFramePr>
          <p:cNvPr id="8" name="Table 7"/>
          <p:cNvGraphicFramePr>
            <a:graphicFrameLocks noGrp="1"/>
          </p:cNvGraphicFramePr>
          <p:nvPr/>
        </p:nvGraphicFramePr>
        <p:xfrm>
          <a:off x="914400" y="1417320"/>
          <a:ext cx="10378440" cy="4343400"/>
        </p:xfrm>
        <a:graphic>
          <a:graphicData uri="http://schemas.openxmlformats.org/drawingml/2006/table">
            <a:tbl>
              <a:tblPr firstRow="1" bandRow="1">
                <a:tableStyleId>{5C22544A-7EE6-4342-B048-85BDC9FD1C3A}</a:tableStyleId>
              </a:tblPr>
              <a:tblGrid>
                <a:gridCol w="1729740"/>
                <a:gridCol w="1729740"/>
                <a:gridCol w="1729740"/>
                <a:gridCol w="1729740"/>
                <a:gridCol w="1729740"/>
                <a:gridCol w="1729740"/>
              </a:tblGrid>
              <a:tr h="542925">
                <a:tc>
                  <a:txBody>
                    <a:bodyPr/>
                    <a:lstStyle/>
                    <a:p>
                      <a:pPr algn="ctr">
                        <a:defRPr sz="1300" b="1">
                          <a:solidFill>
                            <a:srgbClr val="FFFFFF"/>
                          </a:solidFill>
                          <a:latin typeface="Aptos"/>
                        </a:defRPr>
                      </a:pPr>
                      <a:r>
                        <a:t>Parameter</a:t>
                      </a:r>
                    </a:p>
                  </a:txBody>
                  <a:tcPr>
                    <a:solidFill>
                      <a:srgbClr val="0B3D5C"/>
                    </a:solidFill>
                  </a:tcPr>
                </a:tc>
                <a:tc>
                  <a:txBody>
                    <a:bodyPr/>
                    <a:lstStyle/>
                    <a:p>
                      <a:pPr algn="ctr">
                        <a:defRPr sz="1300" b="1">
                          <a:solidFill>
                            <a:srgbClr val="FFFFFF"/>
                          </a:solidFill>
                          <a:latin typeface="Aptos"/>
                        </a:defRPr>
                      </a:pPr>
                      <a:r>
                        <a:t>Normal</a:t>
                      </a:r>
                    </a:p>
                  </a:txBody>
                  <a:tcPr>
                    <a:solidFill>
                      <a:srgbClr val="0B3D5C"/>
                    </a:solidFill>
                  </a:tcPr>
                </a:tc>
                <a:tc>
                  <a:txBody>
                    <a:bodyPr/>
                    <a:lstStyle/>
                    <a:p>
                      <a:pPr algn="ctr">
                        <a:defRPr sz="1300" b="1">
                          <a:solidFill>
                            <a:srgbClr val="FFFFFF"/>
                          </a:solidFill>
                          <a:latin typeface="Aptos"/>
                        </a:defRPr>
                      </a:pPr>
                      <a:r>
                        <a:t>Noise</a:t>
                      </a:r>
                    </a:p>
                  </a:txBody>
                  <a:tcPr>
                    <a:solidFill>
                      <a:srgbClr val="0B3D5C"/>
                    </a:solidFill>
                  </a:tcPr>
                </a:tc>
                <a:tc>
                  <a:txBody>
                    <a:bodyPr/>
                    <a:lstStyle/>
                    <a:p>
                      <a:pPr algn="ctr">
                        <a:defRPr sz="1300" b="1">
                          <a:solidFill>
                            <a:srgbClr val="FFFFFF"/>
                          </a:solidFill>
                          <a:latin typeface="Aptos"/>
                        </a:defRPr>
                      </a:pPr>
                      <a:r>
                        <a:t>Disturb.</a:t>
                      </a:r>
                    </a:p>
                  </a:txBody>
                  <a:tcPr>
                    <a:solidFill>
                      <a:srgbClr val="0B3D5C"/>
                    </a:solidFill>
                  </a:tcPr>
                </a:tc>
                <a:tc>
                  <a:txBody>
                    <a:bodyPr/>
                    <a:lstStyle/>
                    <a:p>
                      <a:pPr algn="ctr">
                        <a:defRPr sz="1300" b="1">
                          <a:solidFill>
                            <a:srgbClr val="FFFFFF"/>
                          </a:solidFill>
                          <a:latin typeface="Aptos"/>
                        </a:defRPr>
                      </a:pPr>
                      <a:r>
                        <a:t>Slip</a:t>
                      </a:r>
                    </a:p>
                  </a:txBody>
                  <a:tcPr>
                    <a:solidFill>
                      <a:srgbClr val="0B3D5C"/>
                    </a:solidFill>
                  </a:tcPr>
                </a:tc>
                <a:tc>
                  <a:txBody>
                    <a:bodyPr/>
                    <a:lstStyle/>
                    <a:p>
                      <a:pPr algn="ctr">
                        <a:defRPr sz="1300" b="1">
                          <a:solidFill>
                            <a:srgbClr val="FFFFFF"/>
                          </a:solidFill>
                          <a:latin typeface="Aptos"/>
                        </a:defRPr>
                      </a:pPr>
                      <a:r>
                        <a:t>Combined</a:t>
                      </a:r>
                    </a:p>
                  </a:txBody>
                  <a:tcPr>
                    <a:solidFill>
                      <a:srgbClr val="0B3D5C"/>
                    </a:solidFill>
                  </a:tcPr>
                </a:tc>
              </a:tr>
              <a:tr h="542925">
                <a:tc>
                  <a:txBody>
                    <a:bodyPr/>
                    <a:lstStyle/>
                    <a:p>
                      <a:pPr algn="ctr">
                        <a:defRPr sz="1300" b="1">
                          <a:solidFill>
                            <a:srgbClr val="1C2732"/>
                          </a:solidFill>
                          <a:latin typeface="Aptos"/>
                        </a:defRPr>
                      </a:pPr>
                      <a:r>
                        <a:t>λx</a:t>
                      </a:r>
                    </a:p>
                  </a:txBody>
                  <a:tcPr>
                    <a:solidFill>
                      <a:srgbClr val="F4F7F9"/>
                    </a:solidFill>
                  </a:tcPr>
                </a:tc>
                <a:tc>
                  <a:txBody>
                    <a:bodyPr/>
                    <a:lstStyle/>
                    <a:p>
                      <a:pPr algn="ctr">
                        <a:defRPr sz="1300" b="0">
                          <a:solidFill>
                            <a:srgbClr val="1C2732"/>
                          </a:solidFill>
                          <a:latin typeface="Aptos"/>
                        </a:defRPr>
                      </a:pPr>
                      <a:r>
                        <a:t>2.00</a:t>
                      </a:r>
                    </a:p>
                  </a:txBody>
                  <a:tcPr>
                    <a:solidFill>
                      <a:srgbClr val="F4F7F9"/>
                    </a:solidFill>
                  </a:tcPr>
                </a:tc>
                <a:tc>
                  <a:txBody>
                    <a:bodyPr/>
                    <a:lstStyle/>
                    <a:p>
                      <a:pPr algn="ctr">
                        <a:defRPr sz="1300" b="0">
                          <a:solidFill>
                            <a:srgbClr val="1C2732"/>
                          </a:solidFill>
                          <a:latin typeface="Aptos"/>
                        </a:defRPr>
                      </a:pPr>
                      <a:r>
                        <a:t>2.00</a:t>
                      </a:r>
                    </a:p>
                  </a:txBody>
                  <a:tcPr>
                    <a:solidFill>
                      <a:srgbClr val="F4F7F9"/>
                    </a:solidFill>
                  </a:tcPr>
                </a:tc>
                <a:tc>
                  <a:txBody>
                    <a:bodyPr/>
                    <a:lstStyle/>
                    <a:p>
                      <a:pPr algn="ctr">
                        <a:defRPr sz="1300" b="0">
                          <a:solidFill>
                            <a:srgbClr val="1C2732"/>
                          </a:solidFill>
                          <a:latin typeface="Aptos"/>
                        </a:defRPr>
                      </a:pPr>
                      <a:r>
                        <a:t>2.15</a:t>
                      </a:r>
                    </a:p>
                  </a:txBody>
                  <a:tcPr>
                    <a:solidFill>
                      <a:srgbClr val="F4F7F9"/>
                    </a:solidFill>
                  </a:tcPr>
                </a:tc>
                <a:tc>
                  <a:txBody>
                    <a:bodyPr/>
                    <a:lstStyle/>
                    <a:p>
                      <a:pPr algn="ctr">
                        <a:defRPr sz="1300" b="0">
                          <a:solidFill>
                            <a:srgbClr val="1C2732"/>
                          </a:solidFill>
                          <a:latin typeface="Aptos"/>
                        </a:defRPr>
                      </a:pPr>
                      <a:r>
                        <a:t>2.20</a:t>
                      </a:r>
                    </a:p>
                  </a:txBody>
                  <a:tcPr>
                    <a:solidFill>
                      <a:srgbClr val="F4F7F9"/>
                    </a:solidFill>
                  </a:tcPr>
                </a:tc>
                <a:tc>
                  <a:txBody>
                    <a:bodyPr/>
                    <a:lstStyle/>
                    <a:p>
                      <a:pPr algn="ctr">
                        <a:defRPr sz="1300" b="0">
                          <a:solidFill>
                            <a:srgbClr val="1C2732"/>
                          </a:solidFill>
                          <a:latin typeface="Aptos"/>
                        </a:defRPr>
                      </a:pPr>
                      <a:r>
                        <a:t>2.15</a:t>
                      </a:r>
                    </a:p>
                  </a:txBody>
                  <a:tcPr>
                    <a:solidFill>
                      <a:srgbClr val="F4F7F9"/>
                    </a:solidFill>
                  </a:tcPr>
                </a:tc>
              </a:tr>
              <a:tr h="542925">
                <a:tc>
                  <a:txBody>
                    <a:bodyPr/>
                    <a:lstStyle/>
                    <a:p>
                      <a:pPr algn="ctr">
                        <a:defRPr sz="1300" b="1">
                          <a:solidFill>
                            <a:srgbClr val="1C2732"/>
                          </a:solidFill>
                          <a:latin typeface="Aptos"/>
                        </a:defRPr>
                      </a:pPr>
                      <a:r>
                        <a:t>λy</a:t>
                      </a:r>
                    </a:p>
                  </a:txBody>
                  <a:tcPr>
                    <a:solidFill>
                      <a:srgbClr val="FFFFFF"/>
                    </a:solidFill>
                  </a:tcPr>
                </a:tc>
                <a:tc>
                  <a:txBody>
                    <a:bodyPr/>
                    <a:lstStyle/>
                    <a:p>
                      <a:pPr algn="ctr">
                        <a:defRPr sz="1300" b="0">
                          <a:solidFill>
                            <a:srgbClr val="1C2732"/>
                          </a:solidFill>
                          <a:latin typeface="Aptos"/>
                        </a:defRPr>
                      </a:pPr>
                      <a:r>
                        <a:t>2.00</a:t>
                      </a:r>
                    </a:p>
                  </a:txBody>
                  <a:tcPr>
                    <a:solidFill>
                      <a:srgbClr val="FFFFFF"/>
                    </a:solidFill>
                  </a:tcPr>
                </a:tc>
                <a:tc>
                  <a:txBody>
                    <a:bodyPr/>
                    <a:lstStyle/>
                    <a:p>
                      <a:pPr algn="ctr">
                        <a:defRPr sz="1300" b="0">
                          <a:solidFill>
                            <a:srgbClr val="1C2732"/>
                          </a:solidFill>
                          <a:latin typeface="Aptos"/>
                        </a:defRPr>
                      </a:pPr>
                      <a:r>
                        <a:t>2.10</a:t>
                      </a:r>
                    </a:p>
                  </a:txBody>
                  <a:tcPr>
                    <a:solidFill>
                      <a:srgbClr val="FFFFFF"/>
                    </a:solidFill>
                  </a:tcPr>
                </a:tc>
                <a:tc>
                  <a:txBody>
                    <a:bodyPr/>
                    <a:lstStyle/>
                    <a:p>
                      <a:pPr algn="ctr">
                        <a:defRPr sz="1300" b="0">
                          <a:solidFill>
                            <a:srgbClr val="1C2732"/>
                          </a:solidFill>
                          <a:latin typeface="Aptos"/>
                        </a:defRPr>
                      </a:pPr>
                      <a:r>
                        <a:t>2.30</a:t>
                      </a:r>
                    </a:p>
                  </a:txBody>
                  <a:tcPr>
                    <a:solidFill>
                      <a:srgbClr val="FFFFFF"/>
                    </a:solidFill>
                  </a:tcPr>
                </a:tc>
                <a:tc>
                  <a:txBody>
                    <a:bodyPr/>
                    <a:lstStyle/>
                    <a:p>
                      <a:pPr algn="ctr">
                        <a:defRPr sz="1300" b="0">
                          <a:solidFill>
                            <a:srgbClr val="1C2732"/>
                          </a:solidFill>
                          <a:latin typeface="Aptos"/>
                        </a:defRPr>
                      </a:pPr>
                      <a:r>
                        <a:t>2.20</a:t>
                      </a:r>
                    </a:p>
                  </a:txBody>
                  <a:tcPr>
                    <a:solidFill>
                      <a:srgbClr val="FFFFFF"/>
                    </a:solidFill>
                  </a:tcPr>
                </a:tc>
                <a:tc>
                  <a:txBody>
                    <a:bodyPr/>
                    <a:lstStyle/>
                    <a:p>
                      <a:pPr algn="ctr">
                        <a:defRPr sz="1300" b="0">
                          <a:solidFill>
                            <a:srgbClr val="1C2732"/>
                          </a:solidFill>
                          <a:latin typeface="Aptos"/>
                        </a:defRPr>
                      </a:pPr>
                      <a:r>
                        <a:t>2.35</a:t>
                      </a:r>
                    </a:p>
                  </a:txBody>
                  <a:tcPr>
                    <a:solidFill>
                      <a:srgbClr val="FFFFFF"/>
                    </a:solidFill>
                  </a:tcPr>
                </a:tc>
              </a:tr>
              <a:tr h="542925">
                <a:tc>
                  <a:txBody>
                    <a:bodyPr/>
                    <a:lstStyle/>
                    <a:p>
                      <a:pPr algn="ctr">
                        <a:defRPr sz="1300" b="1">
                          <a:solidFill>
                            <a:srgbClr val="1C2732"/>
                          </a:solidFill>
                          <a:latin typeface="Aptos"/>
                        </a:defRPr>
                      </a:pPr>
                      <a:r>
                        <a:t>λθ</a:t>
                      </a:r>
                    </a:p>
                  </a:txBody>
                  <a:tcPr>
                    <a:solidFill>
                      <a:srgbClr val="F4F7F9"/>
                    </a:solidFill>
                  </a:tcPr>
                </a:tc>
                <a:tc>
                  <a:txBody>
                    <a:bodyPr/>
                    <a:lstStyle/>
                    <a:p>
                      <a:pPr algn="ctr">
                        <a:defRPr sz="1300" b="0">
                          <a:solidFill>
                            <a:srgbClr val="1C2732"/>
                          </a:solidFill>
                          <a:latin typeface="Aptos"/>
                        </a:defRPr>
                      </a:pPr>
                      <a:r>
                        <a:t>1.00</a:t>
                      </a:r>
                    </a:p>
                  </a:txBody>
                  <a:tcPr>
                    <a:solidFill>
                      <a:srgbClr val="F4F7F9"/>
                    </a:solidFill>
                  </a:tcPr>
                </a:tc>
                <a:tc>
                  <a:txBody>
                    <a:bodyPr/>
                    <a:lstStyle/>
                    <a:p>
                      <a:pPr algn="ctr">
                        <a:defRPr sz="1300" b="0">
                          <a:solidFill>
                            <a:srgbClr val="1C2732"/>
                          </a:solidFill>
                          <a:latin typeface="Aptos"/>
                        </a:defRPr>
                      </a:pPr>
                      <a:r>
                        <a:t>0.95</a:t>
                      </a:r>
                    </a:p>
                  </a:txBody>
                  <a:tcPr>
                    <a:solidFill>
                      <a:srgbClr val="F4F7F9"/>
                    </a:solidFill>
                  </a:tcPr>
                </a:tc>
                <a:tc>
                  <a:txBody>
                    <a:bodyPr/>
                    <a:lstStyle/>
                    <a:p>
                      <a:pPr algn="ctr">
                        <a:defRPr sz="1300" b="0">
                          <a:solidFill>
                            <a:srgbClr val="1C2732"/>
                          </a:solidFill>
                          <a:latin typeface="Aptos"/>
                        </a:defRPr>
                      </a:pPr>
                      <a:r>
                        <a:t>1.05</a:t>
                      </a:r>
                    </a:p>
                  </a:txBody>
                  <a:tcPr>
                    <a:solidFill>
                      <a:srgbClr val="F4F7F9"/>
                    </a:solidFill>
                  </a:tcPr>
                </a:tc>
                <a:tc>
                  <a:txBody>
                    <a:bodyPr/>
                    <a:lstStyle/>
                    <a:p>
                      <a:pPr algn="ctr">
                        <a:defRPr sz="1300" b="0">
                          <a:solidFill>
                            <a:srgbClr val="1C2732"/>
                          </a:solidFill>
                          <a:latin typeface="Aptos"/>
                        </a:defRPr>
                      </a:pPr>
                      <a:r>
                        <a:t>1.00</a:t>
                      </a:r>
                    </a:p>
                  </a:txBody>
                  <a:tcPr>
                    <a:solidFill>
                      <a:srgbClr val="F4F7F9"/>
                    </a:solidFill>
                  </a:tcPr>
                </a:tc>
                <a:tc>
                  <a:txBody>
                    <a:bodyPr/>
                    <a:lstStyle/>
                    <a:p>
                      <a:pPr algn="ctr">
                        <a:defRPr sz="1300" b="0">
                          <a:solidFill>
                            <a:srgbClr val="1C2732"/>
                          </a:solidFill>
                          <a:latin typeface="Aptos"/>
                        </a:defRPr>
                      </a:pPr>
                      <a:r>
                        <a:t>1.00</a:t>
                      </a:r>
                    </a:p>
                  </a:txBody>
                  <a:tcPr>
                    <a:solidFill>
                      <a:srgbClr val="F4F7F9"/>
                    </a:solidFill>
                  </a:tcPr>
                </a:tc>
              </a:tr>
              <a:tr h="542925">
                <a:tc>
                  <a:txBody>
                    <a:bodyPr/>
                    <a:lstStyle/>
                    <a:p>
                      <a:pPr algn="ctr">
                        <a:defRPr sz="1300" b="1">
                          <a:solidFill>
                            <a:srgbClr val="1C2732"/>
                          </a:solidFill>
                          <a:latin typeface="Aptos"/>
                        </a:defRPr>
                      </a:pPr>
                      <a:r>
                        <a:t>kv</a:t>
                      </a:r>
                    </a:p>
                  </a:txBody>
                  <a:tcPr>
                    <a:solidFill>
                      <a:srgbClr val="FFFFFF"/>
                    </a:solidFill>
                  </a:tcPr>
                </a:tc>
                <a:tc>
                  <a:txBody>
                    <a:bodyPr/>
                    <a:lstStyle/>
                    <a:p>
                      <a:pPr algn="ctr">
                        <a:defRPr sz="1300" b="0">
                          <a:solidFill>
                            <a:srgbClr val="1C2732"/>
                          </a:solidFill>
                          <a:latin typeface="Aptos"/>
                        </a:defRPr>
                      </a:pPr>
                      <a:r>
                        <a:t>0.30</a:t>
                      </a:r>
                    </a:p>
                  </a:txBody>
                  <a:tcPr>
                    <a:solidFill>
                      <a:srgbClr val="FFFFFF"/>
                    </a:solidFill>
                  </a:tcPr>
                </a:tc>
                <a:tc>
                  <a:txBody>
                    <a:bodyPr/>
                    <a:lstStyle/>
                    <a:p>
                      <a:pPr algn="ctr">
                        <a:defRPr sz="1300" b="0">
                          <a:solidFill>
                            <a:srgbClr val="1C2732"/>
                          </a:solidFill>
                          <a:latin typeface="Aptos"/>
                        </a:defRPr>
                      </a:pPr>
                      <a:r>
                        <a:t>0.30</a:t>
                      </a:r>
                    </a:p>
                  </a:txBody>
                  <a:tcPr>
                    <a:solidFill>
                      <a:srgbClr val="FFFFFF"/>
                    </a:solidFill>
                  </a:tcPr>
                </a:tc>
                <a:tc>
                  <a:txBody>
                    <a:bodyPr/>
                    <a:lstStyle/>
                    <a:p>
                      <a:pPr algn="ctr">
                        <a:defRPr sz="1300" b="0">
                          <a:solidFill>
                            <a:srgbClr val="1C2732"/>
                          </a:solidFill>
                          <a:latin typeface="Aptos"/>
                        </a:defRPr>
                      </a:pPr>
                      <a:r>
                        <a:t>0.33</a:t>
                      </a:r>
                    </a:p>
                  </a:txBody>
                  <a:tcPr>
                    <a:solidFill>
                      <a:srgbClr val="FFFFFF"/>
                    </a:solidFill>
                  </a:tcPr>
                </a:tc>
                <a:tc>
                  <a:txBody>
                    <a:bodyPr/>
                    <a:lstStyle/>
                    <a:p>
                      <a:pPr algn="ctr">
                        <a:defRPr sz="1300" b="0">
                          <a:solidFill>
                            <a:srgbClr val="1C2732"/>
                          </a:solidFill>
                          <a:latin typeface="Aptos"/>
                        </a:defRPr>
                      </a:pPr>
                      <a:r>
                        <a:t>0.35</a:t>
                      </a:r>
                    </a:p>
                  </a:txBody>
                  <a:tcPr>
                    <a:solidFill>
                      <a:srgbClr val="FFFFFF"/>
                    </a:solidFill>
                  </a:tcPr>
                </a:tc>
                <a:tc>
                  <a:txBody>
                    <a:bodyPr/>
                    <a:lstStyle/>
                    <a:p>
                      <a:pPr algn="ctr">
                        <a:defRPr sz="1300" b="0">
                          <a:solidFill>
                            <a:srgbClr val="1C2732"/>
                          </a:solidFill>
                          <a:latin typeface="Aptos"/>
                        </a:defRPr>
                      </a:pPr>
                      <a:r>
                        <a:t>0.35</a:t>
                      </a:r>
                    </a:p>
                  </a:txBody>
                  <a:tcPr>
                    <a:solidFill>
                      <a:srgbClr val="FFFFFF"/>
                    </a:solidFill>
                  </a:tcPr>
                </a:tc>
              </a:tr>
              <a:tr h="542925">
                <a:tc>
                  <a:txBody>
                    <a:bodyPr/>
                    <a:lstStyle/>
                    <a:p>
                      <a:pPr algn="ctr">
                        <a:defRPr sz="1300" b="1">
                          <a:solidFill>
                            <a:srgbClr val="1C2732"/>
                          </a:solidFill>
                          <a:latin typeface="Aptos"/>
                        </a:defRPr>
                      </a:pPr>
                      <a:r>
                        <a:t>kω</a:t>
                      </a:r>
                    </a:p>
                  </a:txBody>
                  <a:tcPr>
                    <a:solidFill>
                      <a:srgbClr val="F4F7F9"/>
                    </a:solidFill>
                  </a:tcPr>
                </a:tc>
                <a:tc>
                  <a:txBody>
                    <a:bodyPr/>
                    <a:lstStyle/>
                    <a:p>
                      <a:pPr algn="ctr">
                        <a:defRPr sz="1300" b="0">
                          <a:solidFill>
                            <a:srgbClr val="1C2732"/>
                          </a:solidFill>
                          <a:latin typeface="Aptos"/>
                        </a:defRPr>
                      </a:pPr>
                      <a:r>
                        <a:t>0.80</a:t>
                      </a:r>
                    </a:p>
                  </a:txBody>
                  <a:tcPr>
                    <a:solidFill>
                      <a:srgbClr val="F4F7F9"/>
                    </a:solidFill>
                  </a:tcPr>
                </a:tc>
                <a:tc>
                  <a:txBody>
                    <a:bodyPr/>
                    <a:lstStyle/>
                    <a:p>
                      <a:pPr algn="ctr">
                        <a:defRPr sz="1300" b="0">
                          <a:solidFill>
                            <a:srgbClr val="1C2732"/>
                          </a:solidFill>
                          <a:latin typeface="Aptos"/>
                        </a:defRPr>
                      </a:pPr>
                      <a:r>
                        <a:t>0.78</a:t>
                      </a:r>
                    </a:p>
                  </a:txBody>
                  <a:tcPr>
                    <a:solidFill>
                      <a:srgbClr val="F4F7F9"/>
                    </a:solidFill>
                  </a:tcPr>
                </a:tc>
                <a:tc>
                  <a:txBody>
                    <a:bodyPr/>
                    <a:lstStyle/>
                    <a:p>
                      <a:pPr algn="ctr">
                        <a:defRPr sz="1300" b="0">
                          <a:solidFill>
                            <a:srgbClr val="1C2732"/>
                          </a:solidFill>
                          <a:latin typeface="Aptos"/>
                        </a:defRPr>
                      </a:pPr>
                      <a:r>
                        <a:t>0.88</a:t>
                      </a:r>
                    </a:p>
                  </a:txBody>
                  <a:tcPr>
                    <a:solidFill>
                      <a:srgbClr val="F4F7F9"/>
                    </a:solidFill>
                  </a:tcPr>
                </a:tc>
                <a:tc>
                  <a:txBody>
                    <a:bodyPr/>
                    <a:lstStyle/>
                    <a:p>
                      <a:pPr algn="ctr">
                        <a:defRPr sz="1300" b="0">
                          <a:solidFill>
                            <a:srgbClr val="1C2732"/>
                          </a:solidFill>
                          <a:latin typeface="Aptos"/>
                        </a:defRPr>
                      </a:pPr>
                      <a:r>
                        <a:t>0.86</a:t>
                      </a:r>
                    </a:p>
                  </a:txBody>
                  <a:tcPr>
                    <a:solidFill>
                      <a:srgbClr val="F4F7F9"/>
                    </a:solidFill>
                  </a:tcPr>
                </a:tc>
                <a:tc>
                  <a:txBody>
                    <a:bodyPr/>
                    <a:lstStyle/>
                    <a:p>
                      <a:pPr algn="ctr">
                        <a:defRPr sz="1300" b="0">
                          <a:solidFill>
                            <a:srgbClr val="1C2732"/>
                          </a:solidFill>
                          <a:latin typeface="Aptos"/>
                        </a:defRPr>
                      </a:pPr>
                      <a:r>
                        <a:t>0.88</a:t>
                      </a:r>
                    </a:p>
                  </a:txBody>
                  <a:tcPr>
                    <a:solidFill>
                      <a:srgbClr val="F4F7F9"/>
                    </a:solidFill>
                  </a:tcPr>
                </a:tc>
              </a:tr>
              <a:tr h="542925">
                <a:tc>
                  <a:txBody>
                    <a:bodyPr/>
                    <a:lstStyle/>
                    <a:p>
                      <a:pPr algn="ctr">
                        <a:defRPr sz="1300" b="1">
                          <a:solidFill>
                            <a:srgbClr val="1C2732"/>
                          </a:solidFill>
                          <a:latin typeface="Aptos"/>
                        </a:defRPr>
                      </a:pPr>
                      <a:r>
                        <a:t>φ</a:t>
                      </a:r>
                    </a:p>
                  </a:txBody>
                  <a:tcPr>
                    <a:solidFill>
                      <a:srgbClr val="FFFFFF"/>
                    </a:solidFill>
                  </a:tcPr>
                </a:tc>
                <a:tc>
                  <a:txBody>
                    <a:bodyPr/>
                    <a:lstStyle/>
                    <a:p>
                      <a:pPr algn="ctr">
                        <a:defRPr sz="1300" b="0">
                          <a:solidFill>
                            <a:srgbClr val="1C2732"/>
                          </a:solidFill>
                          <a:latin typeface="Aptos"/>
                        </a:defRPr>
                      </a:pPr>
                      <a:r>
                        <a:t>0.50</a:t>
                      </a:r>
                    </a:p>
                  </a:txBody>
                  <a:tcPr>
                    <a:solidFill>
                      <a:srgbClr val="FFFFFF"/>
                    </a:solidFill>
                  </a:tcPr>
                </a:tc>
                <a:tc>
                  <a:txBody>
                    <a:bodyPr/>
                    <a:lstStyle/>
                    <a:p>
                      <a:pPr algn="ctr">
                        <a:defRPr sz="1300" b="0">
                          <a:solidFill>
                            <a:srgbClr val="1C2732"/>
                          </a:solidFill>
                          <a:latin typeface="Aptos"/>
                        </a:defRPr>
                      </a:pPr>
                      <a:r>
                        <a:t>0.58</a:t>
                      </a:r>
                    </a:p>
                  </a:txBody>
                  <a:tcPr>
                    <a:solidFill>
                      <a:srgbClr val="FFFFFF"/>
                    </a:solidFill>
                  </a:tcPr>
                </a:tc>
                <a:tc>
                  <a:txBody>
                    <a:bodyPr/>
                    <a:lstStyle/>
                    <a:p>
                      <a:pPr algn="ctr">
                        <a:defRPr sz="1300" b="0">
                          <a:solidFill>
                            <a:srgbClr val="1C2732"/>
                          </a:solidFill>
                          <a:latin typeface="Aptos"/>
                        </a:defRPr>
                      </a:pPr>
                      <a:r>
                        <a:t>0.52</a:t>
                      </a:r>
                    </a:p>
                  </a:txBody>
                  <a:tcPr>
                    <a:solidFill>
                      <a:srgbClr val="FFFFFF"/>
                    </a:solidFill>
                  </a:tcPr>
                </a:tc>
                <a:tc>
                  <a:txBody>
                    <a:bodyPr/>
                    <a:lstStyle/>
                    <a:p>
                      <a:pPr algn="ctr">
                        <a:defRPr sz="1300" b="0">
                          <a:solidFill>
                            <a:srgbClr val="1C2732"/>
                          </a:solidFill>
                          <a:latin typeface="Aptos"/>
                        </a:defRPr>
                      </a:pPr>
                      <a:r>
                        <a:t>0.62</a:t>
                      </a:r>
                    </a:p>
                  </a:txBody>
                  <a:tcPr>
                    <a:solidFill>
                      <a:srgbClr val="FFFFFF"/>
                    </a:solidFill>
                  </a:tcPr>
                </a:tc>
                <a:tc>
                  <a:txBody>
                    <a:bodyPr/>
                    <a:lstStyle/>
                    <a:p>
                      <a:pPr algn="ctr">
                        <a:defRPr sz="1300" b="0">
                          <a:solidFill>
                            <a:srgbClr val="1C2732"/>
                          </a:solidFill>
                          <a:latin typeface="Aptos"/>
                        </a:defRPr>
                      </a:pPr>
                      <a:r>
                        <a:t>0.62</a:t>
                      </a:r>
                    </a:p>
                  </a:txBody>
                  <a:tcPr>
                    <a:solidFill>
                      <a:srgbClr val="FFFFFF"/>
                    </a:solidFill>
                  </a:tcPr>
                </a:tc>
              </a:tr>
              <a:tr h="542925">
                <a:tc>
                  <a:txBody>
                    <a:bodyPr/>
                    <a:lstStyle/>
                    <a:p>
                      <a:pPr algn="ctr">
                        <a:defRPr sz="1300" b="1">
                          <a:solidFill>
                            <a:srgbClr val="1C2732"/>
                          </a:solidFill>
                          <a:latin typeface="Aptos"/>
                        </a:defRPr>
                      </a:pPr>
                      <a:r>
                        <a:t>αω</a:t>
                      </a:r>
                    </a:p>
                  </a:txBody>
                  <a:tcPr>
                    <a:solidFill>
                      <a:srgbClr val="F4F7F9"/>
                    </a:solidFill>
                  </a:tcPr>
                </a:tc>
                <a:tc>
                  <a:txBody>
                    <a:bodyPr/>
                    <a:lstStyle/>
                    <a:p>
                      <a:pPr algn="ctr">
                        <a:defRPr sz="1300" b="0">
                          <a:solidFill>
                            <a:srgbClr val="1C2732"/>
                          </a:solidFill>
                          <a:latin typeface="Aptos"/>
                        </a:defRPr>
                      </a:pPr>
                      <a:r>
                        <a:t>0.950</a:t>
                      </a:r>
                    </a:p>
                  </a:txBody>
                  <a:tcPr>
                    <a:solidFill>
                      <a:srgbClr val="F4F7F9"/>
                    </a:solidFill>
                  </a:tcPr>
                </a:tc>
                <a:tc>
                  <a:txBody>
                    <a:bodyPr/>
                    <a:lstStyle/>
                    <a:p>
                      <a:pPr algn="ctr">
                        <a:defRPr sz="1300" b="0">
                          <a:solidFill>
                            <a:srgbClr val="1C2732"/>
                          </a:solidFill>
                          <a:latin typeface="Aptos"/>
                        </a:defRPr>
                      </a:pPr>
                      <a:r>
                        <a:t>0.965</a:t>
                      </a:r>
                    </a:p>
                  </a:txBody>
                  <a:tcPr>
                    <a:solidFill>
                      <a:srgbClr val="F4F7F9"/>
                    </a:solidFill>
                  </a:tcPr>
                </a:tc>
                <a:tc>
                  <a:txBody>
                    <a:bodyPr/>
                    <a:lstStyle/>
                    <a:p>
                      <a:pPr algn="ctr">
                        <a:defRPr sz="1300" b="0">
                          <a:solidFill>
                            <a:srgbClr val="1C2732"/>
                          </a:solidFill>
                          <a:latin typeface="Aptos"/>
                        </a:defRPr>
                      </a:pPr>
                      <a:r>
                        <a:t>0.945</a:t>
                      </a:r>
                    </a:p>
                  </a:txBody>
                  <a:tcPr>
                    <a:solidFill>
                      <a:srgbClr val="F4F7F9"/>
                    </a:solidFill>
                  </a:tcPr>
                </a:tc>
                <a:tc>
                  <a:txBody>
                    <a:bodyPr/>
                    <a:lstStyle/>
                    <a:p>
                      <a:pPr algn="ctr">
                        <a:defRPr sz="1300" b="0">
                          <a:solidFill>
                            <a:srgbClr val="1C2732"/>
                          </a:solidFill>
                          <a:latin typeface="Aptos"/>
                        </a:defRPr>
                      </a:pPr>
                      <a:r>
                        <a:t>0.960</a:t>
                      </a:r>
                    </a:p>
                  </a:txBody>
                  <a:tcPr>
                    <a:solidFill>
                      <a:srgbClr val="F4F7F9"/>
                    </a:solidFill>
                  </a:tcPr>
                </a:tc>
                <a:tc>
                  <a:txBody>
                    <a:bodyPr/>
                    <a:lstStyle/>
                    <a:p>
                      <a:pPr algn="ctr">
                        <a:defRPr sz="1300" b="0">
                          <a:solidFill>
                            <a:srgbClr val="1C2732"/>
                          </a:solidFill>
                          <a:latin typeface="Aptos"/>
                        </a:defRPr>
                      </a:pPr>
                      <a:r>
                        <a:t>0.965</a:t>
                      </a:r>
                    </a:p>
                  </a:txBody>
                  <a:tcPr>
                    <a:solidFill>
                      <a:srgbClr val="F4F7F9"/>
                    </a:solidFill>
                  </a:tcPr>
                </a:tc>
              </a:tr>
            </a:tbl>
          </a:graphicData>
        </a:graphic>
      </p:graphicFrame>
      <p:sp>
        <p:nvSpPr>
          <p:cNvPr id="9" name="Rounded Rectangle 8"/>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Preset values encode the engineering rationale shown on Slide 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Backup: Stability Argument</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APPENDIX</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23</a:t>
            </a:r>
          </a:p>
        </p:txBody>
      </p:sp>
      <p:sp>
        <p:nvSpPr>
          <p:cNvPr id="8" name="Rounded Rectangle 7"/>
          <p:cNvSpPr/>
          <p:nvPr/>
        </p:nvSpPr>
        <p:spPr>
          <a:xfrm>
            <a:off x="777240" y="1463040"/>
            <a:ext cx="10652760" cy="3383280"/>
          </a:xfrm>
          <a:prstGeom prst="roundRect">
            <a:avLst/>
          </a:prstGeom>
          <a:solidFill>
            <a:srgbClr val="F4F7F9"/>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9966960" cy="502920"/>
          </a:xfrm>
          <a:prstGeom prst="rect">
            <a:avLst/>
          </a:prstGeom>
          <a:noFill/>
        </p:spPr>
        <p:txBody>
          <a:bodyPr wrap="square" lIns="0" rIns="0" tIns="0" bIns="0" anchor="t">
            <a:spAutoFit/>
          </a:bodyPr>
          <a:lstStyle/>
          <a:p>
            <a:pPr algn="ctr">
              <a:defRPr sz="2500" b="1">
                <a:solidFill>
                  <a:srgbClr val="0B3D5C"/>
                </a:solidFill>
                <a:latin typeface="Georgia"/>
              </a:defRPr>
            </a:pPr>
            <a:r>
              <a:t>V = ½(sₓ² + sᵧ² + sθ²) ≥ 0</a:t>
            </a:r>
          </a:p>
        </p:txBody>
      </p:sp>
      <p:sp>
        <p:nvSpPr>
          <p:cNvPr id="10" name="TextBox 9"/>
          <p:cNvSpPr txBox="1"/>
          <p:nvPr/>
        </p:nvSpPr>
        <p:spPr>
          <a:xfrm>
            <a:off x="1097280" y="2633472"/>
            <a:ext cx="9966960" cy="548640"/>
          </a:xfrm>
          <a:prstGeom prst="rect">
            <a:avLst/>
          </a:prstGeom>
          <a:noFill/>
        </p:spPr>
        <p:txBody>
          <a:bodyPr wrap="square" lIns="0" rIns="0" tIns="0" bIns="0" anchor="t">
            <a:spAutoFit/>
          </a:bodyPr>
          <a:lstStyle/>
          <a:p>
            <a:pPr algn="ctr">
              <a:defRPr sz="2300" b="0">
                <a:solidFill>
                  <a:srgbClr val="062438"/>
                </a:solidFill>
                <a:latin typeface="Georgia"/>
              </a:defRPr>
            </a:pPr>
            <a:r>
              <a:t>V̇ ≤ −kω Σ sᵢ tanh(sᵢ/φ) + d̄ ‖s‖</a:t>
            </a:r>
          </a:p>
        </p:txBody>
      </p:sp>
      <p:sp>
        <p:nvSpPr>
          <p:cNvPr id="11" name="TextBox 10"/>
          <p:cNvSpPr txBox="1"/>
          <p:nvPr/>
        </p:nvSpPr>
        <p:spPr>
          <a:xfrm>
            <a:off x="1097280" y="3474720"/>
            <a:ext cx="9966960" cy="685800"/>
          </a:xfrm>
          <a:prstGeom prst="rect">
            <a:avLst/>
          </a:prstGeom>
          <a:noFill/>
        </p:spPr>
        <p:txBody>
          <a:bodyPr wrap="square" lIns="0" rIns="0" tIns="0" bIns="0" anchor="t">
            <a:spAutoFit/>
          </a:bodyPr>
          <a:lstStyle/>
          <a:p>
            <a:pPr algn="ctr">
              <a:defRPr sz="1700" b="1">
                <a:solidFill>
                  <a:srgbClr val="00A98F"/>
                </a:solidFill>
                <a:latin typeface="Aptos"/>
              </a:defRPr>
            </a:pPr>
            <a:r>
              <a:t>V̇ &lt; 0 outside a bounded region  →  sliding surfaces are uniformly ultimately bounded</a:t>
            </a:r>
          </a:p>
        </p:txBody>
      </p:sp>
      <p:sp>
        <p:nvSpPr>
          <p:cNvPr id="12" name="TextBox 11"/>
          <p:cNvSpPr txBox="1"/>
          <p:nvPr/>
        </p:nvSpPr>
        <p:spPr>
          <a:xfrm>
            <a:off x="1097280" y="4297680"/>
            <a:ext cx="9966960" cy="365760"/>
          </a:xfrm>
          <a:prstGeom prst="rect">
            <a:avLst/>
          </a:prstGeom>
          <a:noFill/>
        </p:spPr>
        <p:txBody>
          <a:bodyPr wrap="square" lIns="0" rIns="0" tIns="0" bIns="0" anchor="t">
            <a:spAutoFit/>
          </a:bodyPr>
          <a:lstStyle/>
          <a:p>
            <a:pPr algn="ctr">
              <a:defRPr sz="1500" b="1">
                <a:solidFill>
                  <a:srgbClr val="C44747"/>
                </a:solidFill>
                <a:latin typeface="Aptos"/>
              </a:defRPr>
            </a:pPr>
            <a:r>
              <a:t>Wider φ → lower chattering, larger ultimate tracking-error bound</a:t>
            </a:r>
          </a:p>
        </p:txBody>
      </p:sp>
      <p:sp>
        <p:nvSpPr>
          <p:cNvPr id="13" name="Rounded Rectangle 12"/>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The theory predicts the exact smoothness–accuracy trade-off observed in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38328"/>
            <a:ext cx="10881360" cy="411480"/>
          </a:xfrm>
          <a:prstGeom prst="rect">
            <a:avLst/>
          </a:prstGeom>
          <a:noFill/>
        </p:spPr>
        <p:txBody>
          <a:bodyPr wrap="square" lIns="0" rIns="0" tIns="0" bIns="0" anchor="t">
            <a:spAutoFit/>
          </a:bodyPr>
          <a:lstStyle/>
          <a:p>
            <a:pPr algn="l">
              <a:defRPr sz="2600" b="1">
                <a:solidFill>
                  <a:srgbClr val="062438"/>
                </a:solidFill>
                <a:latin typeface="Georgia"/>
              </a:defRPr>
            </a:pPr>
            <a:r>
              <a:t>Backup: Implementation &amp; Reproducibility</a:t>
            </a:r>
          </a:p>
        </p:txBody>
      </p:sp>
      <p:sp>
        <p:nvSpPr>
          <p:cNvPr id="4" name="TextBox 3"/>
          <p:cNvSpPr txBox="1"/>
          <p:nvPr/>
        </p:nvSpPr>
        <p:spPr>
          <a:xfrm>
            <a:off x="594360" y="841248"/>
            <a:ext cx="4572000" cy="228600"/>
          </a:xfrm>
          <a:prstGeom prst="rect">
            <a:avLst/>
          </a:prstGeom>
          <a:noFill/>
        </p:spPr>
        <p:txBody>
          <a:bodyPr wrap="square" lIns="0" rIns="0" tIns="0" bIns="0" anchor="t">
            <a:spAutoFit/>
          </a:bodyPr>
          <a:lstStyle/>
          <a:p>
            <a:pPr algn="l">
              <a:defRPr sz="900" b="1">
                <a:solidFill>
                  <a:srgbClr val="00A98F"/>
                </a:solidFill>
                <a:latin typeface="Aptos"/>
              </a:defRPr>
            </a:pPr>
            <a:r>
              <a:t>APPENDIX</a:t>
            </a:r>
          </a:p>
        </p:txBody>
      </p:sp>
      <p:sp>
        <p:nvSpPr>
          <p:cNvPr id="5" name="Rectangle 4"/>
          <p:cNvSpPr/>
          <p:nvPr/>
        </p:nvSpPr>
        <p:spPr>
          <a:xfrm>
            <a:off x="566928" y="1097280"/>
            <a:ext cx="11018520" cy="18288"/>
          </a:xfrm>
          <a:prstGeom prst="rect">
            <a:avLst/>
          </a:prstGeom>
          <a:solidFill>
            <a:srgbClr val="DA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73952"/>
            <a:ext cx="7772400" cy="201168"/>
          </a:xfrm>
          <a:prstGeom prst="rect">
            <a:avLst/>
          </a:prstGeom>
          <a:noFill/>
        </p:spPr>
        <p:txBody>
          <a:bodyPr wrap="square" lIns="0" rIns="0" tIns="0" bIns="0" anchor="t">
            <a:spAutoFit/>
          </a:bodyPr>
          <a:lstStyle/>
          <a:p>
            <a:pPr algn="l">
              <a:defRPr sz="900" b="0">
                <a:solidFill>
                  <a:srgbClr val="5B6B78"/>
                </a:solidFill>
                <a:latin typeface="Aptos"/>
              </a:defRPr>
            </a:pPr>
            <a:r>
              <a:t>PGE5 · AI Clinic · aivancity</a:t>
            </a:r>
          </a:p>
        </p:txBody>
      </p:sp>
      <p:sp>
        <p:nvSpPr>
          <p:cNvPr id="7" name="TextBox 6"/>
          <p:cNvSpPr txBox="1"/>
          <p:nvPr/>
        </p:nvSpPr>
        <p:spPr>
          <a:xfrm>
            <a:off x="10698480" y="6473952"/>
            <a:ext cx="868680" cy="201168"/>
          </a:xfrm>
          <a:prstGeom prst="rect">
            <a:avLst/>
          </a:prstGeom>
          <a:noFill/>
        </p:spPr>
        <p:txBody>
          <a:bodyPr wrap="square" lIns="0" rIns="0" tIns="0" bIns="0" anchor="t">
            <a:spAutoFit/>
          </a:bodyPr>
          <a:lstStyle/>
          <a:p>
            <a:pPr algn="r">
              <a:defRPr sz="900" b="1">
                <a:solidFill>
                  <a:srgbClr val="0B3D5C"/>
                </a:solidFill>
                <a:latin typeface="Aptos"/>
              </a:defRPr>
            </a:pPr>
            <a:r>
              <a:t>24</a:t>
            </a:r>
          </a:p>
        </p:txBody>
      </p:sp>
      <p:sp>
        <p:nvSpPr>
          <p:cNvPr id="8" name="Rounded Rectangle 7"/>
          <p:cNvSpPr/>
          <p:nvPr/>
        </p:nvSpPr>
        <p:spPr>
          <a:xfrm>
            <a:off x="914400" y="1371600"/>
            <a:ext cx="10287000" cy="6400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371600"/>
            <a:ext cx="82296" cy="640080"/>
          </a:xfrm>
          <a:prstGeom prst="rect">
            <a:avLst/>
          </a:prstGeom>
          <a:solidFill>
            <a:srgbClr val="0B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517904"/>
            <a:ext cx="1828800" cy="274320"/>
          </a:xfrm>
          <a:prstGeom prst="rect">
            <a:avLst/>
          </a:prstGeom>
          <a:noFill/>
        </p:spPr>
        <p:txBody>
          <a:bodyPr wrap="square" lIns="0" rIns="0" tIns="0" bIns="0" anchor="t">
            <a:spAutoFit/>
          </a:bodyPr>
          <a:lstStyle/>
          <a:p>
            <a:pPr algn="l">
              <a:defRPr sz="1400" b="1">
                <a:solidFill>
                  <a:srgbClr val="0B3D5C"/>
                </a:solidFill>
                <a:latin typeface="Aptos"/>
              </a:defRPr>
            </a:pPr>
            <a:r>
              <a:t>Simulation</a:t>
            </a:r>
          </a:p>
        </p:txBody>
      </p:sp>
      <p:sp>
        <p:nvSpPr>
          <p:cNvPr id="11" name="TextBox 10"/>
          <p:cNvSpPr txBox="1"/>
          <p:nvPr/>
        </p:nvSpPr>
        <p:spPr>
          <a:xfrm>
            <a:off x="3337560" y="1517904"/>
            <a:ext cx="7132320" cy="274320"/>
          </a:xfrm>
          <a:prstGeom prst="rect">
            <a:avLst/>
          </a:prstGeom>
          <a:noFill/>
        </p:spPr>
        <p:txBody>
          <a:bodyPr wrap="square" lIns="0" rIns="0" tIns="0" bIns="0" anchor="t">
            <a:spAutoFit/>
          </a:bodyPr>
          <a:lstStyle/>
          <a:p>
            <a:pPr algn="l">
              <a:defRPr sz="1400" b="0">
                <a:solidFill>
                  <a:srgbClr val="1C2732"/>
                </a:solidFill>
                <a:latin typeface="Aptos"/>
              </a:defRPr>
            </a:pPr>
            <a:r>
              <a:t>Python · NumPy · Δt = 0.01 s</a:t>
            </a:r>
          </a:p>
        </p:txBody>
      </p:sp>
      <p:sp>
        <p:nvSpPr>
          <p:cNvPr id="12" name="Rounded Rectangle 11"/>
          <p:cNvSpPr/>
          <p:nvPr/>
        </p:nvSpPr>
        <p:spPr>
          <a:xfrm>
            <a:off x="914400" y="2221992"/>
            <a:ext cx="10287000" cy="6400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221992"/>
            <a:ext cx="82296" cy="640080"/>
          </a:xfrm>
          <a:prstGeom prst="rect">
            <a:avLst/>
          </a:prstGeom>
          <a:solidFill>
            <a:srgbClr val="00A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368296"/>
            <a:ext cx="1828800" cy="274320"/>
          </a:xfrm>
          <a:prstGeom prst="rect">
            <a:avLst/>
          </a:prstGeom>
          <a:noFill/>
        </p:spPr>
        <p:txBody>
          <a:bodyPr wrap="square" lIns="0" rIns="0" tIns="0" bIns="0" anchor="t">
            <a:spAutoFit/>
          </a:bodyPr>
          <a:lstStyle/>
          <a:p>
            <a:pPr algn="l">
              <a:defRPr sz="1400" b="1">
                <a:solidFill>
                  <a:srgbClr val="00A98F"/>
                </a:solidFill>
                <a:latin typeface="Aptos"/>
              </a:defRPr>
            </a:pPr>
            <a:r>
              <a:t>AI</a:t>
            </a:r>
          </a:p>
        </p:txBody>
      </p:sp>
      <p:sp>
        <p:nvSpPr>
          <p:cNvPr id="15" name="TextBox 14"/>
          <p:cNvSpPr txBox="1"/>
          <p:nvPr/>
        </p:nvSpPr>
        <p:spPr>
          <a:xfrm>
            <a:off x="3337560" y="2368296"/>
            <a:ext cx="7132320" cy="274320"/>
          </a:xfrm>
          <a:prstGeom prst="rect">
            <a:avLst/>
          </a:prstGeom>
          <a:noFill/>
        </p:spPr>
        <p:txBody>
          <a:bodyPr wrap="square" lIns="0" rIns="0" tIns="0" bIns="0" anchor="t">
            <a:spAutoFit/>
          </a:bodyPr>
          <a:lstStyle/>
          <a:p>
            <a:pPr algn="l">
              <a:defRPr sz="1400" b="0">
                <a:solidFill>
                  <a:srgbClr val="1C2732"/>
                </a:solidFill>
                <a:latin typeface="Aptos"/>
              </a:defRPr>
            </a:pPr>
            <a:r>
              <a:t>PyTorch · EnvironmentCNN · PPO</a:t>
            </a:r>
          </a:p>
        </p:txBody>
      </p:sp>
      <p:sp>
        <p:nvSpPr>
          <p:cNvPr id="16" name="Rounded Rectangle 15"/>
          <p:cNvSpPr/>
          <p:nvPr/>
        </p:nvSpPr>
        <p:spPr>
          <a:xfrm>
            <a:off x="914400" y="3072384"/>
            <a:ext cx="10287000" cy="6400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072384"/>
            <a:ext cx="82296" cy="640080"/>
          </a:xfrm>
          <a:prstGeom prst="rect">
            <a:avLst/>
          </a:prstGeom>
          <a:solidFill>
            <a:srgbClr val="6B5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218688"/>
            <a:ext cx="1828800" cy="274320"/>
          </a:xfrm>
          <a:prstGeom prst="rect">
            <a:avLst/>
          </a:prstGeom>
          <a:noFill/>
        </p:spPr>
        <p:txBody>
          <a:bodyPr wrap="square" lIns="0" rIns="0" tIns="0" bIns="0" anchor="t">
            <a:spAutoFit/>
          </a:bodyPr>
          <a:lstStyle/>
          <a:p>
            <a:pPr algn="l">
              <a:defRPr sz="1400" b="1">
                <a:solidFill>
                  <a:srgbClr val="6B57B4"/>
                </a:solidFill>
                <a:latin typeface="Aptos"/>
              </a:defRPr>
            </a:pPr>
            <a:r>
              <a:t>Backend</a:t>
            </a:r>
          </a:p>
        </p:txBody>
      </p:sp>
      <p:sp>
        <p:nvSpPr>
          <p:cNvPr id="19" name="TextBox 18"/>
          <p:cNvSpPr txBox="1"/>
          <p:nvPr/>
        </p:nvSpPr>
        <p:spPr>
          <a:xfrm>
            <a:off x="3337560" y="3218688"/>
            <a:ext cx="7132320" cy="274320"/>
          </a:xfrm>
          <a:prstGeom prst="rect">
            <a:avLst/>
          </a:prstGeom>
          <a:noFill/>
        </p:spPr>
        <p:txBody>
          <a:bodyPr wrap="square" lIns="0" rIns="0" tIns="0" bIns="0" anchor="t">
            <a:spAutoFit/>
          </a:bodyPr>
          <a:lstStyle/>
          <a:p>
            <a:pPr algn="l">
              <a:defRPr sz="1400" b="0">
                <a:solidFill>
                  <a:srgbClr val="1C2732"/>
                </a:solidFill>
                <a:latin typeface="Aptos"/>
              </a:defRPr>
            </a:pPr>
            <a:r>
              <a:t>FastAPI · WebSocket · REST export</a:t>
            </a:r>
          </a:p>
        </p:txBody>
      </p:sp>
      <p:sp>
        <p:nvSpPr>
          <p:cNvPr id="20" name="Rounded Rectangle 19"/>
          <p:cNvSpPr/>
          <p:nvPr/>
        </p:nvSpPr>
        <p:spPr>
          <a:xfrm>
            <a:off x="914400" y="3922776"/>
            <a:ext cx="10287000" cy="6400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3922776"/>
            <a:ext cx="82296" cy="640080"/>
          </a:xfrm>
          <a:prstGeom prst="rect">
            <a:avLst/>
          </a:prstGeom>
          <a:solidFill>
            <a:srgbClr val="D89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069080"/>
            <a:ext cx="1828800" cy="274320"/>
          </a:xfrm>
          <a:prstGeom prst="rect">
            <a:avLst/>
          </a:prstGeom>
          <a:noFill/>
        </p:spPr>
        <p:txBody>
          <a:bodyPr wrap="square" lIns="0" rIns="0" tIns="0" bIns="0" anchor="t">
            <a:spAutoFit/>
          </a:bodyPr>
          <a:lstStyle/>
          <a:p>
            <a:pPr algn="l">
              <a:defRPr sz="1400" b="1">
                <a:solidFill>
                  <a:srgbClr val="D89D36"/>
                </a:solidFill>
                <a:latin typeface="Aptos"/>
              </a:defRPr>
            </a:pPr>
            <a:r>
              <a:t>Frontend</a:t>
            </a:r>
          </a:p>
        </p:txBody>
      </p:sp>
      <p:sp>
        <p:nvSpPr>
          <p:cNvPr id="23" name="TextBox 22"/>
          <p:cNvSpPr txBox="1"/>
          <p:nvPr/>
        </p:nvSpPr>
        <p:spPr>
          <a:xfrm>
            <a:off x="3337560" y="4069080"/>
            <a:ext cx="7132320" cy="274320"/>
          </a:xfrm>
          <a:prstGeom prst="rect">
            <a:avLst/>
          </a:prstGeom>
          <a:noFill/>
        </p:spPr>
        <p:txBody>
          <a:bodyPr wrap="square" lIns="0" rIns="0" tIns="0" bIns="0" anchor="t">
            <a:spAutoFit/>
          </a:bodyPr>
          <a:lstStyle/>
          <a:p>
            <a:pPr algn="l">
              <a:defRPr sz="1400" b="0">
                <a:solidFill>
                  <a:srgbClr val="1C2732"/>
                </a:solidFill>
                <a:latin typeface="Aptos"/>
              </a:defRPr>
            </a:pPr>
            <a:r>
              <a:t>React · Three.js · Vite</a:t>
            </a:r>
          </a:p>
        </p:txBody>
      </p:sp>
      <p:sp>
        <p:nvSpPr>
          <p:cNvPr id="24" name="Rounded Rectangle 23"/>
          <p:cNvSpPr/>
          <p:nvPr/>
        </p:nvSpPr>
        <p:spPr>
          <a:xfrm>
            <a:off x="914400" y="4773168"/>
            <a:ext cx="10287000" cy="640080"/>
          </a:xfrm>
          <a:prstGeom prst="roundRect">
            <a:avLst/>
          </a:prstGeom>
          <a:solidFill>
            <a:srgbClr val="FFFFFF"/>
          </a:solidFill>
          <a:ln w="12700">
            <a:solidFill>
              <a:srgbClr val="DA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 y="4773168"/>
            <a:ext cx="82296" cy="640080"/>
          </a:xfrm>
          <a:prstGeom prst="rect">
            <a:avLst/>
          </a:prstGeom>
          <a:solidFill>
            <a:srgbClr val="C44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4919472"/>
            <a:ext cx="1828800" cy="274320"/>
          </a:xfrm>
          <a:prstGeom prst="rect">
            <a:avLst/>
          </a:prstGeom>
          <a:noFill/>
        </p:spPr>
        <p:txBody>
          <a:bodyPr wrap="square" lIns="0" rIns="0" tIns="0" bIns="0" anchor="t">
            <a:spAutoFit/>
          </a:bodyPr>
          <a:lstStyle/>
          <a:p>
            <a:pPr algn="l">
              <a:defRPr sz="1400" b="1">
                <a:solidFill>
                  <a:srgbClr val="C44747"/>
                </a:solidFill>
                <a:latin typeface="Aptos"/>
              </a:defRPr>
            </a:pPr>
            <a:r>
              <a:t>Artifacts</a:t>
            </a:r>
          </a:p>
        </p:txBody>
      </p:sp>
      <p:sp>
        <p:nvSpPr>
          <p:cNvPr id="27" name="TextBox 26"/>
          <p:cNvSpPr txBox="1"/>
          <p:nvPr/>
        </p:nvSpPr>
        <p:spPr>
          <a:xfrm>
            <a:off x="3337560" y="4919472"/>
            <a:ext cx="7132320" cy="274320"/>
          </a:xfrm>
          <a:prstGeom prst="rect">
            <a:avLst/>
          </a:prstGeom>
          <a:noFill/>
        </p:spPr>
        <p:txBody>
          <a:bodyPr wrap="square" lIns="0" rIns="0" tIns="0" bIns="0" anchor="t">
            <a:spAutoFit/>
          </a:bodyPr>
          <a:lstStyle/>
          <a:p>
            <a:pPr algn="l">
              <a:defRPr sz="1400" b="0">
                <a:solidFill>
                  <a:srgbClr val="1C2732"/>
                </a:solidFill>
                <a:latin typeface="Aptos"/>
              </a:defRPr>
            </a:pPr>
            <a:r>
              <a:t>models · CSV · replay · figures</a:t>
            </a:r>
          </a:p>
        </p:txBody>
      </p:sp>
      <p:sp>
        <p:nvSpPr>
          <p:cNvPr id="28" name="Rounded Rectangle 27"/>
          <p:cNvSpPr/>
          <p:nvPr/>
        </p:nvSpPr>
        <p:spPr>
          <a:xfrm>
            <a:off x="566928" y="5833872"/>
            <a:ext cx="11018520" cy="475488"/>
          </a:xfrm>
          <a:prstGeom prst="roundRect">
            <a:avLst/>
          </a:prstGeom>
          <a:solidFill>
            <a:srgbClr val="DCF6F1"/>
          </a:solidFill>
          <a:ln w="12700">
            <a:solidFill>
              <a:srgbClr val="00A9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5934456"/>
            <a:ext cx="10607040" cy="256032"/>
          </a:xfrm>
          <a:prstGeom prst="rect">
            <a:avLst/>
          </a:prstGeom>
          <a:noFill/>
        </p:spPr>
        <p:txBody>
          <a:bodyPr wrap="square" lIns="0" rIns="0" tIns="0" bIns="0" anchor="t">
            <a:spAutoFit/>
          </a:bodyPr>
          <a:lstStyle/>
          <a:p>
            <a:pPr algn="l">
              <a:defRPr sz="1200" b="1">
                <a:solidFill>
                  <a:srgbClr val="062438"/>
                </a:solidFill>
                <a:latin typeface="Aptos"/>
              </a:defRPr>
            </a:pPr>
            <a:r>
              <a:t>TAKEAWAY  One command launches the trained models, simulation API and digital twin.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